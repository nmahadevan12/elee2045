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0" r:id="rId5"/>
    <p:sldId id="262" r:id="rId6"/>
    <p:sldId id="261" r:id="rId7"/>
    <p:sldId id="263" r:id="rId8"/>
    <p:sldId id="258" r:id="rId9"/>
    <p:sldId id="259"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7C7668-0092-4502-B08C-80603F8BAF25}" v="1" dt="2026-01-21T13:32:07.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4660"/>
  </p:normalViewPr>
  <p:slideViewPr>
    <p:cSldViewPr snapToGrid="0">
      <p:cViewPr varScale="1">
        <p:scale>
          <a:sx n="75" d="100"/>
          <a:sy n="75" d="100"/>
        </p:scale>
        <p:origin x="261"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J Johnsen" userId="dd73adbd-5351-478d-821b-56868881e8c0" providerId="ADAL" clId="{FD55B928-8FF4-41B3-8EDD-B28A23CAEE1F}"/>
    <pc:docChg chg="custSel addSld delSld modSld sldOrd">
      <pc:chgData name="Kyle J Johnsen" userId="dd73adbd-5351-478d-821b-56868881e8c0" providerId="ADAL" clId="{FD55B928-8FF4-41B3-8EDD-B28A23CAEE1F}" dt="2026-01-21T13:32:39.070" v="27" actId="47"/>
      <pc:docMkLst>
        <pc:docMk/>
      </pc:docMkLst>
      <pc:sldChg chg="modSp mod">
        <pc:chgData name="Kyle J Johnsen" userId="dd73adbd-5351-478d-821b-56868881e8c0" providerId="ADAL" clId="{FD55B928-8FF4-41B3-8EDD-B28A23CAEE1F}" dt="2026-01-21T13:32:24.851" v="26" actId="20577"/>
        <pc:sldMkLst>
          <pc:docMk/>
          <pc:sldMk cId="2866054792" sldId="256"/>
        </pc:sldMkLst>
        <pc:spChg chg="mod">
          <ac:chgData name="Kyle J Johnsen" userId="dd73adbd-5351-478d-821b-56868881e8c0" providerId="ADAL" clId="{FD55B928-8FF4-41B3-8EDD-B28A23CAEE1F}" dt="2026-01-21T13:32:22.279" v="19" actId="20577"/>
          <ac:spMkLst>
            <pc:docMk/>
            <pc:sldMk cId="2866054792" sldId="256"/>
            <ac:spMk id="2" creationId="{1F813FCE-4940-A14E-9A44-75DBD48E31B5}"/>
          </ac:spMkLst>
        </pc:spChg>
        <pc:spChg chg="mod">
          <ac:chgData name="Kyle J Johnsen" userId="dd73adbd-5351-478d-821b-56868881e8c0" providerId="ADAL" clId="{FD55B928-8FF4-41B3-8EDD-B28A23CAEE1F}" dt="2026-01-21T13:32:24.851" v="26" actId="20577"/>
          <ac:spMkLst>
            <pc:docMk/>
            <pc:sldMk cId="2866054792" sldId="256"/>
            <ac:spMk id="3" creationId="{4BE1246B-B524-8897-6715-5428C2DC8695}"/>
          </ac:spMkLst>
        </pc:spChg>
      </pc:sldChg>
      <pc:sldChg chg="add ord">
        <pc:chgData name="Kyle J Johnsen" userId="dd73adbd-5351-478d-821b-56868881e8c0" providerId="ADAL" clId="{FD55B928-8FF4-41B3-8EDD-B28A23CAEE1F}" dt="2026-01-21T13:32:17.834" v="8"/>
        <pc:sldMkLst>
          <pc:docMk/>
          <pc:sldMk cId="3377702758" sldId="257"/>
        </pc:sldMkLst>
      </pc:sldChg>
      <pc:sldChg chg="add">
        <pc:chgData name="Kyle J Johnsen" userId="dd73adbd-5351-478d-821b-56868881e8c0" providerId="ADAL" clId="{FD55B928-8FF4-41B3-8EDD-B28A23CAEE1F}" dt="2026-01-21T13:32:07.114" v="6"/>
        <pc:sldMkLst>
          <pc:docMk/>
          <pc:sldMk cId="1815891630" sldId="258"/>
        </pc:sldMkLst>
      </pc:sldChg>
      <pc:sldChg chg="add">
        <pc:chgData name="Kyle J Johnsen" userId="dd73adbd-5351-478d-821b-56868881e8c0" providerId="ADAL" clId="{FD55B928-8FF4-41B3-8EDD-B28A23CAEE1F}" dt="2026-01-21T13:32:07.114" v="6"/>
        <pc:sldMkLst>
          <pc:docMk/>
          <pc:sldMk cId="3888489077" sldId="259"/>
        </pc:sldMkLst>
      </pc:sldChg>
      <pc:sldChg chg="delSp mod">
        <pc:chgData name="Kyle J Johnsen" userId="dd73adbd-5351-478d-821b-56868881e8c0" providerId="ADAL" clId="{FD55B928-8FF4-41B3-8EDD-B28A23CAEE1F}" dt="2026-01-21T13:29:48.560" v="1" actId="478"/>
        <pc:sldMkLst>
          <pc:docMk/>
          <pc:sldMk cId="2960784446" sldId="262"/>
        </pc:sldMkLst>
        <pc:spChg chg="del">
          <ac:chgData name="Kyle J Johnsen" userId="dd73adbd-5351-478d-821b-56868881e8c0" providerId="ADAL" clId="{FD55B928-8FF4-41B3-8EDD-B28A23CAEE1F}" dt="2026-01-21T13:29:46.510" v="0" actId="478"/>
          <ac:spMkLst>
            <pc:docMk/>
            <pc:sldMk cId="2960784446" sldId="262"/>
            <ac:spMk id="9" creationId="{7D82BF3E-4AA7-826E-703D-64BF294D8918}"/>
          </ac:spMkLst>
        </pc:spChg>
        <pc:picChg chg="del">
          <ac:chgData name="Kyle J Johnsen" userId="dd73adbd-5351-478d-821b-56868881e8c0" providerId="ADAL" clId="{FD55B928-8FF4-41B3-8EDD-B28A23CAEE1F}" dt="2026-01-21T13:29:48.560" v="1" actId="478"/>
          <ac:picMkLst>
            <pc:docMk/>
            <pc:sldMk cId="2960784446" sldId="262"/>
            <ac:picMk id="7" creationId="{62A27184-40E3-CB91-084B-8932CB21A24B}"/>
          </ac:picMkLst>
        </pc:picChg>
      </pc:sldChg>
      <pc:sldChg chg="del">
        <pc:chgData name="Kyle J Johnsen" userId="dd73adbd-5351-478d-821b-56868881e8c0" providerId="ADAL" clId="{FD55B928-8FF4-41B3-8EDD-B28A23CAEE1F}" dt="2026-01-21T13:29:58.962" v="2" actId="47"/>
        <pc:sldMkLst>
          <pc:docMk/>
          <pc:sldMk cId="939301593" sldId="265"/>
        </pc:sldMkLst>
      </pc:sldChg>
      <pc:sldChg chg="new del">
        <pc:chgData name="Kyle J Johnsen" userId="dd73adbd-5351-478d-821b-56868881e8c0" providerId="ADAL" clId="{FD55B928-8FF4-41B3-8EDD-B28A23CAEE1F}" dt="2026-01-21T13:32:06.754" v="5" actId="47"/>
        <pc:sldMkLst>
          <pc:docMk/>
          <pc:sldMk cId="1184494041" sldId="265"/>
        </pc:sldMkLst>
      </pc:sldChg>
      <pc:sldChg chg="add del">
        <pc:chgData name="Kyle J Johnsen" userId="dd73adbd-5351-478d-821b-56868881e8c0" providerId="ADAL" clId="{FD55B928-8FF4-41B3-8EDD-B28A23CAEE1F}" dt="2026-01-21T13:32:39.070" v="27" actId="47"/>
        <pc:sldMkLst>
          <pc:docMk/>
          <pc:sldMk cId="2485671618" sldId="265"/>
        </pc:sldMkLst>
      </pc:sldChg>
      <pc:sldChg chg="add">
        <pc:chgData name="Kyle J Johnsen" userId="dd73adbd-5351-478d-821b-56868881e8c0" providerId="ADAL" clId="{FD55B928-8FF4-41B3-8EDD-B28A23CAEE1F}" dt="2026-01-21T13:32:07.114" v="6"/>
        <pc:sldMkLst>
          <pc:docMk/>
          <pc:sldMk cId="995163662" sldId="266"/>
        </pc:sldMkLst>
      </pc:sldChg>
      <pc:sldChg chg="del">
        <pc:chgData name="Kyle J Johnsen" userId="dd73adbd-5351-478d-821b-56868881e8c0" providerId="ADAL" clId="{FD55B928-8FF4-41B3-8EDD-B28A23CAEE1F}" dt="2026-01-21T13:30:26.539" v="3" actId="47"/>
        <pc:sldMkLst>
          <pc:docMk/>
          <pc:sldMk cId="4163861838" sldId="266"/>
        </pc:sldMkLst>
      </pc:sldChg>
      <pc:sldChg chg="add">
        <pc:chgData name="Kyle J Johnsen" userId="dd73adbd-5351-478d-821b-56868881e8c0" providerId="ADAL" clId="{FD55B928-8FF4-41B3-8EDD-B28A23CAEE1F}" dt="2026-01-21T13:32:07.114" v="6"/>
        <pc:sldMkLst>
          <pc:docMk/>
          <pc:sldMk cId="878559326" sldId="267"/>
        </pc:sldMkLst>
      </pc:sldChg>
      <pc:sldChg chg="add">
        <pc:chgData name="Kyle J Johnsen" userId="dd73adbd-5351-478d-821b-56868881e8c0" providerId="ADAL" clId="{FD55B928-8FF4-41B3-8EDD-B28A23CAEE1F}" dt="2026-01-21T13:32:07.114" v="6"/>
        <pc:sldMkLst>
          <pc:docMk/>
          <pc:sldMk cId="2216728221" sldId="268"/>
        </pc:sldMkLst>
      </pc:sldChg>
      <pc:sldChg chg="add">
        <pc:chgData name="Kyle J Johnsen" userId="dd73adbd-5351-478d-821b-56868881e8c0" providerId="ADAL" clId="{FD55B928-8FF4-41B3-8EDD-B28A23CAEE1F}" dt="2026-01-21T13:32:07.114" v="6"/>
        <pc:sldMkLst>
          <pc:docMk/>
          <pc:sldMk cId="157167368" sldId="269"/>
        </pc:sldMkLst>
      </pc:sldChg>
      <pc:sldChg chg="add">
        <pc:chgData name="Kyle J Johnsen" userId="dd73adbd-5351-478d-821b-56868881e8c0" providerId="ADAL" clId="{FD55B928-8FF4-41B3-8EDD-B28A23CAEE1F}" dt="2026-01-21T13:32:07.114" v="6"/>
        <pc:sldMkLst>
          <pc:docMk/>
          <pc:sldMk cId="4014874408" sldId="270"/>
        </pc:sldMkLst>
      </pc:sldChg>
      <pc:sldChg chg="add">
        <pc:chgData name="Kyle J Johnsen" userId="dd73adbd-5351-478d-821b-56868881e8c0" providerId="ADAL" clId="{FD55B928-8FF4-41B3-8EDD-B28A23CAEE1F}" dt="2026-01-21T13:32:07.114" v="6"/>
        <pc:sldMkLst>
          <pc:docMk/>
          <pc:sldMk cId="3327878760" sldId="27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2462-0752-D83D-F54B-AA209C8A84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98E6EE-608B-DF8E-0A91-88DC581188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A65E2C-7F69-8638-3E54-9E5EB546578D}"/>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6C423240-A66C-E289-6AAD-A408C7D86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5CDFBB-0FD0-27CA-2A9E-CCC5F61A51EA}"/>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852536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5214D-3AD3-E204-92FE-3A72425AD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EE1066-A814-7A22-265C-25FCFA7DB2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AA623-08A0-AD94-D750-86DFBE4DAE64}"/>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CD30281C-E4ED-363E-D9A8-9DB8054C6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80D8A0-9FDF-9D14-6B16-F8F2417E56D6}"/>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62743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A9F4A-8BB3-9314-91D5-6389BDD5D5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EF8843-CFFC-2AA2-330B-788B063DFF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560D13-3841-7F24-A4DD-0A77D0791A82}"/>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C8E8A0E7-C69D-39C2-1A71-2588CD70F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D9A16-F6D6-132F-61B4-A6219B3CAC3F}"/>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390414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A843D-D1FC-1804-BAB7-F495EEB7E1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C2F9A9-8A3C-0682-0CF6-96933C06C2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794AD9-E96C-FE6F-75EC-7F6F72CFA0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379D9C-39D5-1901-7665-91F706B0A3C3}"/>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6" name="Footer Placeholder 5">
            <a:extLst>
              <a:ext uri="{FF2B5EF4-FFF2-40B4-BE49-F238E27FC236}">
                <a16:creationId xmlns:a16="http://schemas.microsoft.com/office/drawing/2014/main" id="{91D18321-5E61-30ED-6431-6EF2B7B56D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6DB2C8-D7F4-999D-EB77-18AFE6070B4D}"/>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2442723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E378-4ED1-A47A-27C2-00804C07AE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9627EF-D474-E04E-85B1-295FD5B83B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2497EF-CC60-7205-73B0-33EF96CD31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95A0B4-9381-9334-3D08-DC12DB174F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1BDB8F-81C1-001A-A572-DD73DA401A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397100-4B7C-D66D-920F-3F917BF8462F}"/>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8" name="Footer Placeholder 7">
            <a:extLst>
              <a:ext uri="{FF2B5EF4-FFF2-40B4-BE49-F238E27FC236}">
                <a16:creationId xmlns:a16="http://schemas.microsoft.com/office/drawing/2014/main" id="{57948261-86F8-2567-53F9-6486E8A56B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90B7D2-2B9A-4C90-47E9-5E202DC475A4}"/>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683404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5DC73-0361-A016-2FDA-E216CB707A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A56C1C-FCDF-5A2B-C213-723ED9F0C07A}"/>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4" name="Footer Placeholder 3">
            <a:extLst>
              <a:ext uri="{FF2B5EF4-FFF2-40B4-BE49-F238E27FC236}">
                <a16:creationId xmlns:a16="http://schemas.microsoft.com/office/drawing/2014/main" id="{412B5CB5-C457-0BAF-6989-D59E78368F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F58B70-093B-A12E-E1EA-C0D89D6EA449}"/>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134928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DA30C6-8DB1-A989-268C-51F639FF5512}"/>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3" name="Footer Placeholder 2">
            <a:extLst>
              <a:ext uri="{FF2B5EF4-FFF2-40B4-BE49-F238E27FC236}">
                <a16:creationId xmlns:a16="http://schemas.microsoft.com/office/drawing/2014/main" id="{B9139E1E-410A-46FE-744C-E16BBA9001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A6ECC5-5C70-C82B-81AD-35994FC06D87}"/>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84506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D0B1-FD04-543C-E8E0-48AE31001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409263-51E1-23D8-02BE-DCEF0911D0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6242EE-517C-BD78-AEBD-8C96F2A444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E1CCB-5955-DC12-8FA7-3DB8EFC617EA}"/>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6" name="Footer Placeholder 5">
            <a:extLst>
              <a:ext uri="{FF2B5EF4-FFF2-40B4-BE49-F238E27FC236}">
                <a16:creationId xmlns:a16="http://schemas.microsoft.com/office/drawing/2014/main" id="{CA85C9B0-FEE0-A78A-66AD-058B17B7D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335574-302F-6E79-9748-DD5EE60CE0BC}"/>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423996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DC3DA-80B1-4D27-D8CE-1FCF8FE607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8D6F9B-D35C-2503-4623-32B01135E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D12650-7B42-6848-BE09-B1C51B159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06556-535B-8B6B-7F23-A28603A556B7}"/>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6" name="Footer Placeholder 5">
            <a:extLst>
              <a:ext uri="{FF2B5EF4-FFF2-40B4-BE49-F238E27FC236}">
                <a16:creationId xmlns:a16="http://schemas.microsoft.com/office/drawing/2014/main" id="{96A6B58B-EA43-8BA0-0CE2-7849B856CE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AC0BC6-3300-3A51-18A7-298C1593E43E}"/>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2880238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BCCF-F687-3CCD-23E6-71C729E597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3B34F-BC58-4C26-4C2C-CB5FA02A0F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046938-73F2-A21D-9086-5204A1768666}"/>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B1DA4732-991B-0546-01D8-73F2E7EE5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989AB6-3620-53B1-EE4A-51E8785F0945}"/>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3160888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192849-E5E6-F9AD-98B2-7DB8FAF8D6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E5547-EA34-DD83-8F8D-3BB1115BE8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8BEB4-E365-E2C2-13A5-430D0067E78A}"/>
              </a:ext>
            </a:extLst>
          </p:cNvPr>
          <p:cNvSpPr>
            <a:spLocks noGrp="1"/>
          </p:cNvSpPr>
          <p:nvPr>
            <p:ph type="dt" sz="half" idx="10"/>
          </p:nvPr>
        </p:nvSpPr>
        <p:spPr/>
        <p:txBody>
          <a:body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E74AA5BD-5F57-703D-9B2A-78021BBF5B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C0AC2A-8C42-1345-07FB-1D1C35D208D8}"/>
              </a:ext>
            </a:extLst>
          </p:cNvPr>
          <p:cNvSpPr>
            <a:spLocks noGrp="1"/>
          </p:cNvSpPr>
          <p:nvPr>
            <p:ph type="sldNum" sz="quarter" idx="12"/>
          </p:nvPr>
        </p:nvSpPr>
        <p:spPr/>
        <p:txBody>
          <a:bodyPr/>
          <a:lstStyle/>
          <a:p>
            <a:fld id="{4D4F6FA3-D986-4E67-91FD-27BF0F7FC068}" type="slidenum">
              <a:rPr lang="en-US" smtClean="0"/>
              <a:t>‹#›</a:t>
            </a:fld>
            <a:endParaRPr lang="en-US"/>
          </a:p>
        </p:txBody>
      </p:sp>
    </p:spTree>
    <p:extLst>
      <p:ext uri="{BB962C8B-B14F-4D97-AF65-F5344CB8AC3E}">
        <p14:creationId xmlns:p14="http://schemas.microsoft.com/office/powerpoint/2010/main" val="2864305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9042D5-88AF-6078-6932-F9DDD0BD9C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81F0FF-BB50-A857-98C9-E299281D03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772E0D-D2E5-D8C8-6E71-2EDD0EE305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DAA5C-EDAF-4D0B-8028-2ADE87F7A992}" type="datetimeFigureOut">
              <a:rPr lang="en-US" smtClean="0"/>
              <a:t>1/21/2026</a:t>
            </a:fld>
            <a:endParaRPr lang="en-US"/>
          </a:p>
        </p:txBody>
      </p:sp>
      <p:sp>
        <p:nvSpPr>
          <p:cNvPr id="5" name="Footer Placeholder 4">
            <a:extLst>
              <a:ext uri="{FF2B5EF4-FFF2-40B4-BE49-F238E27FC236}">
                <a16:creationId xmlns:a16="http://schemas.microsoft.com/office/drawing/2014/main" id="{3088CA71-A100-335C-C19F-22653FAADB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F10086-A1E6-026F-6A43-9D1F5EC07B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4F6FA3-D986-4E67-91FD-27BF0F7FC068}" type="slidenum">
              <a:rPr lang="en-US" smtClean="0"/>
              <a:t>‹#›</a:t>
            </a:fld>
            <a:endParaRPr lang="en-US"/>
          </a:p>
        </p:txBody>
      </p:sp>
    </p:spTree>
    <p:extLst>
      <p:ext uri="{BB962C8B-B14F-4D97-AF65-F5344CB8AC3E}">
        <p14:creationId xmlns:p14="http://schemas.microsoft.com/office/powerpoint/2010/main" val="1707075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cs.conda.io/en/latest/miniconda.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13FCE-4940-A14E-9A44-75DBD48E31B5}"/>
              </a:ext>
            </a:extLst>
          </p:cNvPr>
          <p:cNvSpPr>
            <a:spLocks noGrp="1"/>
          </p:cNvSpPr>
          <p:nvPr>
            <p:ph type="ctrTitle"/>
          </p:nvPr>
        </p:nvSpPr>
        <p:spPr/>
        <p:txBody>
          <a:bodyPr/>
          <a:lstStyle/>
          <a:p>
            <a:r>
              <a:rPr lang="en-US" dirty="0"/>
              <a:t>Programming</a:t>
            </a:r>
          </a:p>
        </p:txBody>
      </p:sp>
      <p:sp>
        <p:nvSpPr>
          <p:cNvPr id="3" name="Subtitle 2">
            <a:extLst>
              <a:ext uri="{FF2B5EF4-FFF2-40B4-BE49-F238E27FC236}">
                <a16:creationId xmlns:a16="http://schemas.microsoft.com/office/drawing/2014/main" id="{4BE1246B-B524-8897-6715-5428C2DC8695}"/>
              </a:ext>
            </a:extLst>
          </p:cNvPr>
          <p:cNvSpPr>
            <a:spLocks noGrp="1"/>
          </p:cNvSpPr>
          <p:nvPr>
            <p:ph type="subTitle" idx="1"/>
          </p:nvPr>
        </p:nvSpPr>
        <p:spPr/>
        <p:txBody>
          <a:bodyPr/>
          <a:lstStyle/>
          <a:p>
            <a:r>
              <a:rPr lang="en-US" dirty="0"/>
              <a:t>(and </a:t>
            </a:r>
            <a:r>
              <a:rPr lang="en-US" dirty="0" err="1"/>
              <a:t>Python,Git</a:t>
            </a:r>
            <a:r>
              <a:rPr lang="en-US" dirty="0"/>
              <a:t>/</a:t>
            </a:r>
            <a:r>
              <a:rPr lang="en-US" dirty="0" err="1"/>
              <a:t>Github</a:t>
            </a:r>
            <a:r>
              <a:rPr lang="en-US" dirty="0"/>
              <a:t>)</a:t>
            </a:r>
          </a:p>
        </p:txBody>
      </p:sp>
    </p:spTree>
    <p:extLst>
      <p:ext uri="{BB962C8B-B14F-4D97-AF65-F5344CB8AC3E}">
        <p14:creationId xmlns:p14="http://schemas.microsoft.com/office/powerpoint/2010/main" val="2866054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AD924-9C18-43FE-C95F-4A6C11B94264}"/>
              </a:ext>
            </a:extLst>
          </p:cNvPr>
          <p:cNvSpPr>
            <a:spLocks noGrp="1"/>
          </p:cNvSpPr>
          <p:nvPr>
            <p:ph type="title"/>
          </p:nvPr>
        </p:nvSpPr>
        <p:spPr/>
        <p:txBody>
          <a:bodyPr/>
          <a:lstStyle/>
          <a:p>
            <a:r>
              <a:rPr lang="en-US" dirty="0"/>
              <a:t>High Level Overview</a:t>
            </a:r>
            <a:endParaRPr lang="en-US" b="1" dirty="0"/>
          </a:p>
        </p:txBody>
      </p:sp>
      <p:sp>
        <p:nvSpPr>
          <p:cNvPr id="3" name="Content Placeholder 2">
            <a:extLst>
              <a:ext uri="{FF2B5EF4-FFF2-40B4-BE49-F238E27FC236}">
                <a16:creationId xmlns:a16="http://schemas.microsoft.com/office/drawing/2014/main" id="{C5BB2807-FBD3-9D82-8FFF-61884431630B}"/>
              </a:ext>
            </a:extLst>
          </p:cNvPr>
          <p:cNvSpPr>
            <a:spLocks noGrp="1"/>
          </p:cNvSpPr>
          <p:nvPr>
            <p:ph idx="1"/>
          </p:nvPr>
        </p:nvSpPr>
        <p:spPr>
          <a:xfrm>
            <a:off x="838200" y="1825625"/>
            <a:ext cx="6149445" cy="4351338"/>
          </a:xfrm>
        </p:spPr>
        <p:txBody>
          <a:bodyPr>
            <a:normAutofit/>
          </a:bodyPr>
          <a:lstStyle/>
          <a:p>
            <a:r>
              <a:rPr lang="en-US" dirty="0"/>
              <a:t>Computer programs </a:t>
            </a:r>
            <a:r>
              <a:rPr lang="en-US" b="1" dirty="0"/>
              <a:t>map</a:t>
            </a:r>
            <a:r>
              <a:rPr lang="en-US" dirty="0"/>
              <a:t> input to output</a:t>
            </a:r>
          </a:p>
          <a:p>
            <a:pPr lvl="1"/>
            <a:r>
              <a:rPr lang="en-US" dirty="0"/>
              <a:t>You must know what you want, and what you have</a:t>
            </a:r>
          </a:p>
          <a:p>
            <a:r>
              <a:rPr lang="en-US" b="1" dirty="0"/>
              <a:t>Fundamental</a:t>
            </a:r>
            <a:r>
              <a:rPr lang="en-US" dirty="0"/>
              <a:t> tools of program design</a:t>
            </a:r>
          </a:p>
          <a:p>
            <a:pPr lvl="1"/>
            <a:r>
              <a:rPr lang="en-US" dirty="0"/>
              <a:t>Data structures (storage)</a:t>
            </a:r>
          </a:p>
          <a:p>
            <a:pPr lvl="1"/>
            <a:r>
              <a:rPr lang="en-US" dirty="0"/>
              <a:t>Conditional statements (decisions)</a:t>
            </a:r>
          </a:p>
          <a:p>
            <a:pPr lvl="1"/>
            <a:r>
              <a:rPr lang="en-US" dirty="0"/>
              <a:t>Iterative statements (loops)</a:t>
            </a:r>
          </a:p>
          <a:p>
            <a:pPr lvl="1"/>
            <a:r>
              <a:rPr lang="en-US" dirty="0"/>
              <a:t>Functions (procedures)</a:t>
            </a:r>
          </a:p>
          <a:p>
            <a:endParaRPr lang="en-US" dirty="0"/>
          </a:p>
          <a:p>
            <a:pPr lvl="1"/>
            <a:endParaRPr lang="en-US" dirty="0"/>
          </a:p>
          <a:p>
            <a:endParaRPr lang="en-US" dirty="0"/>
          </a:p>
          <a:p>
            <a:endParaRPr lang="en-US" dirty="0"/>
          </a:p>
        </p:txBody>
      </p:sp>
      <p:sp>
        <p:nvSpPr>
          <p:cNvPr id="4" name="Diamond 3">
            <a:extLst>
              <a:ext uri="{FF2B5EF4-FFF2-40B4-BE49-F238E27FC236}">
                <a16:creationId xmlns:a16="http://schemas.microsoft.com/office/drawing/2014/main" id="{0C66EDF9-B575-D644-759E-A91ADAC5CDD5}"/>
              </a:ext>
            </a:extLst>
          </p:cNvPr>
          <p:cNvSpPr/>
          <p:nvPr/>
        </p:nvSpPr>
        <p:spPr>
          <a:xfrm>
            <a:off x="9293870" y="2270708"/>
            <a:ext cx="1583635" cy="1583635"/>
          </a:xfrm>
          <a:prstGeom prst="diamond">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t>Decision</a:t>
            </a:r>
          </a:p>
        </p:txBody>
      </p:sp>
      <p:cxnSp>
        <p:nvCxnSpPr>
          <p:cNvPr id="6" name="Straight Arrow Connector 5">
            <a:extLst>
              <a:ext uri="{FF2B5EF4-FFF2-40B4-BE49-F238E27FC236}">
                <a16:creationId xmlns:a16="http://schemas.microsoft.com/office/drawing/2014/main" id="{8CC489E4-1C56-63A8-C20D-DD871495E0D1}"/>
              </a:ext>
            </a:extLst>
          </p:cNvPr>
          <p:cNvCxnSpPr>
            <a:stCxn id="4" idx="2"/>
          </p:cNvCxnSpPr>
          <p:nvPr/>
        </p:nvCxnSpPr>
        <p:spPr>
          <a:xfrm flipH="1">
            <a:off x="10064415" y="3854343"/>
            <a:ext cx="21273" cy="13595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E4B07EE3-FFCD-B72D-99F7-074E7EB92D28}"/>
              </a:ext>
            </a:extLst>
          </p:cNvPr>
          <p:cNvSpPr/>
          <p:nvPr/>
        </p:nvSpPr>
        <p:spPr>
          <a:xfrm>
            <a:off x="9205115" y="5213911"/>
            <a:ext cx="1672390" cy="81213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t>Procedure</a:t>
            </a:r>
          </a:p>
        </p:txBody>
      </p:sp>
      <p:cxnSp>
        <p:nvCxnSpPr>
          <p:cNvPr id="9" name="Connector: Elbow 8">
            <a:extLst>
              <a:ext uri="{FF2B5EF4-FFF2-40B4-BE49-F238E27FC236}">
                <a16:creationId xmlns:a16="http://schemas.microsoft.com/office/drawing/2014/main" id="{E2AAC310-2132-01C3-3C28-B52940E33191}"/>
              </a:ext>
            </a:extLst>
          </p:cNvPr>
          <p:cNvCxnSpPr>
            <a:stCxn id="7" idx="2"/>
            <a:endCxn id="4" idx="3"/>
          </p:cNvCxnSpPr>
          <p:nvPr/>
        </p:nvCxnSpPr>
        <p:spPr>
          <a:xfrm rot="5400000" flipH="1" flipV="1">
            <a:off x="8977648" y="4126187"/>
            <a:ext cx="2963517" cy="836195"/>
          </a:xfrm>
          <a:prstGeom prst="bentConnector4">
            <a:avLst>
              <a:gd name="adj1" fmla="val -7714"/>
              <a:gd name="adj2" fmla="val 127338"/>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2D8E7446-F124-5B49-24AD-6394F627C3CC}"/>
              </a:ext>
            </a:extLst>
          </p:cNvPr>
          <p:cNvSpPr/>
          <p:nvPr/>
        </p:nvSpPr>
        <p:spPr>
          <a:xfrm>
            <a:off x="9501197" y="1021392"/>
            <a:ext cx="1168979" cy="622697"/>
          </a:xfrm>
          <a:prstGeom prst="roundRect">
            <a:avLst>
              <a:gd name="adj" fmla="val 50000"/>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t>Start</a:t>
            </a:r>
          </a:p>
        </p:txBody>
      </p:sp>
      <p:sp>
        <p:nvSpPr>
          <p:cNvPr id="11" name="Rectangle: Rounded Corners 10">
            <a:extLst>
              <a:ext uri="{FF2B5EF4-FFF2-40B4-BE49-F238E27FC236}">
                <a16:creationId xmlns:a16="http://schemas.microsoft.com/office/drawing/2014/main" id="{42DEF2F4-659D-227B-F85B-A4B9B5A6D010}"/>
              </a:ext>
            </a:extLst>
          </p:cNvPr>
          <p:cNvSpPr/>
          <p:nvPr/>
        </p:nvSpPr>
        <p:spPr>
          <a:xfrm>
            <a:off x="7572133" y="2751176"/>
            <a:ext cx="1168979" cy="622697"/>
          </a:xfrm>
          <a:prstGeom prst="roundRect">
            <a:avLst>
              <a:gd name="adj" fmla="val 50000"/>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t>End</a:t>
            </a:r>
          </a:p>
        </p:txBody>
      </p:sp>
      <p:cxnSp>
        <p:nvCxnSpPr>
          <p:cNvPr id="12" name="Straight Arrow Connector 11">
            <a:extLst>
              <a:ext uri="{FF2B5EF4-FFF2-40B4-BE49-F238E27FC236}">
                <a16:creationId xmlns:a16="http://schemas.microsoft.com/office/drawing/2014/main" id="{379CFD00-3BB1-2864-938A-C5BA43D9B6F8}"/>
              </a:ext>
            </a:extLst>
          </p:cNvPr>
          <p:cNvCxnSpPr>
            <a:cxnSpLocks/>
            <a:stCxn id="10" idx="2"/>
            <a:endCxn id="4" idx="0"/>
          </p:cNvCxnSpPr>
          <p:nvPr/>
        </p:nvCxnSpPr>
        <p:spPr>
          <a:xfrm>
            <a:off x="10085687" y="1644089"/>
            <a:ext cx="1" cy="6266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1AF2561-53A9-DF2B-D3D5-1A38B8535AA0}"/>
              </a:ext>
            </a:extLst>
          </p:cNvPr>
          <p:cNvCxnSpPr>
            <a:cxnSpLocks/>
            <a:stCxn id="4" idx="1"/>
            <a:endCxn id="11" idx="3"/>
          </p:cNvCxnSpPr>
          <p:nvPr/>
        </p:nvCxnSpPr>
        <p:spPr>
          <a:xfrm flipH="1" flipV="1">
            <a:off x="8741112" y="3062525"/>
            <a:ext cx="55275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B7DAB8A3-6D37-B043-C983-6D76E2B83CCA}"/>
              </a:ext>
            </a:extLst>
          </p:cNvPr>
          <p:cNvSpPr txBox="1"/>
          <p:nvPr/>
        </p:nvSpPr>
        <p:spPr>
          <a:xfrm>
            <a:off x="10420828" y="4387424"/>
            <a:ext cx="657988" cy="276999"/>
          </a:xfrm>
          <a:prstGeom prst="rect">
            <a:avLst/>
          </a:prstGeom>
          <a:noFill/>
        </p:spPr>
        <p:txBody>
          <a:bodyPr wrap="square" rtlCol="0">
            <a:spAutoFit/>
          </a:bodyPr>
          <a:lstStyle/>
          <a:p>
            <a:r>
              <a:rPr lang="en-US" sz="1200" dirty="0"/>
              <a:t>Loop</a:t>
            </a:r>
          </a:p>
        </p:txBody>
      </p:sp>
      <p:sp>
        <p:nvSpPr>
          <p:cNvPr id="19" name="Parallelogram 18">
            <a:extLst>
              <a:ext uri="{FF2B5EF4-FFF2-40B4-BE49-F238E27FC236}">
                <a16:creationId xmlns:a16="http://schemas.microsoft.com/office/drawing/2014/main" id="{96BD5B99-903A-39F7-5E9B-4A30BBF99A90}"/>
              </a:ext>
            </a:extLst>
          </p:cNvPr>
          <p:cNvSpPr/>
          <p:nvPr/>
        </p:nvSpPr>
        <p:spPr>
          <a:xfrm>
            <a:off x="6728705" y="5265181"/>
            <a:ext cx="1899156" cy="711637"/>
          </a:xfrm>
          <a:prstGeom prst="parallelogram">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Storage</a:t>
            </a:r>
          </a:p>
        </p:txBody>
      </p:sp>
      <p:cxnSp>
        <p:nvCxnSpPr>
          <p:cNvPr id="21" name="Straight Arrow Connector 20">
            <a:extLst>
              <a:ext uri="{FF2B5EF4-FFF2-40B4-BE49-F238E27FC236}">
                <a16:creationId xmlns:a16="http://schemas.microsoft.com/office/drawing/2014/main" id="{11791984-D05B-0D76-AA0B-7D5CE48E7F74}"/>
              </a:ext>
            </a:extLst>
          </p:cNvPr>
          <p:cNvCxnSpPr>
            <a:stCxn id="19" idx="2"/>
            <a:endCxn id="7" idx="1"/>
          </p:cNvCxnSpPr>
          <p:nvPr/>
        </p:nvCxnSpPr>
        <p:spPr>
          <a:xfrm flipV="1">
            <a:off x="8538906" y="5619977"/>
            <a:ext cx="666209" cy="1023"/>
          </a:xfrm>
          <a:prstGeom prst="straightConnector1">
            <a:avLst/>
          </a:prstGeom>
          <a:ln>
            <a:prstDash val="dash"/>
            <a:headEnd type="triangle"/>
            <a:tailEnd type="non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DAF380-1849-1BDB-85D7-AD7B782E40C3}"/>
              </a:ext>
            </a:extLst>
          </p:cNvPr>
          <p:cNvCxnSpPr>
            <a:cxnSpLocks/>
            <a:stCxn id="19" idx="0"/>
          </p:cNvCxnSpPr>
          <p:nvPr/>
        </p:nvCxnSpPr>
        <p:spPr>
          <a:xfrm flipV="1">
            <a:off x="7678283" y="3457923"/>
            <a:ext cx="2002430" cy="1807258"/>
          </a:xfrm>
          <a:prstGeom prst="straightConnector1">
            <a:avLst/>
          </a:prstGeom>
          <a:ln>
            <a:prstDash val="dash"/>
            <a:headEnd type="none"/>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54EE8B4E-62B9-FEA7-550D-D03D110C0F22}"/>
              </a:ext>
            </a:extLst>
          </p:cNvPr>
          <p:cNvSpPr txBox="1"/>
          <p:nvPr/>
        </p:nvSpPr>
        <p:spPr>
          <a:xfrm rot="19164728">
            <a:off x="8234175" y="4110425"/>
            <a:ext cx="657988" cy="276999"/>
          </a:xfrm>
          <a:prstGeom prst="rect">
            <a:avLst/>
          </a:prstGeom>
          <a:noFill/>
        </p:spPr>
        <p:txBody>
          <a:bodyPr wrap="square" rtlCol="0">
            <a:spAutoFit/>
          </a:bodyPr>
          <a:lstStyle/>
          <a:p>
            <a:r>
              <a:rPr lang="en-US" sz="1200" dirty="0"/>
              <a:t>Input</a:t>
            </a:r>
          </a:p>
        </p:txBody>
      </p:sp>
      <p:sp>
        <p:nvSpPr>
          <p:cNvPr id="26" name="TextBox 25">
            <a:extLst>
              <a:ext uri="{FF2B5EF4-FFF2-40B4-BE49-F238E27FC236}">
                <a16:creationId xmlns:a16="http://schemas.microsoft.com/office/drawing/2014/main" id="{CB3BEE7F-37D1-108F-95B0-F26517A4EB39}"/>
              </a:ext>
            </a:extLst>
          </p:cNvPr>
          <p:cNvSpPr txBox="1"/>
          <p:nvPr/>
        </p:nvSpPr>
        <p:spPr>
          <a:xfrm>
            <a:off x="8587494" y="5377164"/>
            <a:ext cx="657988" cy="276999"/>
          </a:xfrm>
          <a:prstGeom prst="rect">
            <a:avLst/>
          </a:prstGeom>
          <a:noFill/>
        </p:spPr>
        <p:txBody>
          <a:bodyPr wrap="square" rtlCol="0">
            <a:spAutoFit/>
          </a:bodyPr>
          <a:lstStyle/>
          <a:p>
            <a:r>
              <a:rPr lang="en-US" sz="1200" dirty="0"/>
              <a:t>Output</a:t>
            </a:r>
          </a:p>
        </p:txBody>
      </p:sp>
    </p:spTree>
    <p:extLst>
      <p:ext uri="{BB962C8B-B14F-4D97-AF65-F5344CB8AC3E}">
        <p14:creationId xmlns:p14="http://schemas.microsoft.com/office/powerpoint/2010/main" val="3377702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A18F3-6C8D-69A3-5E6A-71DD2196F407}"/>
              </a:ext>
            </a:extLst>
          </p:cNvPr>
          <p:cNvSpPr>
            <a:spLocks noGrp="1"/>
          </p:cNvSpPr>
          <p:nvPr>
            <p:ph type="title"/>
          </p:nvPr>
        </p:nvSpPr>
        <p:spPr/>
        <p:txBody>
          <a:bodyPr/>
          <a:lstStyle/>
          <a:p>
            <a:r>
              <a:rPr lang="en-US" dirty="0"/>
              <a:t>“python” installation</a:t>
            </a:r>
          </a:p>
        </p:txBody>
      </p:sp>
      <p:sp>
        <p:nvSpPr>
          <p:cNvPr id="3" name="Content Placeholder 2">
            <a:extLst>
              <a:ext uri="{FF2B5EF4-FFF2-40B4-BE49-F238E27FC236}">
                <a16:creationId xmlns:a16="http://schemas.microsoft.com/office/drawing/2014/main" id="{695F4446-2197-9BC7-80DF-99D63C5BB2BA}"/>
              </a:ext>
            </a:extLst>
          </p:cNvPr>
          <p:cNvSpPr>
            <a:spLocks noGrp="1"/>
          </p:cNvSpPr>
          <p:nvPr>
            <p:ph idx="1"/>
          </p:nvPr>
        </p:nvSpPr>
        <p:spPr/>
        <p:txBody>
          <a:bodyPr>
            <a:normAutofit fontScale="92500"/>
          </a:bodyPr>
          <a:lstStyle/>
          <a:p>
            <a:r>
              <a:rPr lang="en-US" dirty="0"/>
              <a:t>Don’t download Python!</a:t>
            </a:r>
          </a:p>
          <a:p>
            <a:pPr lvl="1"/>
            <a:r>
              <a:rPr lang="en-US" dirty="0"/>
              <a:t>Why? </a:t>
            </a:r>
          </a:p>
          <a:p>
            <a:r>
              <a:rPr lang="en-US" dirty="0"/>
              <a:t>Download </a:t>
            </a:r>
            <a:r>
              <a:rPr lang="en-US" dirty="0" err="1"/>
              <a:t>Conda</a:t>
            </a:r>
            <a:r>
              <a:rPr lang="en-US" dirty="0"/>
              <a:t> and Install Python (possibly for every project)</a:t>
            </a:r>
          </a:p>
          <a:p>
            <a:pPr lvl="1"/>
            <a:r>
              <a:rPr lang="en-US" dirty="0"/>
              <a:t>Download </a:t>
            </a:r>
            <a:r>
              <a:rPr lang="en-US" dirty="0" err="1"/>
              <a:t>Miniconda</a:t>
            </a:r>
            <a:r>
              <a:rPr lang="en-US" dirty="0"/>
              <a:t> and install (command-line) or Anaconda from anaconda.com</a:t>
            </a:r>
          </a:p>
          <a:p>
            <a:pPr lvl="1"/>
            <a:r>
              <a:rPr lang="en-US" dirty="0">
                <a:hlinkClick r:id="rId2"/>
              </a:rPr>
              <a:t>https://docs.conda.io/en/latest/miniconda.html</a:t>
            </a:r>
            <a:r>
              <a:rPr lang="en-US" dirty="0"/>
              <a:t> </a:t>
            </a:r>
          </a:p>
          <a:p>
            <a:r>
              <a:rPr lang="en-US" dirty="0" err="1"/>
              <a:t>Conda</a:t>
            </a:r>
            <a:r>
              <a:rPr lang="en-US" dirty="0"/>
              <a:t> is a package manager and virtual environment system rolled into one</a:t>
            </a:r>
          </a:p>
          <a:p>
            <a:pPr lvl="1"/>
            <a:r>
              <a:rPr lang="en-US" dirty="0"/>
              <a:t>Package manager - Finds and installs current/old versions of various tools (e.g. Python) and libraries</a:t>
            </a:r>
          </a:p>
          <a:p>
            <a:pPr lvl="1"/>
            <a:r>
              <a:rPr lang="en-US" dirty="0"/>
              <a:t>Virtual environment - Enables a group of specific versions to be used together for a project without conflicting with other versions.  </a:t>
            </a:r>
          </a:p>
          <a:p>
            <a:endParaRPr lang="en-US" dirty="0"/>
          </a:p>
        </p:txBody>
      </p:sp>
    </p:spTree>
    <p:extLst>
      <p:ext uri="{BB962C8B-B14F-4D97-AF65-F5344CB8AC3E}">
        <p14:creationId xmlns:p14="http://schemas.microsoft.com/office/powerpoint/2010/main" val="543142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6AA97-D8B2-882E-A3D6-411AD8F04970}"/>
              </a:ext>
            </a:extLst>
          </p:cNvPr>
          <p:cNvSpPr>
            <a:spLocks noGrp="1"/>
          </p:cNvSpPr>
          <p:nvPr>
            <p:ph type="title"/>
          </p:nvPr>
        </p:nvSpPr>
        <p:spPr/>
        <p:txBody>
          <a:bodyPr/>
          <a:lstStyle/>
          <a:p>
            <a:r>
              <a:rPr lang="en-US" dirty="0"/>
              <a:t>Let’s solve a simple problem</a:t>
            </a:r>
          </a:p>
        </p:txBody>
      </p:sp>
      <p:sp>
        <p:nvSpPr>
          <p:cNvPr id="3" name="Content Placeholder 2">
            <a:extLst>
              <a:ext uri="{FF2B5EF4-FFF2-40B4-BE49-F238E27FC236}">
                <a16:creationId xmlns:a16="http://schemas.microsoft.com/office/drawing/2014/main" id="{708F188C-4ACC-654D-6C2E-957D7E5EE568}"/>
              </a:ext>
            </a:extLst>
          </p:cNvPr>
          <p:cNvSpPr>
            <a:spLocks noGrp="1"/>
          </p:cNvSpPr>
          <p:nvPr>
            <p:ph idx="1"/>
          </p:nvPr>
        </p:nvSpPr>
        <p:spPr>
          <a:xfrm>
            <a:off x="838199" y="1825625"/>
            <a:ext cx="10185972" cy="4351338"/>
          </a:xfrm>
        </p:spPr>
        <p:txBody>
          <a:bodyPr/>
          <a:lstStyle/>
          <a:p>
            <a:r>
              <a:rPr lang="en-US" dirty="0"/>
              <a:t>Solve for the output voltage, and the power dissipation of each resistor, given the two resistor values and input voltage, formatted nicely  </a:t>
            </a:r>
          </a:p>
          <a:p>
            <a:pPr marL="0" indent="0">
              <a:buNone/>
            </a:pPr>
            <a:endParaRPr lang="en-US" dirty="0"/>
          </a:p>
        </p:txBody>
      </p:sp>
      <p:pic>
        <p:nvPicPr>
          <p:cNvPr id="1028" name="Picture 4">
            <a:extLst>
              <a:ext uri="{FF2B5EF4-FFF2-40B4-BE49-F238E27FC236}">
                <a16:creationId xmlns:a16="http://schemas.microsoft.com/office/drawing/2014/main" id="{D70C56E7-0C3B-B592-4FB9-70A17F520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1741" y="3315984"/>
            <a:ext cx="1958887" cy="2517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18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1401-5C65-6DAE-A0CE-22F42615B955}"/>
              </a:ext>
            </a:extLst>
          </p:cNvPr>
          <p:cNvSpPr>
            <a:spLocks noGrp="1"/>
          </p:cNvSpPr>
          <p:nvPr>
            <p:ph type="title"/>
          </p:nvPr>
        </p:nvSpPr>
        <p:spPr/>
        <p:txBody>
          <a:bodyPr/>
          <a:lstStyle/>
          <a:p>
            <a:r>
              <a:rPr lang="en-US" dirty="0"/>
              <a:t>Let’s share this through GitHub</a:t>
            </a:r>
          </a:p>
        </p:txBody>
      </p:sp>
      <p:sp>
        <p:nvSpPr>
          <p:cNvPr id="3" name="Content Placeholder 2">
            <a:extLst>
              <a:ext uri="{FF2B5EF4-FFF2-40B4-BE49-F238E27FC236}">
                <a16:creationId xmlns:a16="http://schemas.microsoft.com/office/drawing/2014/main" id="{903A4CB9-9C10-998B-A3F5-9CA16ADA14D1}"/>
              </a:ext>
            </a:extLst>
          </p:cNvPr>
          <p:cNvSpPr>
            <a:spLocks noGrp="1"/>
          </p:cNvSpPr>
          <p:nvPr>
            <p:ph idx="1"/>
          </p:nvPr>
        </p:nvSpPr>
        <p:spPr>
          <a:xfrm>
            <a:off x="838200" y="1442434"/>
            <a:ext cx="9393195" cy="3012177"/>
          </a:xfrm>
        </p:spPr>
        <p:txBody>
          <a:bodyPr>
            <a:normAutofit fontScale="92500" lnSpcReduction="10000"/>
          </a:bodyPr>
          <a:lstStyle/>
          <a:p>
            <a:r>
              <a:rPr lang="en-US" b="1" dirty="0"/>
              <a:t>GitHub</a:t>
            </a:r>
            <a:r>
              <a:rPr lang="en-US" dirty="0"/>
              <a:t> - Online Server to Share and Manage remote Git Repositories</a:t>
            </a:r>
          </a:p>
          <a:p>
            <a:r>
              <a:rPr lang="en-US" b="1" dirty="0"/>
              <a:t>Git</a:t>
            </a:r>
            <a:r>
              <a:rPr lang="en-US" dirty="0"/>
              <a:t> - Command-line tool to create and manage Git repositories</a:t>
            </a:r>
          </a:p>
          <a:p>
            <a:r>
              <a:rPr lang="en-US" b="1" dirty="0"/>
              <a:t>Git Repository</a:t>
            </a:r>
            <a:r>
              <a:rPr lang="en-US" dirty="0"/>
              <a:t> - A folder on your computer that contains your files AND tracked changes to those files (called </a:t>
            </a:r>
            <a:r>
              <a:rPr lang="en-US" b="1" dirty="0"/>
              <a:t>commits</a:t>
            </a:r>
            <a:r>
              <a:rPr lang="en-US" dirty="0"/>
              <a:t>) inside a hidden </a:t>
            </a:r>
            <a:r>
              <a:rPr lang="en-US" b="1" dirty="0"/>
              <a:t>.git </a:t>
            </a:r>
            <a:r>
              <a:rPr lang="en-US" dirty="0"/>
              <a:t>folder, created and updated by the Git tool</a:t>
            </a:r>
          </a:p>
          <a:p>
            <a:r>
              <a:rPr lang="en-US" b="1" dirty="0"/>
              <a:t>Git Commit - </a:t>
            </a:r>
            <a:r>
              <a:rPr lang="en-US" dirty="0"/>
              <a:t>A set of </a:t>
            </a:r>
            <a:r>
              <a:rPr lang="en-US" i="1" dirty="0"/>
              <a:t>changes</a:t>
            </a:r>
            <a:r>
              <a:rPr lang="en-US" dirty="0"/>
              <a:t> made to various files in the folder (relative to the last set of changes you made)</a:t>
            </a:r>
            <a:endParaRPr lang="en-US" b="1" dirty="0"/>
          </a:p>
          <a:p>
            <a:endParaRPr lang="en-US" b="1" dirty="0"/>
          </a:p>
          <a:p>
            <a:endParaRPr lang="en-US" dirty="0"/>
          </a:p>
        </p:txBody>
      </p:sp>
      <p:sp>
        <p:nvSpPr>
          <p:cNvPr id="11" name="TextBox 10">
            <a:extLst>
              <a:ext uri="{FF2B5EF4-FFF2-40B4-BE49-F238E27FC236}">
                <a16:creationId xmlns:a16="http://schemas.microsoft.com/office/drawing/2014/main" id="{F54368D1-24FE-12E4-7070-AD0DFC34918C}"/>
              </a:ext>
            </a:extLst>
          </p:cNvPr>
          <p:cNvSpPr txBox="1"/>
          <p:nvPr/>
        </p:nvSpPr>
        <p:spPr>
          <a:xfrm>
            <a:off x="838200" y="4492236"/>
            <a:ext cx="9930714" cy="2308324"/>
          </a:xfrm>
          <a:prstGeom prst="rect">
            <a:avLst/>
          </a:prstGeom>
          <a:noFill/>
        </p:spPr>
        <p:txBody>
          <a:bodyPr wrap="square" rtlCol="0">
            <a:spAutoFit/>
          </a:bodyPr>
          <a:lstStyle/>
          <a:p>
            <a:r>
              <a:rPr lang="en-US" b="1" dirty="0"/>
              <a:t>git clone </a:t>
            </a:r>
            <a:r>
              <a:rPr lang="en-US" b="1" dirty="0" err="1"/>
              <a:t>url</a:t>
            </a:r>
            <a:r>
              <a:rPr lang="en-US" dirty="0"/>
              <a:t> -&gt; creates a copy of a remote repository on your computer, set up to track the remote repository (when using git push and pull)</a:t>
            </a:r>
            <a:endParaRPr lang="en-US" b="1" dirty="0"/>
          </a:p>
          <a:p>
            <a:r>
              <a:rPr lang="en-US" b="1" dirty="0"/>
              <a:t>git status </a:t>
            </a:r>
            <a:r>
              <a:rPr lang="en-US" dirty="0"/>
              <a:t>-&gt; shows the “state” of your repository</a:t>
            </a:r>
          </a:p>
          <a:p>
            <a:r>
              <a:rPr lang="en-US" b="1" dirty="0"/>
              <a:t>git add file1 file2…</a:t>
            </a:r>
            <a:r>
              <a:rPr lang="en-US" dirty="0"/>
              <a:t> -&gt; adds all changes to the specified files to the “staging area”</a:t>
            </a:r>
          </a:p>
          <a:p>
            <a:r>
              <a:rPr lang="en-US" b="1" dirty="0"/>
              <a:t>git reset</a:t>
            </a:r>
            <a:r>
              <a:rPr lang="en-US" dirty="0"/>
              <a:t> -&gt; </a:t>
            </a:r>
            <a:r>
              <a:rPr lang="en-US" dirty="0" err="1"/>
              <a:t>unstages</a:t>
            </a:r>
            <a:r>
              <a:rPr lang="en-US" dirty="0"/>
              <a:t> changes</a:t>
            </a:r>
          </a:p>
          <a:p>
            <a:r>
              <a:rPr lang="en-US" b="1" dirty="0"/>
              <a:t>git commit –m “commit message…”</a:t>
            </a:r>
            <a:r>
              <a:rPr lang="en-US" dirty="0"/>
              <a:t> -&gt; creates a commit from all changes in the staging area</a:t>
            </a:r>
          </a:p>
          <a:p>
            <a:r>
              <a:rPr lang="en-US" b="1" dirty="0"/>
              <a:t>git push </a:t>
            </a:r>
            <a:r>
              <a:rPr lang="en-US" dirty="0"/>
              <a:t>-&gt; attempts to add local commits to remote repositories (e.g., GitHub)</a:t>
            </a:r>
          </a:p>
          <a:p>
            <a:r>
              <a:rPr lang="en-US" b="1" dirty="0"/>
              <a:t>git pull </a:t>
            </a:r>
            <a:r>
              <a:rPr lang="en-US" dirty="0"/>
              <a:t>-&gt; attempts to retrieve (and merge) commits from remote repositories (e.g., GitHub)</a:t>
            </a:r>
            <a:endParaRPr lang="en-US" b="1" dirty="0"/>
          </a:p>
        </p:txBody>
      </p:sp>
    </p:spTree>
    <p:extLst>
      <p:ext uri="{BB962C8B-B14F-4D97-AF65-F5344CB8AC3E}">
        <p14:creationId xmlns:p14="http://schemas.microsoft.com/office/powerpoint/2010/main" val="2960784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6BBD-308D-14BC-D4EE-5A75098C1760}"/>
              </a:ext>
            </a:extLst>
          </p:cNvPr>
          <p:cNvSpPr>
            <a:spLocks noGrp="1"/>
          </p:cNvSpPr>
          <p:nvPr>
            <p:ph type="title"/>
          </p:nvPr>
        </p:nvSpPr>
        <p:spPr/>
        <p:txBody>
          <a:bodyPr/>
          <a:lstStyle/>
          <a:p>
            <a:r>
              <a:rPr lang="en-US" dirty="0"/>
              <a:t>Let’s do it again!</a:t>
            </a:r>
          </a:p>
        </p:txBody>
      </p:sp>
      <p:sp>
        <p:nvSpPr>
          <p:cNvPr id="3" name="Content Placeholder 2">
            <a:extLst>
              <a:ext uri="{FF2B5EF4-FFF2-40B4-BE49-F238E27FC236}">
                <a16:creationId xmlns:a16="http://schemas.microsoft.com/office/drawing/2014/main" id="{13FC6A78-C78D-CA39-FE99-C4EF9FCB653B}"/>
              </a:ext>
            </a:extLst>
          </p:cNvPr>
          <p:cNvSpPr>
            <a:spLocks noGrp="1"/>
          </p:cNvSpPr>
          <p:nvPr>
            <p:ph idx="1"/>
          </p:nvPr>
        </p:nvSpPr>
        <p:spPr>
          <a:xfrm>
            <a:off x="838200" y="1825625"/>
            <a:ext cx="6644425" cy="4351338"/>
          </a:xfrm>
        </p:spPr>
        <p:txBody>
          <a:bodyPr/>
          <a:lstStyle/>
          <a:p>
            <a:r>
              <a:rPr lang="en-US" dirty="0"/>
              <a:t>Calculate the resonant frequency (in Hz) of an LC circuit, given L and C</a:t>
            </a:r>
          </a:p>
        </p:txBody>
      </p:sp>
      <p:pic>
        <p:nvPicPr>
          <p:cNvPr id="2050" name="Picture 2">
            <a:extLst>
              <a:ext uri="{FF2B5EF4-FFF2-40B4-BE49-F238E27FC236}">
                <a16:creationId xmlns:a16="http://schemas.microsoft.com/office/drawing/2014/main" id="{5954047F-A9AA-7E81-BE54-A5556CA80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7808" y="1956773"/>
            <a:ext cx="2726028" cy="40890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8ACB4C9-267F-9B22-B791-919DA2F6CDD5}"/>
              </a:ext>
            </a:extLst>
          </p:cNvPr>
          <p:cNvPicPr>
            <a:picLocks noChangeAspect="1"/>
          </p:cNvPicPr>
          <p:nvPr/>
        </p:nvPicPr>
        <p:blipFill rotWithShape="1">
          <a:blip r:embed="rId3"/>
          <a:srcRect r="8363"/>
          <a:stretch/>
        </p:blipFill>
        <p:spPr>
          <a:xfrm>
            <a:off x="2360781" y="3391609"/>
            <a:ext cx="3151377" cy="1219370"/>
          </a:xfrm>
          <a:prstGeom prst="rect">
            <a:avLst/>
          </a:prstGeom>
        </p:spPr>
      </p:pic>
    </p:spTree>
    <p:extLst>
      <p:ext uri="{BB962C8B-B14F-4D97-AF65-F5344CB8AC3E}">
        <p14:creationId xmlns:p14="http://schemas.microsoft.com/office/powerpoint/2010/main" val="2801968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09D5-CBEE-9E10-99DC-47C10251772E}"/>
              </a:ext>
            </a:extLst>
          </p:cNvPr>
          <p:cNvSpPr>
            <a:spLocks noGrp="1"/>
          </p:cNvSpPr>
          <p:nvPr>
            <p:ph type="title"/>
          </p:nvPr>
        </p:nvSpPr>
        <p:spPr/>
        <p:txBody>
          <a:bodyPr/>
          <a:lstStyle/>
          <a:p>
            <a:r>
              <a:rPr lang="en-US" dirty="0"/>
              <a:t>And commit/push again</a:t>
            </a:r>
          </a:p>
        </p:txBody>
      </p:sp>
      <p:sp>
        <p:nvSpPr>
          <p:cNvPr id="3" name="Content Placeholder 2">
            <a:extLst>
              <a:ext uri="{FF2B5EF4-FFF2-40B4-BE49-F238E27FC236}">
                <a16:creationId xmlns:a16="http://schemas.microsoft.com/office/drawing/2014/main" id="{5220B2F6-4B93-86AC-6CA4-4DFFE342AE84}"/>
              </a:ext>
            </a:extLst>
          </p:cNvPr>
          <p:cNvSpPr>
            <a:spLocks noGrp="1"/>
          </p:cNvSpPr>
          <p:nvPr>
            <p:ph idx="1"/>
          </p:nvPr>
        </p:nvSpPr>
        <p:spPr/>
        <p:txBody>
          <a:bodyPr/>
          <a:lstStyle/>
          <a:p>
            <a:r>
              <a:rPr lang="en-US" dirty="0"/>
              <a:t>Let’s check GitHub and make sure everything is there too</a:t>
            </a:r>
          </a:p>
          <a:p>
            <a:endParaRPr lang="en-US" dirty="0"/>
          </a:p>
        </p:txBody>
      </p:sp>
    </p:spTree>
    <p:extLst>
      <p:ext uri="{BB962C8B-B14F-4D97-AF65-F5344CB8AC3E}">
        <p14:creationId xmlns:p14="http://schemas.microsoft.com/office/powerpoint/2010/main" val="3677053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6CBB-161E-17B1-20DD-C10B18C8D7C3}"/>
              </a:ext>
            </a:extLst>
          </p:cNvPr>
          <p:cNvSpPr>
            <a:spLocks noGrp="1"/>
          </p:cNvSpPr>
          <p:nvPr>
            <p:ph type="title"/>
          </p:nvPr>
        </p:nvSpPr>
        <p:spPr/>
        <p:txBody>
          <a:bodyPr/>
          <a:lstStyle/>
          <a:p>
            <a:r>
              <a:rPr lang="en-US" dirty="0"/>
              <a:t>Python Basics (Storage)</a:t>
            </a:r>
          </a:p>
        </p:txBody>
      </p:sp>
      <p:sp>
        <p:nvSpPr>
          <p:cNvPr id="3" name="Content Placeholder 2">
            <a:extLst>
              <a:ext uri="{FF2B5EF4-FFF2-40B4-BE49-F238E27FC236}">
                <a16:creationId xmlns:a16="http://schemas.microsoft.com/office/drawing/2014/main" id="{09587F7C-C279-3184-8B89-E0C6A3538273}"/>
              </a:ext>
            </a:extLst>
          </p:cNvPr>
          <p:cNvSpPr>
            <a:spLocks noGrp="1"/>
          </p:cNvSpPr>
          <p:nvPr>
            <p:ph idx="1"/>
          </p:nvPr>
        </p:nvSpPr>
        <p:spPr/>
        <p:txBody>
          <a:bodyPr>
            <a:normAutofit fontScale="85000" lnSpcReduction="20000"/>
          </a:bodyPr>
          <a:lstStyle/>
          <a:p>
            <a:r>
              <a:rPr lang="en-US" dirty="0"/>
              <a:t>Objects</a:t>
            </a:r>
          </a:p>
          <a:p>
            <a:pPr lvl="1"/>
            <a:r>
              <a:rPr lang="en-US" dirty="0"/>
              <a:t>Any collection of data (bytes) and operations (functions that operate on said bytes)</a:t>
            </a:r>
          </a:p>
          <a:p>
            <a:pPr lvl="1"/>
            <a:r>
              <a:rPr lang="en-US" dirty="0"/>
              <a:t>Few “built-in” types, e.g.,</a:t>
            </a:r>
          </a:p>
          <a:p>
            <a:pPr lvl="2"/>
            <a:r>
              <a:rPr lang="en-US" dirty="0"/>
              <a:t>int (any size), float (64 bit), complex (3 + 4j)</a:t>
            </a:r>
          </a:p>
          <a:p>
            <a:pPr lvl="2"/>
            <a:r>
              <a:rPr lang="en-US" dirty="0"/>
              <a:t>str (any size)</a:t>
            </a:r>
          </a:p>
          <a:p>
            <a:pPr lvl="2"/>
            <a:r>
              <a:rPr lang="en-US" dirty="0"/>
              <a:t>bool (True or False)</a:t>
            </a:r>
          </a:p>
          <a:p>
            <a:pPr lvl="1"/>
            <a:r>
              <a:rPr lang="en-US" dirty="0"/>
              <a:t>Extendable through </a:t>
            </a:r>
            <a:r>
              <a:rPr lang="en-US" b="1" dirty="0"/>
              <a:t>Classes</a:t>
            </a:r>
            <a:r>
              <a:rPr lang="en-US" dirty="0"/>
              <a:t> (most python libraries)</a:t>
            </a:r>
          </a:p>
          <a:p>
            <a:r>
              <a:rPr lang="en-US" dirty="0"/>
              <a:t>Containers (lists, dictionaries, tuples, sets)</a:t>
            </a:r>
          </a:p>
          <a:p>
            <a:pPr lvl="1"/>
            <a:r>
              <a:rPr lang="en-US" b="1" dirty="0"/>
              <a:t>Indexed</a:t>
            </a:r>
            <a:r>
              <a:rPr lang="en-US" dirty="0"/>
              <a:t> grouping of objects of any type</a:t>
            </a:r>
          </a:p>
          <a:p>
            <a:pPr lvl="1"/>
            <a:r>
              <a:rPr lang="en-US" dirty="0"/>
              <a:t>Examples:  a_list = [1,2,3] (sequential (note: 0) numerical index)  a_dict = {</a:t>
            </a:r>
            <a:r>
              <a:rPr lang="en-US" b="1" dirty="0"/>
              <a:t>“key1”</a:t>
            </a:r>
            <a:r>
              <a:rPr lang="en-US" dirty="0"/>
              <a:t>:1,</a:t>
            </a:r>
            <a:r>
              <a:rPr lang="en-US" b="1" dirty="0"/>
              <a:t>”key2”</a:t>
            </a:r>
            <a:r>
              <a:rPr lang="en-US" dirty="0"/>
              <a:t>:2,</a:t>
            </a:r>
            <a:r>
              <a:rPr lang="en-US" b="1" dirty="0"/>
              <a:t>”key3”</a:t>
            </a:r>
            <a:r>
              <a:rPr lang="en-US" dirty="0"/>
              <a:t>:3} (</a:t>
            </a:r>
            <a:r>
              <a:rPr lang="en-US" b="1" dirty="0"/>
              <a:t>set</a:t>
            </a:r>
            <a:r>
              <a:rPr lang="en-US" dirty="0"/>
              <a:t> index)</a:t>
            </a:r>
          </a:p>
          <a:p>
            <a:r>
              <a:rPr lang="en-US" dirty="0"/>
              <a:t>Files </a:t>
            </a:r>
          </a:p>
          <a:p>
            <a:pPr lvl="1"/>
            <a:r>
              <a:rPr lang="en-US" dirty="0"/>
              <a:t>Read and write, text or binary</a:t>
            </a:r>
          </a:p>
          <a:p>
            <a:pPr lvl="1"/>
            <a:r>
              <a:rPr lang="en-US" dirty="0"/>
              <a:t>Normally used with the “with” statement</a:t>
            </a:r>
          </a:p>
          <a:p>
            <a:pPr lvl="2"/>
            <a:r>
              <a:rPr lang="en-US" dirty="0"/>
              <a:t>with open(“myfile”,”r”) as f:   or with open(“myfile”,”w”) as f:</a:t>
            </a:r>
          </a:p>
          <a:p>
            <a:pPr lvl="1"/>
            <a:endParaRPr lang="en-US" dirty="0"/>
          </a:p>
        </p:txBody>
      </p:sp>
      <p:sp>
        <p:nvSpPr>
          <p:cNvPr id="4" name="Parallelogram 3">
            <a:extLst>
              <a:ext uri="{FF2B5EF4-FFF2-40B4-BE49-F238E27FC236}">
                <a16:creationId xmlns:a16="http://schemas.microsoft.com/office/drawing/2014/main" id="{590475BF-3112-F53E-60CA-D7329D843BB4}"/>
              </a:ext>
            </a:extLst>
          </p:cNvPr>
          <p:cNvSpPr/>
          <p:nvPr/>
        </p:nvSpPr>
        <p:spPr>
          <a:xfrm>
            <a:off x="9454644" y="681037"/>
            <a:ext cx="1899156" cy="711637"/>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Storage</a:t>
            </a:r>
          </a:p>
        </p:txBody>
      </p:sp>
    </p:spTree>
    <p:extLst>
      <p:ext uri="{BB962C8B-B14F-4D97-AF65-F5344CB8AC3E}">
        <p14:creationId xmlns:p14="http://schemas.microsoft.com/office/powerpoint/2010/main" val="181589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B98E-1058-6F51-D87D-29D02D273891}"/>
              </a:ext>
            </a:extLst>
          </p:cNvPr>
          <p:cNvSpPr>
            <a:spLocks noGrp="1"/>
          </p:cNvSpPr>
          <p:nvPr>
            <p:ph type="title"/>
          </p:nvPr>
        </p:nvSpPr>
        <p:spPr/>
        <p:txBody>
          <a:bodyPr/>
          <a:lstStyle/>
          <a:p>
            <a:r>
              <a:rPr lang="en-US" dirty="0"/>
              <a:t>Conditional Statements</a:t>
            </a:r>
          </a:p>
        </p:txBody>
      </p:sp>
      <p:sp>
        <p:nvSpPr>
          <p:cNvPr id="3" name="Content Placeholder 2">
            <a:extLst>
              <a:ext uri="{FF2B5EF4-FFF2-40B4-BE49-F238E27FC236}">
                <a16:creationId xmlns:a16="http://schemas.microsoft.com/office/drawing/2014/main" id="{8F87496D-4463-134D-652E-CD3C7CAFA009}"/>
              </a:ext>
            </a:extLst>
          </p:cNvPr>
          <p:cNvSpPr>
            <a:spLocks noGrp="1"/>
          </p:cNvSpPr>
          <p:nvPr>
            <p:ph idx="1"/>
          </p:nvPr>
        </p:nvSpPr>
        <p:spPr>
          <a:xfrm>
            <a:off x="838200" y="1825625"/>
            <a:ext cx="7199243" cy="4351338"/>
          </a:xfrm>
        </p:spPr>
        <p:txBody>
          <a:bodyPr>
            <a:normAutofit fontScale="92500"/>
          </a:bodyPr>
          <a:lstStyle/>
          <a:p>
            <a:r>
              <a:rPr lang="en-US" b="1" dirty="0"/>
              <a:t>IF-statements</a:t>
            </a:r>
            <a:r>
              <a:rPr lang="en-US" dirty="0"/>
              <a:t> are the dominant form of conditional in almost all programming languages</a:t>
            </a:r>
          </a:p>
          <a:p>
            <a:pPr lvl="1"/>
            <a:r>
              <a:rPr lang="en-US" dirty="0"/>
              <a:t>Sometimes called a “guard”, because they protect code from executing unless a specific condition is met</a:t>
            </a:r>
          </a:p>
          <a:p>
            <a:r>
              <a:rPr lang="en-US" dirty="0"/>
              <a:t>Boolean </a:t>
            </a:r>
            <a:r>
              <a:rPr lang="en-US" b="1" dirty="0"/>
              <a:t>conditional expression</a:t>
            </a:r>
            <a:r>
              <a:rPr lang="en-US" dirty="0"/>
              <a:t> must </a:t>
            </a:r>
            <a:r>
              <a:rPr lang="en-US" b="1" dirty="0"/>
              <a:t>evaluate</a:t>
            </a:r>
            <a:r>
              <a:rPr lang="en-US" dirty="0"/>
              <a:t> to </a:t>
            </a:r>
            <a:r>
              <a:rPr lang="en-US" b="1" dirty="0"/>
              <a:t>True</a:t>
            </a:r>
            <a:r>
              <a:rPr lang="en-US" dirty="0"/>
              <a:t> for a </a:t>
            </a:r>
            <a:r>
              <a:rPr lang="en-US" b="1" dirty="0"/>
              <a:t>body_block </a:t>
            </a:r>
            <a:r>
              <a:rPr lang="en-US" dirty="0"/>
              <a:t>to execute</a:t>
            </a:r>
          </a:p>
          <a:p>
            <a:r>
              <a:rPr lang="en-US" b="1" dirty="0"/>
              <a:t>Python</a:t>
            </a:r>
          </a:p>
          <a:p>
            <a:pPr marL="0" indent="0">
              <a:buNone/>
            </a:pPr>
            <a:r>
              <a:rPr lang="en-US" dirty="0"/>
              <a:t>if expression: </a:t>
            </a:r>
          </a:p>
          <a:p>
            <a:pPr marL="0" indent="0">
              <a:buNone/>
            </a:pPr>
            <a:r>
              <a:rPr lang="en-US" dirty="0"/>
              <a:t>      body_block</a:t>
            </a:r>
          </a:p>
          <a:p>
            <a:pPr marL="0" indent="0">
              <a:buNone/>
            </a:pPr>
            <a:r>
              <a:rPr lang="en-US" dirty="0"/>
              <a:t>next code</a:t>
            </a:r>
          </a:p>
        </p:txBody>
      </p:sp>
      <p:sp>
        <p:nvSpPr>
          <p:cNvPr id="4" name="Diamond 3">
            <a:extLst>
              <a:ext uri="{FF2B5EF4-FFF2-40B4-BE49-F238E27FC236}">
                <a16:creationId xmlns:a16="http://schemas.microsoft.com/office/drawing/2014/main" id="{41359070-2058-98BF-0F59-5AA2AC893AB0}"/>
              </a:ext>
            </a:extLst>
          </p:cNvPr>
          <p:cNvSpPr/>
          <p:nvPr/>
        </p:nvSpPr>
        <p:spPr>
          <a:xfrm>
            <a:off x="9273208" y="1581594"/>
            <a:ext cx="1583635" cy="1583635"/>
          </a:xfrm>
          <a:prstGeom prst="diamond">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Expression</a:t>
            </a:r>
          </a:p>
        </p:txBody>
      </p:sp>
      <p:cxnSp>
        <p:nvCxnSpPr>
          <p:cNvPr id="6" name="Straight Arrow Connector 5">
            <a:extLst>
              <a:ext uri="{FF2B5EF4-FFF2-40B4-BE49-F238E27FC236}">
                <a16:creationId xmlns:a16="http://schemas.microsoft.com/office/drawing/2014/main" id="{331BE0A5-7039-6609-7744-8A2BF5C4C164}"/>
              </a:ext>
            </a:extLst>
          </p:cNvPr>
          <p:cNvCxnSpPr>
            <a:cxnSpLocks/>
            <a:stCxn id="4" idx="2"/>
            <a:endCxn id="7" idx="0"/>
          </p:cNvCxnSpPr>
          <p:nvPr/>
        </p:nvCxnSpPr>
        <p:spPr>
          <a:xfrm flipH="1">
            <a:off x="10058400" y="3165229"/>
            <a:ext cx="6626" cy="7522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 name="Rectangle 6">
            <a:extLst>
              <a:ext uri="{FF2B5EF4-FFF2-40B4-BE49-F238E27FC236}">
                <a16:creationId xmlns:a16="http://schemas.microsoft.com/office/drawing/2014/main" id="{AB5E1AC6-5CD9-4788-8E42-3858B020C267}"/>
              </a:ext>
            </a:extLst>
          </p:cNvPr>
          <p:cNvSpPr/>
          <p:nvPr/>
        </p:nvSpPr>
        <p:spPr>
          <a:xfrm>
            <a:off x="9215230" y="3917527"/>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Body Block</a:t>
            </a:r>
          </a:p>
        </p:txBody>
      </p:sp>
      <p:sp>
        <p:nvSpPr>
          <p:cNvPr id="8" name="Rectangle 7">
            <a:extLst>
              <a:ext uri="{FF2B5EF4-FFF2-40B4-BE49-F238E27FC236}">
                <a16:creationId xmlns:a16="http://schemas.microsoft.com/office/drawing/2014/main" id="{073F3BE8-E424-B9F6-35FF-00EE28AB83B6}"/>
              </a:ext>
            </a:extLst>
          </p:cNvPr>
          <p:cNvSpPr/>
          <p:nvPr/>
        </p:nvSpPr>
        <p:spPr>
          <a:xfrm>
            <a:off x="9215230" y="5548470"/>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Next Code</a:t>
            </a:r>
          </a:p>
        </p:txBody>
      </p:sp>
      <p:cxnSp>
        <p:nvCxnSpPr>
          <p:cNvPr id="10" name="Connector: Elbow 9">
            <a:extLst>
              <a:ext uri="{FF2B5EF4-FFF2-40B4-BE49-F238E27FC236}">
                <a16:creationId xmlns:a16="http://schemas.microsoft.com/office/drawing/2014/main" id="{BF32CDF8-66F3-F3CA-4BBA-D0E01020FDD5}"/>
              </a:ext>
            </a:extLst>
          </p:cNvPr>
          <p:cNvCxnSpPr>
            <a:cxnSpLocks/>
            <a:stCxn id="4" idx="1"/>
            <a:endCxn id="8" idx="1"/>
          </p:cNvCxnSpPr>
          <p:nvPr/>
        </p:nvCxnSpPr>
        <p:spPr>
          <a:xfrm rot="10800000" flipV="1">
            <a:off x="9215230" y="2373412"/>
            <a:ext cx="57978" cy="3536180"/>
          </a:xfrm>
          <a:prstGeom prst="bentConnector3">
            <a:avLst>
              <a:gd name="adj1" fmla="val 494287"/>
            </a:avLst>
          </a:prstGeom>
          <a:ln>
            <a:tailEnd type="triangle"/>
          </a:ln>
        </p:spPr>
        <p:style>
          <a:lnRef idx="2">
            <a:schemeClr val="dk1"/>
          </a:lnRef>
          <a:fillRef idx="1">
            <a:schemeClr val="lt1"/>
          </a:fillRef>
          <a:effectRef idx="0">
            <a:schemeClr val="dk1"/>
          </a:effectRef>
          <a:fontRef idx="minor">
            <a:schemeClr val="dk1"/>
          </a:fontRef>
        </p:style>
      </p:cxnSp>
      <p:cxnSp>
        <p:nvCxnSpPr>
          <p:cNvPr id="11" name="Straight Arrow Connector 10">
            <a:extLst>
              <a:ext uri="{FF2B5EF4-FFF2-40B4-BE49-F238E27FC236}">
                <a16:creationId xmlns:a16="http://schemas.microsoft.com/office/drawing/2014/main" id="{1EB0F995-756A-3C34-E873-CD98FC742078}"/>
              </a:ext>
            </a:extLst>
          </p:cNvPr>
          <p:cNvCxnSpPr>
            <a:cxnSpLocks/>
            <a:stCxn id="7" idx="2"/>
            <a:endCxn id="8" idx="0"/>
          </p:cNvCxnSpPr>
          <p:nvPr/>
        </p:nvCxnSpPr>
        <p:spPr>
          <a:xfrm>
            <a:off x="10058400" y="4639770"/>
            <a:ext cx="0" cy="9087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8" name="TextBox 17">
            <a:extLst>
              <a:ext uri="{FF2B5EF4-FFF2-40B4-BE49-F238E27FC236}">
                <a16:creationId xmlns:a16="http://schemas.microsoft.com/office/drawing/2014/main" id="{850EF629-1E54-C257-8A53-FDF59427FD4A}"/>
              </a:ext>
            </a:extLst>
          </p:cNvPr>
          <p:cNvSpPr txBox="1"/>
          <p:nvPr/>
        </p:nvSpPr>
        <p:spPr>
          <a:xfrm>
            <a:off x="10058400" y="3093845"/>
            <a:ext cx="616226" cy="261610"/>
          </a:xfrm>
          <a:prstGeom prst="rect">
            <a:avLst/>
          </a:prstGeom>
          <a:noFill/>
        </p:spPr>
        <p:txBody>
          <a:bodyPr wrap="square" rtlCol="0">
            <a:spAutoFit/>
          </a:bodyPr>
          <a:lstStyle/>
          <a:p>
            <a:r>
              <a:rPr lang="en-US" sz="1100" dirty="0"/>
              <a:t>True</a:t>
            </a:r>
          </a:p>
        </p:txBody>
      </p:sp>
      <p:sp>
        <p:nvSpPr>
          <p:cNvPr id="19" name="TextBox 18">
            <a:extLst>
              <a:ext uri="{FF2B5EF4-FFF2-40B4-BE49-F238E27FC236}">
                <a16:creationId xmlns:a16="http://schemas.microsoft.com/office/drawing/2014/main" id="{45DF0CC7-FC81-321F-1CF8-AD6C269C4CC6}"/>
              </a:ext>
            </a:extLst>
          </p:cNvPr>
          <p:cNvSpPr txBox="1"/>
          <p:nvPr/>
        </p:nvSpPr>
        <p:spPr>
          <a:xfrm>
            <a:off x="8835887" y="2098871"/>
            <a:ext cx="660124" cy="261610"/>
          </a:xfrm>
          <a:prstGeom prst="rect">
            <a:avLst/>
          </a:prstGeom>
          <a:noFill/>
        </p:spPr>
        <p:txBody>
          <a:bodyPr wrap="square" rtlCol="0">
            <a:spAutoFit/>
          </a:bodyPr>
          <a:lstStyle/>
          <a:p>
            <a:r>
              <a:rPr lang="en-US" sz="1100" dirty="0"/>
              <a:t>False</a:t>
            </a:r>
          </a:p>
        </p:txBody>
      </p:sp>
      <p:cxnSp>
        <p:nvCxnSpPr>
          <p:cNvPr id="20" name="Straight Arrow Connector 19">
            <a:extLst>
              <a:ext uri="{FF2B5EF4-FFF2-40B4-BE49-F238E27FC236}">
                <a16:creationId xmlns:a16="http://schemas.microsoft.com/office/drawing/2014/main" id="{32F04382-DF34-7654-FDFE-B82537AEE652}"/>
              </a:ext>
            </a:extLst>
          </p:cNvPr>
          <p:cNvCxnSpPr>
            <a:cxnSpLocks/>
            <a:endCxn id="4" idx="0"/>
          </p:cNvCxnSpPr>
          <p:nvPr/>
        </p:nvCxnSpPr>
        <p:spPr>
          <a:xfrm>
            <a:off x="10065026" y="1027906"/>
            <a:ext cx="0" cy="55368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6" name="TextBox 25">
            <a:extLst>
              <a:ext uri="{FF2B5EF4-FFF2-40B4-BE49-F238E27FC236}">
                <a16:creationId xmlns:a16="http://schemas.microsoft.com/office/drawing/2014/main" id="{CDE27F07-5F25-27F3-FDBD-C9EF91154059}"/>
              </a:ext>
            </a:extLst>
          </p:cNvPr>
          <p:cNvSpPr txBox="1"/>
          <p:nvPr/>
        </p:nvSpPr>
        <p:spPr>
          <a:xfrm>
            <a:off x="3895569" y="4512524"/>
            <a:ext cx="311937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colon</a:t>
            </a:r>
            <a:r>
              <a:rPr lang="en-US" dirty="0"/>
              <a:t> denotes a </a:t>
            </a:r>
            <a:r>
              <a:rPr lang="en-US" b="1" dirty="0"/>
              <a:t>block statement</a:t>
            </a:r>
          </a:p>
        </p:txBody>
      </p:sp>
      <p:sp>
        <p:nvSpPr>
          <p:cNvPr id="27" name="TextBox 26">
            <a:extLst>
              <a:ext uri="{FF2B5EF4-FFF2-40B4-BE49-F238E27FC236}">
                <a16:creationId xmlns:a16="http://schemas.microsoft.com/office/drawing/2014/main" id="{F7AA8378-276E-EBD8-8588-FC808BBFDD73}"/>
              </a:ext>
            </a:extLst>
          </p:cNvPr>
          <p:cNvSpPr txBox="1"/>
          <p:nvPr/>
        </p:nvSpPr>
        <p:spPr>
          <a:xfrm>
            <a:off x="3895568" y="5295540"/>
            <a:ext cx="311937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All code in a block is </a:t>
            </a:r>
            <a:r>
              <a:rPr lang="en-US" b="1" dirty="0"/>
              <a:t>indented at the same level</a:t>
            </a:r>
          </a:p>
        </p:txBody>
      </p:sp>
      <p:cxnSp>
        <p:nvCxnSpPr>
          <p:cNvPr id="29" name="Straight Arrow Connector 28">
            <a:extLst>
              <a:ext uri="{FF2B5EF4-FFF2-40B4-BE49-F238E27FC236}">
                <a16:creationId xmlns:a16="http://schemas.microsoft.com/office/drawing/2014/main" id="{FA6171C3-B4DC-A3FE-D298-76254D0BE6CC}"/>
              </a:ext>
            </a:extLst>
          </p:cNvPr>
          <p:cNvCxnSpPr/>
          <p:nvPr/>
        </p:nvCxnSpPr>
        <p:spPr>
          <a:xfrm>
            <a:off x="967409" y="5364263"/>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88489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25FD-5788-C2B4-15A8-EBC5F0368BA2}"/>
              </a:ext>
            </a:extLst>
          </p:cNvPr>
          <p:cNvSpPr>
            <a:spLocks noGrp="1"/>
          </p:cNvSpPr>
          <p:nvPr>
            <p:ph type="title"/>
          </p:nvPr>
        </p:nvSpPr>
        <p:spPr/>
        <p:txBody>
          <a:bodyPr/>
          <a:lstStyle/>
          <a:p>
            <a:r>
              <a:rPr lang="en-US" dirty="0"/>
              <a:t>Iterative Statements (while)</a:t>
            </a:r>
          </a:p>
        </p:txBody>
      </p:sp>
      <p:sp>
        <p:nvSpPr>
          <p:cNvPr id="3" name="Content Placeholder 2">
            <a:extLst>
              <a:ext uri="{FF2B5EF4-FFF2-40B4-BE49-F238E27FC236}">
                <a16:creationId xmlns:a16="http://schemas.microsoft.com/office/drawing/2014/main" id="{0CB297CD-7A2A-F3F8-D3BD-13903423B35E}"/>
              </a:ext>
            </a:extLst>
          </p:cNvPr>
          <p:cNvSpPr>
            <a:spLocks noGrp="1"/>
          </p:cNvSpPr>
          <p:nvPr>
            <p:ph idx="1"/>
          </p:nvPr>
        </p:nvSpPr>
        <p:spPr>
          <a:xfrm>
            <a:off x="838200" y="1825625"/>
            <a:ext cx="7767430" cy="4351338"/>
          </a:xfrm>
        </p:spPr>
        <p:txBody>
          <a:bodyPr>
            <a:normAutofit fontScale="92500" lnSpcReduction="10000"/>
          </a:bodyPr>
          <a:lstStyle/>
          <a:p>
            <a:r>
              <a:rPr lang="en-US" dirty="0"/>
              <a:t>Most fundamental type is the “while” statement</a:t>
            </a:r>
          </a:p>
          <a:p>
            <a:pPr lvl="1"/>
            <a:r>
              <a:rPr lang="en-US" dirty="0"/>
              <a:t>Same as an if-statement, but doesn’t continue to the next block until the statement becomes false</a:t>
            </a:r>
          </a:p>
          <a:p>
            <a:r>
              <a:rPr lang="en-US" dirty="0"/>
              <a:t>Sometimes called an “indefinite” looping statement, because the end isn’t necessarily apparent</a:t>
            </a:r>
          </a:p>
          <a:p>
            <a:pPr lvl="1"/>
            <a:r>
              <a:rPr lang="en-US" dirty="0"/>
              <a:t>Use the “</a:t>
            </a:r>
            <a:r>
              <a:rPr lang="en-US" b="1" dirty="0"/>
              <a:t>break</a:t>
            </a:r>
            <a:r>
              <a:rPr lang="en-US" dirty="0"/>
              <a:t>” statement to end immediately</a:t>
            </a:r>
          </a:p>
          <a:p>
            <a:pPr lvl="1"/>
            <a:r>
              <a:rPr lang="en-US" dirty="0"/>
              <a:t>Use the “</a:t>
            </a:r>
            <a:r>
              <a:rPr lang="en-US" b="1" dirty="0"/>
              <a:t>continue</a:t>
            </a:r>
            <a:r>
              <a:rPr lang="en-US" dirty="0"/>
              <a:t>” statement to skip back to the expression</a:t>
            </a:r>
          </a:p>
          <a:p>
            <a:r>
              <a:rPr lang="en-US" b="1" dirty="0"/>
              <a:t>Python</a:t>
            </a:r>
          </a:p>
          <a:p>
            <a:pPr marL="0" indent="0">
              <a:buNone/>
            </a:pPr>
            <a:r>
              <a:rPr lang="en-US" dirty="0"/>
              <a:t>while expression:</a:t>
            </a:r>
          </a:p>
          <a:p>
            <a:pPr marL="0" indent="0">
              <a:buNone/>
            </a:pPr>
            <a:r>
              <a:rPr lang="en-US" dirty="0"/>
              <a:t>      body_block</a:t>
            </a:r>
          </a:p>
          <a:p>
            <a:pPr marL="0" indent="0">
              <a:buNone/>
            </a:pPr>
            <a:r>
              <a:rPr lang="en-US" dirty="0"/>
              <a:t>next_code</a:t>
            </a:r>
          </a:p>
        </p:txBody>
      </p:sp>
      <p:sp>
        <p:nvSpPr>
          <p:cNvPr id="4" name="Diamond 3">
            <a:extLst>
              <a:ext uri="{FF2B5EF4-FFF2-40B4-BE49-F238E27FC236}">
                <a16:creationId xmlns:a16="http://schemas.microsoft.com/office/drawing/2014/main" id="{87CDE885-3A47-A81A-BE2C-D57423744324}"/>
              </a:ext>
            </a:extLst>
          </p:cNvPr>
          <p:cNvSpPr/>
          <p:nvPr/>
        </p:nvSpPr>
        <p:spPr>
          <a:xfrm>
            <a:off x="9273208" y="1581594"/>
            <a:ext cx="1583635" cy="1583635"/>
          </a:xfrm>
          <a:prstGeom prst="diamond">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Expression</a:t>
            </a:r>
          </a:p>
        </p:txBody>
      </p:sp>
      <p:cxnSp>
        <p:nvCxnSpPr>
          <p:cNvPr id="5" name="Straight Arrow Connector 4">
            <a:extLst>
              <a:ext uri="{FF2B5EF4-FFF2-40B4-BE49-F238E27FC236}">
                <a16:creationId xmlns:a16="http://schemas.microsoft.com/office/drawing/2014/main" id="{5BB03BE6-8CDE-A676-2DE4-AAA24D52C8F8}"/>
              </a:ext>
            </a:extLst>
          </p:cNvPr>
          <p:cNvCxnSpPr>
            <a:cxnSpLocks/>
            <a:stCxn id="4" idx="2"/>
            <a:endCxn id="6" idx="0"/>
          </p:cNvCxnSpPr>
          <p:nvPr/>
        </p:nvCxnSpPr>
        <p:spPr>
          <a:xfrm flipH="1">
            <a:off x="10058400" y="3165229"/>
            <a:ext cx="6626" cy="7522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 name="Rectangle 5">
            <a:extLst>
              <a:ext uri="{FF2B5EF4-FFF2-40B4-BE49-F238E27FC236}">
                <a16:creationId xmlns:a16="http://schemas.microsoft.com/office/drawing/2014/main" id="{61135312-9ACA-18CE-3E9C-664757B69292}"/>
              </a:ext>
            </a:extLst>
          </p:cNvPr>
          <p:cNvSpPr/>
          <p:nvPr/>
        </p:nvSpPr>
        <p:spPr>
          <a:xfrm>
            <a:off x="9215230" y="3917527"/>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Body Block</a:t>
            </a:r>
          </a:p>
        </p:txBody>
      </p:sp>
      <p:sp>
        <p:nvSpPr>
          <p:cNvPr id="7" name="Rectangle 6">
            <a:extLst>
              <a:ext uri="{FF2B5EF4-FFF2-40B4-BE49-F238E27FC236}">
                <a16:creationId xmlns:a16="http://schemas.microsoft.com/office/drawing/2014/main" id="{0AE79AFE-274F-CA84-A2BB-B3F0CA87F688}"/>
              </a:ext>
            </a:extLst>
          </p:cNvPr>
          <p:cNvSpPr/>
          <p:nvPr/>
        </p:nvSpPr>
        <p:spPr>
          <a:xfrm>
            <a:off x="9215230" y="5548470"/>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Next Code</a:t>
            </a:r>
          </a:p>
        </p:txBody>
      </p:sp>
      <p:cxnSp>
        <p:nvCxnSpPr>
          <p:cNvPr id="8" name="Connector: Elbow 7">
            <a:extLst>
              <a:ext uri="{FF2B5EF4-FFF2-40B4-BE49-F238E27FC236}">
                <a16:creationId xmlns:a16="http://schemas.microsoft.com/office/drawing/2014/main" id="{51564DEC-9106-10F0-92FA-403E113D28B7}"/>
              </a:ext>
            </a:extLst>
          </p:cNvPr>
          <p:cNvCxnSpPr>
            <a:cxnSpLocks/>
            <a:stCxn id="4" idx="1"/>
            <a:endCxn id="7" idx="1"/>
          </p:cNvCxnSpPr>
          <p:nvPr/>
        </p:nvCxnSpPr>
        <p:spPr>
          <a:xfrm rot="10800000" flipV="1">
            <a:off x="9215230" y="2373412"/>
            <a:ext cx="57978" cy="3536180"/>
          </a:xfrm>
          <a:prstGeom prst="bentConnector3">
            <a:avLst>
              <a:gd name="adj1" fmla="val 494287"/>
            </a:avLst>
          </a:prstGeom>
          <a:ln>
            <a:tailEnd type="triangle"/>
          </a:ln>
        </p:spPr>
        <p:style>
          <a:lnRef idx="2">
            <a:schemeClr val="dk1"/>
          </a:lnRef>
          <a:fillRef idx="1">
            <a:schemeClr val="lt1"/>
          </a:fillRef>
          <a:effectRef idx="0">
            <a:schemeClr val="dk1"/>
          </a:effectRef>
          <a:fontRef idx="minor">
            <a:schemeClr val="dk1"/>
          </a:fontRef>
        </p:style>
      </p:cxnSp>
      <p:sp>
        <p:nvSpPr>
          <p:cNvPr id="10" name="TextBox 9">
            <a:extLst>
              <a:ext uri="{FF2B5EF4-FFF2-40B4-BE49-F238E27FC236}">
                <a16:creationId xmlns:a16="http://schemas.microsoft.com/office/drawing/2014/main" id="{361D7A18-48C9-9D0B-BC37-A22CAD9297B0}"/>
              </a:ext>
            </a:extLst>
          </p:cNvPr>
          <p:cNvSpPr txBox="1"/>
          <p:nvPr/>
        </p:nvSpPr>
        <p:spPr>
          <a:xfrm>
            <a:off x="10058400" y="3093845"/>
            <a:ext cx="616226" cy="261610"/>
          </a:xfrm>
          <a:prstGeom prst="rect">
            <a:avLst/>
          </a:prstGeom>
          <a:noFill/>
        </p:spPr>
        <p:txBody>
          <a:bodyPr wrap="square" rtlCol="0">
            <a:spAutoFit/>
          </a:bodyPr>
          <a:lstStyle/>
          <a:p>
            <a:r>
              <a:rPr lang="en-US" sz="1100" dirty="0"/>
              <a:t>True</a:t>
            </a:r>
          </a:p>
        </p:txBody>
      </p:sp>
      <p:sp>
        <p:nvSpPr>
          <p:cNvPr id="11" name="TextBox 10">
            <a:extLst>
              <a:ext uri="{FF2B5EF4-FFF2-40B4-BE49-F238E27FC236}">
                <a16:creationId xmlns:a16="http://schemas.microsoft.com/office/drawing/2014/main" id="{953E322D-07A2-B812-7C12-4AC97B2434C8}"/>
              </a:ext>
            </a:extLst>
          </p:cNvPr>
          <p:cNvSpPr txBox="1"/>
          <p:nvPr/>
        </p:nvSpPr>
        <p:spPr>
          <a:xfrm>
            <a:off x="8835887" y="2098871"/>
            <a:ext cx="660124" cy="261610"/>
          </a:xfrm>
          <a:prstGeom prst="rect">
            <a:avLst/>
          </a:prstGeom>
          <a:noFill/>
        </p:spPr>
        <p:txBody>
          <a:bodyPr wrap="square" rtlCol="0">
            <a:spAutoFit/>
          </a:bodyPr>
          <a:lstStyle/>
          <a:p>
            <a:r>
              <a:rPr lang="en-US" sz="1100" dirty="0"/>
              <a:t>False</a:t>
            </a:r>
          </a:p>
        </p:txBody>
      </p:sp>
      <p:cxnSp>
        <p:nvCxnSpPr>
          <p:cNvPr id="12" name="Straight Arrow Connector 11">
            <a:extLst>
              <a:ext uri="{FF2B5EF4-FFF2-40B4-BE49-F238E27FC236}">
                <a16:creationId xmlns:a16="http://schemas.microsoft.com/office/drawing/2014/main" id="{F3CF74C7-0854-C13C-1E5E-C890829A694E}"/>
              </a:ext>
            </a:extLst>
          </p:cNvPr>
          <p:cNvCxnSpPr>
            <a:cxnSpLocks/>
            <a:endCxn id="4" idx="0"/>
          </p:cNvCxnSpPr>
          <p:nvPr/>
        </p:nvCxnSpPr>
        <p:spPr>
          <a:xfrm>
            <a:off x="10065026" y="1027906"/>
            <a:ext cx="0" cy="55368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4" name="Connector: Elbow 13">
            <a:extLst>
              <a:ext uri="{FF2B5EF4-FFF2-40B4-BE49-F238E27FC236}">
                <a16:creationId xmlns:a16="http://schemas.microsoft.com/office/drawing/2014/main" id="{1C8D817C-E2A8-2837-6E00-2CE6C3842665}"/>
              </a:ext>
            </a:extLst>
          </p:cNvPr>
          <p:cNvCxnSpPr>
            <a:cxnSpLocks/>
            <a:stCxn id="6" idx="3"/>
            <a:endCxn id="4" idx="3"/>
          </p:cNvCxnSpPr>
          <p:nvPr/>
        </p:nvCxnSpPr>
        <p:spPr>
          <a:xfrm flipH="1" flipV="1">
            <a:off x="10856843" y="2373412"/>
            <a:ext cx="44727" cy="1905237"/>
          </a:xfrm>
          <a:prstGeom prst="bentConnector3">
            <a:avLst>
              <a:gd name="adj1" fmla="val -51110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E90F350-34EE-8172-BD8C-7B2B61083BFE}"/>
              </a:ext>
            </a:extLst>
          </p:cNvPr>
          <p:cNvCxnSpPr/>
          <p:nvPr/>
        </p:nvCxnSpPr>
        <p:spPr>
          <a:xfrm>
            <a:off x="967409" y="5364263"/>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5163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6E42E-CB63-A70A-3F20-4378959582A9}"/>
              </a:ext>
            </a:extLst>
          </p:cNvPr>
          <p:cNvSpPr>
            <a:spLocks noGrp="1"/>
          </p:cNvSpPr>
          <p:nvPr>
            <p:ph type="title"/>
          </p:nvPr>
        </p:nvSpPr>
        <p:spPr/>
        <p:txBody>
          <a:bodyPr/>
          <a:lstStyle/>
          <a:p>
            <a:r>
              <a:rPr lang="en-US" dirty="0"/>
              <a:t>Iterative Statements (for)</a:t>
            </a:r>
          </a:p>
        </p:txBody>
      </p:sp>
      <p:sp>
        <p:nvSpPr>
          <p:cNvPr id="3" name="Content Placeholder 2">
            <a:extLst>
              <a:ext uri="{FF2B5EF4-FFF2-40B4-BE49-F238E27FC236}">
                <a16:creationId xmlns:a16="http://schemas.microsoft.com/office/drawing/2014/main" id="{6F2A1207-A2AE-EA20-E957-2300D6668C63}"/>
              </a:ext>
            </a:extLst>
          </p:cNvPr>
          <p:cNvSpPr>
            <a:spLocks noGrp="1"/>
          </p:cNvSpPr>
          <p:nvPr>
            <p:ph idx="1"/>
          </p:nvPr>
        </p:nvSpPr>
        <p:spPr>
          <a:xfrm>
            <a:off x="838200" y="1825625"/>
            <a:ext cx="7986963" cy="3485503"/>
          </a:xfrm>
        </p:spPr>
        <p:txBody>
          <a:bodyPr>
            <a:normAutofit fontScale="92500"/>
          </a:bodyPr>
          <a:lstStyle/>
          <a:p>
            <a:r>
              <a:rPr lang="en-US" dirty="0"/>
              <a:t>FOR-loops are a common and useful “upgrade” of a while loop to focus on iterating through a container type</a:t>
            </a:r>
          </a:p>
          <a:p>
            <a:r>
              <a:rPr lang="en-US" dirty="0"/>
              <a:t>Executes a block of code once for each object in the </a:t>
            </a:r>
            <a:r>
              <a:rPr lang="en-US" b="1" dirty="0"/>
              <a:t>container</a:t>
            </a:r>
            <a:r>
              <a:rPr lang="en-US" dirty="0"/>
              <a:t> (in sequence)</a:t>
            </a:r>
          </a:p>
          <a:p>
            <a:pPr lvl="1"/>
            <a:r>
              <a:rPr lang="en-US" dirty="0"/>
              <a:t>index variable assigned to the current item in the container while the body_block is executing</a:t>
            </a:r>
          </a:p>
          <a:p>
            <a:pPr lvl="1"/>
            <a:r>
              <a:rPr lang="en-US" dirty="0"/>
              <a:t>containers are any </a:t>
            </a:r>
            <a:r>
              <a:rPr lang="en-US" b="1" dirty="0"/>
              <a:t>iterable</a:t>
            </a:r>
            <a:r>
              <a:rPr lang="en-US" dirty="0"/>
              <a:t> type (implements __iter__, e.g. lists, dictionaries)</a:t>
            </a:r>
          </a:p>
          <a:p>
            <a:r>
              <a:rPr lang="en-US" dirty="0"/>
              <a:t>Python</a:t>
            </a:r>
          </a:p>
          <a:p>
            <a:pPr lvl="1"/>
            <a:endParaRPr lang="en-US" dirty="0"/>
          </a:p>
          <a:p>
            <a:endParaRPr lang="en-US" dirty="0"/>
          </a:p>
        </p:txBody>
      </p:sp>
      <p:cxnSp>
        <p:nvCxnSpPr>
          <p:cNvPr id="4" name="Straight Arrow Connector 3">
            <a:extLst>
              <a:ext uri="{FF2B5EF4-FFF2-40B4-BE49-F238E27FC236}">
                <a16:creationId xmlns:a16="http://schemas.microsoft.com/office/drawing/2014/main" id="{21008036-A085-C025-F54C-490A14440290}"/>
              </a:ext>
            </a:extLst>
          </p:cNvPr>
          <p:cNvCxnSpPr/>
          <p:nvPr/>
        </p:nvCxnSpPr>
        <p:spPr>
          <a:xfrm>
            <a:off x="954157" y="3485766"/>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F06D46F9-468C-0EC7-4EDA-2AB03F57B428}"/>
              </a:ext>
            </a:extLst>
          </p:cNvPr>
          <p:cNvCxnSpPr/>
          <p:nvPr/>
        </p:nvCxnSpPr>
        <p:spPr>
          <a:xfrm>
            <a:off x="6897757" y="6129575"/>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E9AB5EE9-15D5-C129-9F42-68BA2E815127}"/>
              </a:ext>
            </a:extLst>
          </p:cNvPr>
          <p:cNvCxnSpPr/>
          <p:nvPr/>
        </p:nvCxnSpPr>
        <p:spPr>
          <a:xfrm>
            <a:off x="1868557" y="6031210"/>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7FDFAC7-FCE4-5E71-35D5-05FFED71261D}"/>
              </a:ext>
            </a:extLst>
          </p:cNvPr>
          <p:cNvSpPr txBox="1"/>
          <p:nvPr/>
        </p:nvSpPr>
        <p:spPr>
          <a:xfrm>
            <a:off x="1691778" y="5569545"/>
            <a:ext cx="2780831" cy="923330"/>
          </a:xfrm>
          <a:prstGeom prst="rect">
            <a:avLst/>
          </a:prstGeom>
          <a:noFill/>
        </p:spPr>
        <p:txBody>
          <a:bodyPr wrap="square">
            <a:spAutoFit/>
          </a:bodyPr>
          <a:lstStyle/>
          <a:p>
            <a:pPr marL="0" indent="0">
              <a:buNone/>
            </a:pPr>
            <a:r>
              <a:rPr lang="en-US" dirty="0"/>
              <a:t>for index_var in container:</a:t>
            </a:r>
          </a:p>
          <a:p>
            <a:pPr marL="0" indent="0">
              <a:buNone/>
            </a:pPr>
            <a:r>
              <a:rPr lang="en-US" dirty="0"/>
              <a:t>          body_block</a:t>
            </a:r>
          </a:p>
          <a:p>
            <a:pPr marL="0" indent="0">
              <a:buNone/>
            </a:pPr>
            <a:r>
              <a:rPr lang="en-US" dirty="0"/>
              <a:t>next_code</a:t>
            </a:r>
          </a:p>
        </p:txBody>
      </p:sp>
      <p:sp>
        <p:nvSpPr>
          <p:cNvPr id="10" name="TextBox 9">
            <a:extLst>
              <a:ext uri="{FF2B5EF4-FFF2-40B4-BE49-F238E27FC236}">
                <a16:creationId xmlns:a16="http://schemas.microsoft.com/office/drawing/2014/main" id="{19EE7E62-FFF5-06B6-89CA-CC4E1527F0E6}"/>
              </a:ext>
            </a:extLst>
          </p:cNvPr>
          <p:cNvSpPr txBox="1"/>
          <p:nvPr/>
        </p:nvSpPr>
        <p:spPr>
          <a:xfrm>
            <a:off x="6738730" y="5376574"/>
            <a:ext cx="3432313" cy="1200329"/>
          </a:xfrm>
          <a:prstGeom prst="rect">
            <a:avLst/>
          </a:prstGeom>
          <a:noFill/>
        </p:spPr>
        <p:txBody>
          <a:bodyPr wrap="square">
            <a:spAutoFit/>
          </a:bodyPr>
          <a:lstStyle/>
          <a:p>
            <a:pPr marL="0" indent="0">
              <a:buNone/>
            </a:pPr>
            <a:r>
              <a:rPr lang="en-US" dirty="0"/>
              <a:t>iterator = iter(container)</a:t>
            </a:r>
          </a:p>
          <a:p>
            <a:pPr marL="0" indent="0">
              <a:buNone/>
            </a:pPr>
            <a:r>
              <a:rPr lang="en-US" dirty="0"/>
              <a:t>while True:</a:t>
            </a:r>
          </a:p>
          <a:p>
            <a:pPr marL="0" indent="0">
              <a:buNone/>
            </a:pPr>
            <a:r>
              <a:rPr lang="en-US" dirty="0"/>
              <a:t>         index_var = next(iterator)</a:t>
            </a:r>
          </a:p>
          <a:p>
            <a:pPr marL="0" indent="0">
              <a:buNone/>
            </a:pPr>
            <a:r>
              <a:rPr lang="en-US" dirty="0"/>
              <a:t>         body_block</a:t>
            </a:r>
          </a:p>
        </p:txBody>
      </p:sp>
      <p:cxnSp>
        <p:nvCxnSpPr>
          <p:cNvPr id="11" name="Straight Arrow Connector 10">
            <a:extLst>
              <a:ext uri="{FF2B5EF4-FFF2-40B4-BE49-F238E27FC236}">
                <a16:creationId xmlns:a16="http://schemas.microsoft.com/office/drawing/2014/main" id="{5C713023-34BA-F962-E7DA-82B30F309132}"/>
              </a:ext>
            </a:extLst>
          </p:cNvPr>
          <p:cNvCxnSpPr/>
          <p:nvPr/>
        </p:nvCxnSpPr>
        <p:spPr>
          <a:xfrm>
            <a:off x="6906509" y="6387993"/>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8F9EA9A-F67D-3F41-EAFB-25B30F85BB9B}"/>
              </a:ext>
            </a:extLst>
          </p:cNvPr>
          <p:cNvSpPr txBox="1"/>
          <p:nvPr/>
        </p:nvSpPr>
        <p:spPr>
          <a:xfrm>
            <a:off x="5002696" y="5777948"/>
            <a:ext cx="1219200" cy="369332"/>
          </a:xfrm>
          <a:prstGeom prst="rect">
            <a:avLst/>
          </a:prstGeom>
          <a:noFill/>
        </p:spPr>
        <p:txBody>
          <a:bodyPr wrap="square" rtlCol="0">
            <a:spAutoFit/>
          </a:bodyPr>
          <a:lstStyle/>
          <a:p>
            <a:r>
              <a:rPr lang="en-US" i="1" dirty="0"/>
              <a:t>Similar</a:t>
            </a:r>
            <a:r>
              <a:rPr lang="en-US" dirty="0"/>
              <a:t> to</a:t>
            </a:r>
          </a:p>
        </p:txBody>
      </p:sp>
      <p:sp>
        <p:nvSpPr>
          <p:cNvPr id="18" name="Diamond 17">
            <a:extLst>
              <a:ext uri="{FF2B5EF4-FFF2-40B4-BE49-F238E27FC236}">
                <a16:creationId xmlns:a16="http://schemas.microsoft.com/office/drawing/2014/main" id="{60849E7E-EDA3-3FB0-5A00-E806795D8E81}"/>
              </a:ext>
            </a:extLst>
          </p:cNvPr>
          <p:cNvSpPr/>
          <p:nvPr/>
        </p:nvSpPr>
        <p:spPr>
          <a:xfrm>
            <a:off x="9725438" y="983130"/>
            <a:ext cx="1583635" cy="1583635"/>
          </a:xfrm>
          <a:prstGeom prst="diamond">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Get Next Value from Iterator</a:t>
            </a:r>
          </a:p>
        </p:txBody>
      </p:sp>
      <p:cxnSp>
        <p:nvCxnSpPr>
          <p:cNvPr id="19" name="Straight Arrow Connector 18">
            <a:extLst>
              <a:ext uri="{FF2B5EF4-FFF2-40B4-BE49-F238E27FC236}">
                <a16:creationId xmlns:a16="http://schemas.microsoft.com/office/drawing/2014/main" id="{9012636D-B959-23CA-EAA9-43D54A56F573}"/>
              </a:ext>
            </a:extLst>
          </p:cNvPr>
          <p:cNvCxnSpPr>
            <a:cxnSpLocks/>
            <a:stCxn id="18" idx="2"/>
            <a:endCxn id="20" idx="0"/>
          </p:cNvCxnSpPr>
          <p:nvPr/>
        </p:nvCxnSpPr>
        <p:spPr>
          <a:xfrm flipH="1">
            <a:off x="10510630" y="2566765"/>
            <a:ext cx="6626" cy="7522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0" name="Rectangle 19">
            <a:extLst>
              <a:ext uri="{FF2B5EF4-FFF2-40B4-BE49-F238E27FC236}">
                <a16:creationId xmlns:a16="http://schemas.microsoft.com/office/drawing/2014/main" id="{26839316-8BC9-FCFE-2BE2-FD33560E86C2}"/>
              </a:ext>
            </a:extLst>
          </p:cNvPr>
          <p:cNvSpPr/>
          <p:nvPr/>
        </p:nvSpPr>
        <p:spPr>
          <a:xfrm>
            <a:off x="9667460" y="3319063"/>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Body Block</a:t>
            </a:r>
          </a:p>
        </p:txBody>
      </p:sp>
      <p:sp>
        <p:nvSpPr>
          <p:cNvPr id="21" name="Rectangle 20">
            <a:extLst>
              <a:ext uri="{FF2B5EF4-FFF2-40B4-BE49-F238E27FC236}">
                <a16:creationId xmlns:a16="http://schemas.microsoft.com/office/drawing/2014/main" id="{321A88DB-4856-8C20-E70D-E19D5F64263C}"/>
              </a:ext>
            </a:extLst>
          </p:cNvPr>
          <p:cNvSpPr/>
          <p:nvPr/>
        </p:nvSpPr>
        <p:spPr>
          <a:xfrm>
            <a:off x="9667460" y="4950006"/>
            <a:ext cx="1686340" cy="7222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Next Code</a:t>
            </a:r>
          </a:p>
        </p:txBody>
      </p:sp>
      <p:cxnSp>
        <p:nvCxnSpPr>
          <p:cNvPr id="22" name="Connector: Elbow 21">
            <a:extLst>
              <a:ext uri="{FF2B5EF4-FFF2-40B4-BE49-F238E27FC236}">
                <a16:creationId xmlns:a16="http://schemas.microsoft.com/office/drawing/2014/main" id="{70666D3A-B1ED-9364-96CA-AB41FA1E5F2B}"/>
              </a:ext>
            </a:extLst>
          </p:cNvPr>
          <p:cNvCxnSpPr>
            <a:cxnSpLocks/>
            <a:stCxn id="18" idx="1"/>
            <a:endCxn id="21" idx="1"/>
          </p:cNvCxnSpPr>
          <p:nvPr/>
        </p:nvCxnSpPr>
        <p:spPr>
          <a:xfrm rot="10800000" flipV="1">
            <a:off x="9667460" y="1774948"/>
            <a:ext cx="57978" cy="3536180"/>
          </a:xfrm>
          <a:prstGeom prst="bentConnector3">
            <a:avLst>
              <a:gd name="adj1" fmla="val 494287"/>
            </a:avLst>
          </a:prstGeom>
          <a:ln>
            <a:tailEnd type="triangle"/>
          </a:ln>
        </p:spPr>
        <p:style>
          <a:lnRef idx="2">
            <a:schemeClr val="dk1"/>
          </a:lnRef>
          <a:fillRef idx="1">
            <a:schemeClr val="lt1"/>
          </a:fillRef>
          <a:effectRef idx="0">
            <a:schemeClr val="dk1"/>
          </a:effectRef>
          <a:fontRef idx="minor">
            <a:schemeClr val="dk1"/>
          </a:fontRef>
        </p:style>
      </p:cxnSp>
      <p:sp>
        <p:nvSpPr>
          <p:cNvPr id="24" name="TextBox 23">
            <a:extLst>
              <a:ext uri="{FF2B5EF4-FFF2-40B4-BE49-F238E27FC236}">
                <a16:creationId xmlns:a16="http://schemas.microsoft.com/office/drawing/2014/main" id="{7565A776-4A78-F297-24D9-198F528F5CB2}"/>
              </a:ext>
            </a:extLst>
          </p:cNvPr>
          <p:cNvSpPr txBox="1"/>
          <p:nvPr/>
        </p:nvSpPr>
        <p:spPr>
          <a:xfrm>
            <a:off x="9071811" y="1500407"/>
            <a:ext cx="876430" cy="261610"/>
          </a:xfrm>
          <a:prstGeom prst="rect">
            <a:avLst/>
          </a:prstGeom>
          <a:noFill/>
        </p:spPr>
        <p:txBody>
          <a:bodyPr wrap="square" rtlCol="0">
            <a:spAutoFit/>
          </a:bodyPr>
          <a:lstStyle/>
          <a:p>
            <a:r>
              <a:rPr lang="en-US" sz="1100" dirty="0"/>
              <a:t>Exception</a:t>
            </a:r>
          </a:p>
        </p:txBody>
      </p:sp>
      <p:cxnSp>
        <p:nvCxnSpPr>
          <p:cNvPr id="25" name="Straight Arrow Connector 24">
            <a:extLst>
              <a:ext uri="{FF2B5EF4-FFF2-40B4-BE49-F238E27FC236}">
                <a16:creationId xmlns:a16="http://schemas.microsoft.com/office/drawing/2014/main" id="{EAB8FADB-11AA-DFD4-E622-DFF1A2850337}"/>
              </a:ext>
            </a:extLst>
          </p:cNvPr>
          <p:cNvCxnSpPr>
            <a:cxnSpLocks/>
            <a:endCxn id="18" idx="0"/>
          </p:cNvCxnSpPr>
          <p:nvPr/>
        </p:nvCxnSpPr>
        <p:spPr>
          <a:xfrm>
            <a:off x="10517256" y="429442"/>
            <a:ext cx="0" cy="55368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6" name="Connector: Elbow 25">
            <a:extLst>
              <a:ext uri="{FF2B5EF4-FFF2-40B4-BE49-F238E27FC236}">
                <a16:creationId xmlns:a16="http://schemas.microsoft.com/office/drawing/2014/main" id="{45F57FA5-DE6A-6DE5-B13C-0CA116513FCF}"/>
              </a:ext>
            </a:extLst>
          </p:cNvPr>
          <p:cNvCxnSpPr>
            <a:cxnSpLocks/>
            <a:stCxn id="20" idx="3"/>
            <a:endCxn id="18" idx="3"/>
          </p:cNvCxnSpPr>
          <p:nvPr/>
        </p:nvCxnSpPr>
        <p:spPr>
          <a:xfrm flipH="1" flipV="1">
            <a:off x="11309073" y="1774948"/>
            <a:ext cx="44727" cy="1905237"/>
          </a:xfrm>
          <a:prstGeom prst="bentConnector3">
            <a:avLst>
              <a:gd name="adj1" fmla="val -51110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78559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4B10-5329-CEA3-3EF2-CC4FCA699427}"/>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916A048D-6077-78CB-17DF-C4DAFB6AD025}"/>
              </a:ext>
            </a:extLst>
          </p:cNvPr>
          <p:cNvSpPr>
            <a:spLocks noGrp="1"/>
          </p:cNvSpPr>
          <p:nvPr>
            <p:ph idx="1"/>
          </p:nvPr>
        </p:nvSpPr>
        <p:spPr>
          <a:xfrm>
            <a:off x="838200" y="1825625"/>
            <a:ext cx="10515600" cy="3243332"/>
          </a:xfrm>
        </p:spPr>
        <p:txBody>
          <a:bodyPr>
            <a:normAutofit fontScale="77500" lnSpcReduction="20000"/>
          </a:bodyPr>
          <a:lstStyle/>
          <a:p>
            <a:r>
              <a:rPr lang="en-US" dirty="0"/>
              <a:t>Functions are how we </a:t>
            </a:r>
            <a:r>
              <a:rPr lang="en-US" b="1" dirty="0"/>
              <a:t>manage complexi</a:t>
            </a:r>
            <a:r>
              <a:rPr lang="en-US" dirty="0"/>
              <a:t>ty and </a:t>
            </a:r>
            <a:r>
              <a:rPr lang="en-US" b="1" dirty="0"/>
              <a:t>code-reuse</a:t>
            </a:r>
            <a:r>
              <a:rPr lang="en-US" dirty="0"/>
              <a:t> in programming</a:t>
            </a:r>
          </a:p>
          <a:p>
            <a:r>
              <a:rPr lang="en-US" dirty="0"/>
              <a:t>Any part of a program that turns input into output can be made into a function consisting of</a:t>
            </a:r>
          </a:p>
          <a:p>
            <a:pPr lvl="1"/>
            <a:r>
              <a:rPr lang="en-US" dirty="0"/>
              <a:t>input values</a:t>
            </a:r>
          </a:p>
          <a:p>
            <a:pPr lvl="1"/>
            <a:r>
              <a:rPr lang="en-US" dirty="0"/>
              <a:t>body statements (procedure)</a:t>
            </a:r>
          </a:p>
          <a:p>
            <a:pPr lvl="1"/>
            <a:r>
              <a:rPr lang="en-US" dirty="0"/>
              <a:t>output values (</a:t>
            </a:r>
            <a:r>
              <a:rPr lang="en-US" b="1" dirty="0"/>
              <a:t>return</a:t>
            </a:r>
            <a:r>
              <a:rPr lang="en-US" dirty="0"/>
              <a:t> statement)</a:t>
            </a:r>
          </a:p>
          <a:p>
            <a:r>
              <a:rPr lang="en-US" dirty="0"/>
              <a:t>Variables </a:t>
            </a:r>
            <a:r>
              <a:rPr lang="en-US" b="1" dirty="0"/>
              <a:t>assigned </a:t>
            </a:r>
            <a:r>
              <a:rPr lang="en-US" dirty="0"/>
              <a:t>inside the function are not available outside of the function, unless declared “global”</a:t>
            </a:r>
          </a:p>
          <a:p>
            <a:pPr lvl="1"/>
            <a:r>
              <a:rPr lang="en-US" dirty="0"/>
              <a:t>Variables NOT assigned inside the function refer to variables outside of the function (bad practice)</a:t>
            </a:r>
          </a:p>
          <a:p>
            <a:r>
              <a:rPr lang="en-US" dirty="0"/>
              <a:t>Python</a:t>
            </a:r>
          </a:p>
          <a:p>
            <a:pPr marL="0" indent="0">
              <a:buNone/>
            </a:pPr>
            <a:endParaRPr lang="en-US" dirty="0"/>
          </a:p>
        </p:txBody>
      </p:sp>
      <p:sp>
        <p:nvSpPr>
          <p:cNvPr id="6" name="TextBox 5">
            <a:extLst>
              <a:ext uri="{FF2B5EF4-FFF2-40B4-BE49-F238E27FC236}">
                <a16:creationId xmlns:a16="http://schemas.microsoft.com/office/drawing/2014/main" id="{206A0AEF-0BE9-3C3C-DCD9-FD94BD6A8D5F}"/>
              </a:ext>
            </a:extLst>
          </p:cNvPr>
          <p:cNvSpPr txBox="1"/>
          <p:nvPr/>
        </p:nvSpPr>
        <p:spPr>
          <a:xfrm>
            <a:off x="844826" y="4971981"/>
            <a:ext cx="6096000" cy="1200329"/>
          </a:xfrm>
          <a:prstGeom prst="rect">
            <a:avLst/>
          </a:prstGeom>
          <a:noFill/>
        </p:spPr>
        <p:txBody>
          <a:bodyPr wrap="square">
            <a:spAutoFit/>
          </a:bodyPr>
          <a:lstStyle/>
          <a:p>
            <a:pPr marL="0" indent="0">
              <a:buNone/>
            </a:pPr>
            <a:r>
              <a:rPr lang="en-US" dirty="0"/>
              <a:t>def function_name(input_var1,input_var2):</a:t>
            </a:r>
          </a:p>
          <a:p>
            <a:pPr marL="0" indent="0">
              <a:buNone/>
            </a:pPr>
            <a:r>
              <a:rPr lang="en-US" dirty="0"/>
              <a:t>       body_block</a:t>
            </a:r>
          </a:p>
          <a:p>
            <a:pPr marL="0" indent="0">
              <a:buNone/>
            </a:pPr>
            <a:r>
              <a:rPr lang="en-US" dirty="0"/>
              <a:t>       return ret_value</a:t>
            </a:r>
          </a:p>
          <a:p>
            <a:pPr marL="0" indent="0">
              <a:buNone/>
            </a:pPr>
            <a:r>
              <a:rPr lang="en-US" dirty="0"/>
              <a:t>output_var = function_name(value1,value2)</a:t>
            </a:r>
          </a:p>
        </p:txBody>
      </p:sp>
      <p:sp>
        <p:nvSpPr>
          <p:cNvPr id="8" name="TextBox 7">
            <a:extLst>
              <a:ext uri="{FF2B5EF4-FFF2-40B4-BE49-F238E27FC236}">
                <a16:creationId xmlns:a16="http://schemas.microsoft.com/office/drawing/2014/main" id="{4680AAA1-B5D9-B0F1-48A5-B130016CD790}"/>
              </a:ext>
            </a:extLst>
          </p:cNvPr>
          <p:cNvSpPr txBox="1"/>
          <p:nvPr/>
        </p:nvSpPr>
        <p:spPr>
          <a:xfrm>
            <a:off x="7712766" y="4961145"/>
            <a:ext cx="6096000" cy="1200329"/>
          </a:xfrm>
          <a:prstGeom prst="rect">
            <a:avLst/>
          </a:prstGeom>
          <a:noFill/>
        </p:spPr>
        <p:txBody>
          <a:bodyPr wrap="square">
            <a:spAutoFit/>
          </a:bodyPr>
          <a:lstStyle/>
          <a:p>
            <a:pPr marL="0" indent="0">
              <a:buNone/>
            </a:pPr>
            <a:r>
              <a:rPr lang="en-US" dirty="0"/>
              <a:t>input_var1 = value1</a:t>
            </a:r>
          </a:p>
          <a:p>
            <a:pPr marL="0" indent="0">
              <a:buNone/>
            </a:pPr>
            <a:r>
              <a:rPr lang="en-US" dirty="0"/>
              <a:t>input_var2 = value2</a:t>
            </a:r>
          </a:p>
          <a:p>
            <a:pPr marL="0" indent="0">
              <a:buNone/>
            </a:pPr>
            <a:r>
              <a:rPr lang="en-US" dirty="0"/>
              <a:t>body_block</a:t>
            </a:r>
          </a:p>
          <a:p>
            <a:pPr marL="0" indent="0">
              <a:buNone/>
            </a:pPr>
            <a:r>
              <a:rPr lang="en-US" dirty="0"/>
              <a:t>output_var = ret_value </a:t>
            </a:r>
          </a:p>
        </p:txBody>
      </p:sp>
      <p:cxnSp>
        <p:nvCxnSpPr>
          <p:cNvPr id="9" name="Straight Arrow Connector 8">
            <a:extLst>
              <a:ext uri="{FF2B5EF4-FFF2-40B4-BE49-F238E27FC236}">
                <a16:creationId xmlns:a16="http://schemas.microsoft.com/office/drawing/2014/main" id="{F33C9BE2-A92D-0658-3B7C-616D2E4680D1}"/>
              </a:ext>
            </a:extLst>
          </p:cNvPr>
          <p:cNvCxnSpPr/>
          <p:nvPr/>
        </p:nvCxnSpPr>
        <p:spPr>
          <a:xfrm>
            <a:off x="940905" y="5440463"/>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CFA81054-88BE-E75A-3C8D-DF0ABDE1EC33}"/>
              </a:ext>
            </a:extLst>
          </p:cNvPr>
          <p:cNvCxnSpPr/>
          <p:nvPr/>
        </p:nvCxnSpPr>
        <p:spPr>
          <a:xfrm>
            <a:off x="940905" y="5712131"/>
            <a:ext cx="348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16728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3160-7C6C-87AD-7A31-4F3A2DC66640}"/>
              </a:ext>
            </a:extLst>
          </p:cNvPr>
          <p:cNvSpPr>
            <a:spLocks noGrp="1"/>
          </p:cNvSpPr>
          <p:nvPr>
            <p:ph type="title"/>
          </p:nvPr>
        </p:nvSpPr>
        <p:spPr/>
        <p:txBody>
          <a:bodyPr/>
          <a:lstStyle/>
          <a:p>
            <a:r>
              <a:rPr lang="en-US" dirty="0"/>
              <a:t>Classes &amp; Objects</a:t>
            </a:r>
          </a:p>
        </p:txBody>
      </p:sp>
      <p:sp>
        <p:nvSpPr>
          <p:cNvPr id="3" name="Content Placeholder 2">
            <a:extLst>
              <a:ext uri="{FF2B5EF4-FFF2-40B4-BE49-F238E27FC236}">
                <a16:creationId xmlns:a16="http://schemas.microsoft.com/office/drawing/2014/main" id="{8F783AD1-D95F-41F5-4CF3-AB438F7AB0D6}"/>
              </a:ext>
            </a:extLst>
          </p:cNvPr>
          <p:cNvSpPr>
            <a:spLocks noGrp="1"/>
          </p:cNvSpPr>
          <p:nvPr>
            <p:ph idx="1"/>
          </p:nvPr>
        </p:nvSpPr>
        <p:spPr>
          <a:xfrm>
            <a:off x="838200" y="1498171"/>
            <a:ext cx="10326130" cy="3926445"/>
          </a:xfrm>
        </p:spPr>
        <p:txBody>
          <a:bodyPr>
            <a:normAutofit lnSpcReduction="10000"/>
          </a:bodyPr>
          <a:lstStyle/>
          <a:p>
            <a:r>
              <a:rPr lang="en-US" dirty="0"/>
              <a:t>One of the most powerful tools you have to manage program complexity by compositing code and data into a single logical entity (an object)</a:t>
            </a:r>
          </a:p>
          <a:p>
            <a:r>
              <a:rPr lang="en-US" dirty="0"/>
              <a:t>Python creates objects from </a:t>
            </a:r>
            <a:r>
              <a:rPr lang="en-US" u="sng" dirty="0"/>
              <a:t>class definitions </a:t>
            </a:r>
          </a:p>
          <a:p>
            <a:r>
              <a:rPr lang="en-US" dirty="0"/>
              <a:t>Classes define an initialization function, which can modify the object “self” according to other passed variables</a:t>
            </a:r>
          </a:p>
          <a:p>
            <a:r>
              <a:rPr lang="en-US" dirty="0"/>
              <a:t>Classes can define other functions, which can use the data in “self”, including special functions that can even adjust the behavior of operators used between “self” and other objects, or with commands</a:t>
            </a:r>
          </a:p>
          <a:p>
            <a:pPr marL="0" indent="0">
              <a:buNone/>
            </a:pPr>
            <a:endParaRPr lang="en-US" dirty="0"/>
          </a:p>
        </p:txBody>
      </p:sp>
    </p:spTree>
    <p:extLst>
      <p:ext uri="{BB962C8B-B14F-4D97-AF65-F5344CB8AC3E}">
        <p14:creationId xmlns:p14="http://schemas.microsoft.com/office/powerpoint/2010/main" val="157167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E41A-A7CD-542B-6659-41FF5CB0BE9E}"/>
              </a:ext>
            </a:extLst>
          </p:cNvPr>
          <p:cNvSpPr>
            <a:spLocks noGrp="1"/>
          </p:cNvSpPr>
          <p:nvPr>
            <p:ph type="title"/>
          </p:nvPr>
        </p:nvSpPr>
        <p:spPr/>
        <p:txBody>
          <a:bodyPr/>
          <a:lstStyle/>
          <a:p>
            <a:r>
              <a:rPr lang="en-US" dirty="0"/>
              <a:t>Example Class</a:t>
            </a:r>
          </a:p>
        </p:txBody>
      </p:sp>
      <p:sp>
        <p:nvSpPr>
          <p:cNvPr id="6" name="Content Placeholder 5">
            <a:extLst>
              <a:ext uri="{FF2B5EF4-FFF2-40B4-BE49-F238E27FC236}">
                <a16:creationId xmlns:a16="http://schemas.microsoft.com/office/drawing/2014/main" id="{C02A9B14-8C9E-5554-DE01-20EE31ED7B46}"/>
              </a:ext>
            </a:extLst>
          </p:cNvPr>
          <p:cNvSpPr>
            <a:spLocks noGrp="1"/>
          </p:cNvSpPr>
          <p:nvPr>
            <p:ph idx="1"/>
          </p:nvPr>
        </p:nvSpPr>
        <p:spPr>
          <a:xfrm>
            <a:off x="581891" y="1475587"/>
            <a:ext cx="5929745" cy="5012853"/>
          </a:xfrm>
        </p:spPr>
        <p:txBody>
          <a:bodyPr>
            <a:normAutofit fontScale="85000" lnSpcReduction="20000"/>
          </a:bodyPr>
          <a:lstStyle/>
          <a:p>
            <a:r>
              <a:rPr lang="en-US" dirty="0"/>
              <a:t>This class represents a bucket that can be filled and poured</a:t>
            </a:r>
          </a:p>
          <a:p>
            <a:r>
              <a:rPr lang="en-US" dirty="0"/>
              <a:t>The class defined an object with two state variables, capacity, and current volume</a:t>
            </a:r>
          </a:p>
          <a:p>
            <a:r>
              <a:rPr lang="en-US" dirty="0"/>
              <a:t>It has “methods” to fill and pour, which return any overflow/underflow</a:t>
            </a:r>
          </a:p>
          <a:p>
            <a:r>
              <a:rPr lang="en-US" dirty="0"/>
              <a:t>You create objects by using the class name as a function</a:t>
            </a:r>
          </a:p>
          <a:p>
            <a:pPr lvl="1"/>
            <a:r>
              <a:rPr lang="en-US" dirty="0"/>
              <a:t>a = Bucket(30,15) # creates a bucket with a capacity of 30, filled to 15 units</a:t>
            </a:r>
          </a:p>
          <a:p>
            <a:r>
              <a:rPr lang="en-US" dirty="0"/>
              <a:t>You use object properties and methods via the variable name</a:t>
            </a:r>
          </a:p>
          <a:p>
            <a:pPr lvl="1"/>
            <a:r>
              <a:rPr lang="en-US" dirty="0" err="1"/>
              <a:t>a.pour</a:t>
            </a:r>
            <a:r>
              <a:rPr lang="en-US" dirty="0"/>
              <a:t>(7) # The bucket has 8 remaining</a:t>
            </a:r>
          </a:p>
          <a:p>
            <a:pPr lvl="1"/>
            <a:r>
              <a:rPr lang="en-US" dirty="0" err="1"/>
              <a:t>a.fill</a:t>
            </a:r>
            <a:r>
              <a:rPr lang="en-US" dirty="0"/>
              <a:t>(15) # The bucket now has 23 remaining</a:t>
            </a:r>
          </a:p>
          <a:p>
            <a:pPr lvl="1"/>
            <a:r>
              <a:rPr lang="en-US" dirty="0"/>
              <a:t>print(a) # This will show that it has a capacity of 30, 23 filled, and 7 to go</a:t>
            </a:r>
          </a:p>
        </p:txBody>
      </p:sp>
      <p:sp>
        <p:nvSpPr>
          <p:cNvPr id="5" name="TextBox 4">
            <a:extLst>
              <a:ext uri="{FF2B5EF4-FFF2-40B4-BE49-F238E27FC236}">
                <a16:creationId xmlns:a16="http://schemas.microsoft.com/office/drawing/2014/main" id="{A15C810F-50F6-EAB4-07D0-28892F526890}"/>
              </a:ext>
            </a:extLst>
          </p:cNvPr>
          <p:cNvSpPr txBox="1"/>
          <p:nvPr/>
        </p:nvSpPr>
        <p:spPr>
          <a:xfrm>
            <a:off x="7144996" y="210666"/>
            <a:ext cx="4079058" cy="6537174"/>
          </a:xfrm>
          <a:prstGeom prst="rect">
            <a:avLst/>
          </a:prstGeom>
          <a:solidFill>
            <a:schemeClr val="tx1"/>
          </a:solidFill>
        </p:spPr>
        <p:txBody>
          <a:bodyPr wrap="square">
            <a:spAutoFit/>
          </a:bodyPr>
          <a:lstStyle/>
          <a:p>
            <a:pPr>
              <a:lnSpc>
                <a:spcPts val="1425"/>
              </a:lnSpc>
            </a:pPr>
            <a:r>
              <a:rPr lang="en-US" sz="800" b="0" dirty="0">
                <a:solidFill>
                  <a:srgbClr val="569CD6"/>
                </a:solidFill>
                <a:effectLst/>
                <a:latin typeface="Consolas" panose="020B0609020204030204" pitchFamily="49" charset="0"/>
              </a:rPr>
              <a:t>class</a:t>
            </a:r>
            <a:r>
              <a:rPr lang="en-US" sz="800" b="0" dirty="0">
                <a:solidFill>
                  <a:srgbClr val="CCCCCC"/>
                </a:solidFill>
                <a:effectLst/>
                <a:latin typeface="Consolas" panose="020B0609020204030204" pitchFamily="49" charset="0"/>
              </a:rPr>
              <a:t> </a:t>
            </a:r>
            <a:r>
              <a:rPr lang="en-US" sz="800" b="0" dirty="0">
                <a:solidFill>
                  <a:srgbClr val="4EC9B0"/>
                </a:solidFill>
                <a:effectLst/>
                <a:latin typeface="Consolas" panose="020B0609020204030204" pitchFamily="49" charset="0"/>
              </a:rPr>
              <a:t>Bucket</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a:solidFill>
                  <a:srgbClr val="DCDCAA"/>
                </a:solidFill>
                <a:effectLst/>
                <a:latin typeface="Consolas" panose="020B0609020204030204" pitchFamily="49" charset="0"/>
              </a:rPr>
              <a:t>__</a:t>
            </a:r>
            <a:r>
              <a:rPr lang="en-US" sz="800" b="0" dirty="0" err="1">
                <a:solidFill>
                  <a:srgbClr val="DCDCAA"/>
                </a:solidFill>
                <a:effectLst/>
                <a:latin typeface="Consolas" panose="020B0609020204030204" pitchFamily="49" charset="0"/>
              </a:rPr>
              <a:t>init</a:t>
            </a:r>
            <a:r>
              <a:rPr lang="en-US" sz="800" b="0" dirty="0">
                <a:solidFill>
                  <a:srgbClr val="DCDCAA"/>
                </a:solidFill>
                <a:effectLst/>
                <a:latin typeface="Consolas" panose="020B0609020204030204" pitchFamily="49" charset="0"/>
              </a:rPr>
              <a:t>__</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full_capacity</a:t>
            </a:r>
            <a:r>
              <a:rPr lang="en-US" sz="800" b="0" dirty="0">
                <a:solidFill>
                  <a:srgbClr val="CCCCCC"/>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initial_volume</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full_capacity</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initial_volume</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a:solidFill>
                  <a:srgbClr val="DCDCAA"/>
                </a:solidFill>
                <a:effectLst/>
                <a:latin typeface="Consolas" panose="020B0609020204030204" pitchFamily="49" charset="0"/>
              </a:rPr>
              <a:t>__str__</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f</a:t>
            </a:r>
            <a:r>
              <a:rPr lang="en-US" sz="800" b="0" dirty="0" err="1">
                <a:solidFill>
                  <a:srgbClr val="CE9178"/>
                </a:solidFill>
                <a:effectLst/>
                <a:latin typeface="Consolas" panose="020B0609020204030204" pitchFamily="49" charset="0"/>
              </a:rPr>
              <a:t>"Capacity</a:t>
            </a:r>
            <a:r>
              <a:rPr lang="en-US" sz="800" b="0" dirty="0">
                <a:solidFill>
                  <a:srgbClr val="CE9178"/>
                </a:solidFill>
                <a:effectLst/>
                <a:latin typeface="Consolas" panose="020B0609020204030204" pitchFamily="49" charset="0"/>
              </a:rPr>
              <a:t>: </a:t>
            </a:r>
            <a:r>
              <a:rPr lang="en-US" sz="800" b="0" dirty="0">
                <a:solidFill>
                  <a:srgbClr val="569CD6"/>
                </a:solidFill>
                <a:effectLst/>
                <a:latin typeface="Consolas" panose="020B0609020204030204" pitchFamily="49" charset="0"/>
              </a:rPr>
              <a:t>{</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r>
              <a:rPr lang="en-US" sz="800" b="0" dirty="0">
                <a:solidFill>
                  <a:srgbClr val="569CD6"/>
                </a:solidFill>
                <a:effectLst/>
                <a:latin typeface="Consolas" panose="020B0609020204030204" pitchFamily="49" charset="0"/>
              </a:rPr>
              <a:t>}</a:t>
            </a:r>
            <a:r>
              <a:rPr lang="en-US" sz="800" b="0" dirty="0">
                <a:solidFill>
                  <a:srgbClr val="CE9178"/>
                </a:solidFill>
                <a:effectLst/>
                <a:latin typeface="Consolas" panose="020B0609020204030204" pitchFamily="49" charset="0"/>
              </a:rPr>
              <a:t>, "</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 \</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f</a:t>
            </a:r>
            <a:r>
              <a:rPr lang="en-US" sz="800" b="0" dirty="0" err="1">
                <a:solidFill>
                  <a:srgbClr val="CE9178"/>
                </a:solidFill>
                <a:effectLst/>
                <a:latin typeface="Consolas" panose="020B0609020204030204" pitchFamily="49" charset="0"/>
              </a:rPr>
              <a:t>"Current</a:t>
            </a:r>
            <a:r>
              <a:rPr lang="en-US" sz="800" b="0" dirty="0">
                <a:solidFill>
                  <a:srgbClr val="CE9178"/>
                </a:solidFill>
                <a:effectLst/>
                <a:latin typeface="Consolas" panose="020B0609020204030204" pitchFamily="49" charset="0"/>
              </a:rPr>
              <a:t>: </a:t>
            </a:r>
            <a:r>
              <a:rPr lang="en-US" sz="800" b="0" dirty="0">
                <a:solidFill>
                  <a:srgbClr val="569CD6"/>
                </a:solidFill>
                <a:effectLst/>
                <a:latin typeface="Consolas" panose="020B0609020204030204" pitchFamily="49" charset="0"/>
              </a:rPr>
              <a:t>{</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569CD6"/>
                </a:solidFill>
                <a:effectLst/>
                <a:latin typeface="Consolas" panose="020B0609020204030204" pitchFamily="49" charset="0"/>
              </a:rPr>
              <a:t>}</a:t>
            </a:r>
            <a:r>
              <a:rPr lang="en-US" sz="800" b="0" dirty="0">
                <a:solidFill>
                  <a:srgbClr val="CE9178"/>
                </a:solidFill>
                <a:effectLst/>
                <a:latin typeface="Consolas" panose="020B0609020204030204" pitchFamily="49" charset="0"/>
              </a:rPr>
              <a:t>, </a:t>
            </a:r>
            <a:r>
              <a:rPr lang="en-US" sz="800" b="0">
                <a:solidFill>
                  <a:srgbClr val="CE9178"/>
                </a:solidFill>
                <a:effectLst/>
                <a:latin typeface="Consolas" panose="020B0609020204030204" pitchFamily="49" charset="0"/>
              </a:rPr>
              <a:t>"</a:t>
            </a:r>
            <a:r>
              <a:rPr lang="en-US" sz="800" b="0">
                <a:solidFill>
                  <a:srgbClr val="D4D4D4"/>
                </a:solidFill>
                <a:effectLst/>
                <a:latin typeface="Consolas" panose="020B0609020204030204" pitchFamily="49" charset="0"/>
              </a:rPr>
              <a:t>+ \</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f</a:t>
            </a:r>
            <a:r>
              <a:rPr lang="en-US" sz="800" b="0" dirty="0" err="1">
                <a:solidFill>
                  <a:srgbClr val="CE9178"/>
                </a:solidFill>
                <a:effectLst/>
                <a:latin typeface="Consolas" panose="020B0609020204030204" pitchFamily="49" charset="0"/>
              </a:rPr>
              <a:t>"To</a:t>
            </a:r>
            <a:r>
              <a:rPr lang="en-US" sz="800" b="0" dirty="0">
                <a:solidFill>
                  <a:srgbClr val="CE9178"/>
                </a:solidFill>
                <a:effectLst/>
                <a:latin typeface="Consolas" panose="020B0609020204030204" pitchFamily="49" charset="0"/>
              </a:rPr>
              <a:t> Full: </a:t>
            </a:r>
            <a:r>
              <a:rPr lang="en-US" sz="800" b="0" dirty="0">
                <a:solidFill>
                  <a:srgbClr val="569CD6"/>
                </a:solidFill>
                <a:effectLst/>
                <a:latin typeface="Consolas" panose="020B0609020204030204" pitchFamily="49" charset="0"/>
              </a:rPr>
              <a:t>{</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.capacity_left</a:t>
            </a:r>
            <a:r>
              <a:rPr lang="en-US" sz="800" b="0" dirty="0">
                <a:solidFill>
                  <a:srgbClr val="CCCCCC"/>
                </a:solidFill>
                <a:effectLst/>
                <a:latin typeface="Consolas" panose="020B0609020204030204" pitchFamily="49" charset="0"/>
              </a:rPr>
              <a:t>()</a:t>
            </a:r>
            <a:r>
              <a:rPr lang="en-US" sz="800" b="0" dirty="0">
                <a:solidFill>
                  <a:srgbClr val="569CD6"/>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a:solidFill>
                  <a:srgbClr val="DCDCAA"/>
                </a:solidFill>
                <a:effectLst/>
                <a:latin typeface="Consolas" panose="020B0609020204030204" pitchFamily="49" charset="0"/>
              </a:rPr>
              <a:t>__</a:t>
            </a:r>
            <a:r>
              <a:rPr lang="en-US" sz="800" b="0" dirty="0" err="1">
                <a:solidFill>
                  <a:srgbClr val="DCDCAA"/>
                </a:solidFill>
                <a:effectLst/>
                <a:latin typeface="Consolas" panose="020B0609020204030204" pitchFamily="49" charset="0"/>
              </a:rPr>
              <a:t>repr</a:t>
            </a:r>
            <a:r>
              <a:rPr lang="en-US" sz="800" b="0" dirty="0">
                <a:solidFill>
                  <a:srgbClr val="DCDCAA"/>
                </a:solidFill>
                <a:effectLst/>
                <a:latin typeface="Consolas" panose="020B0609020204030204" pitchFamily="49" charset="0"/>
              </a:rPr>
              <a:t>__</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f</a:t>
            </a:r>
            <a:r>
              <a:rPr lang="en-US" sz="800" b="0" dirty="0" err="1">
                <a:solidFill>
                  <a:srgbClr val="CE9178"/>
                </a:solidFill>
                <a:effectLst/>
                <a:latin typeface="Consolas" panose="020B0609020204030204" pitchFamily="49" charset="0"/>
              </a:rPr>
              <a:t>"Bucket</a:t>
            </a:r>
            <a:r>
              <a:rPr lang="en-US" sz="800" b="0" dirty="0">
                <a:solidFill>
                  <a:srgbClr val="CE9178"/>
                </a:solidFill>
                <a:effectLst/>
                <a:latin typeface="Consolas" panose="020B0609020204030204" pitchFamily="49" charset="0"/>
              </a:rPr>
              <a:t>(</a:t>
            </a:r>
            <a:r>
              <a:rPr lang="en-US" sz="800" b="0" dirty="0">
                <a:solidFill>
                  <a:srgbClr val="569CD6"/>
                </a:solidFill>
                <a:effectLst/>
                <a:latin typeface="Consolas" panose="020B0609020204030204" pitchFamily="49" charset="0"/>
              </a:rPr>
              <a:t>{</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r>
              <a:rPr lang="en-US" sz="800" b="0" dirty="0">
                <a:solidFill>
                  <a:srgbClr val="569CD6"/>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569CD6"/>
                </a:solidFill>
                <a:effectLst/>
                <a:latin typeface="Consolas" panose="020B0609020204030204" pitchFamily="49" charset="0"/>
              </a:rPr>
              <a:t>{</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569CD6"/>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capacity_left</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a:solidFill>
                  <a:srgbClr val="DCDCAA"/>
                </a:solidFill>
                <a:effectLst/>
                <a:latin typeface="Consolas" panose="020B0609020204030204" pitchFamily="49" charset="0"/>
              </a:rPr>
              <a:t>fill</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 </a:t>
            </a:r>
            <a:r>
              <a:rPr lang="en-US" sz="800" b="0" dirty="0">
                <a:solidFill>
                  <a:srgbClr val="9CDCFE"/>
                </a:solidFill>
                <a:effectLst/>
                <a:latin typeface="Consolas" panose="020B0609020204030204" pitchFamily="49" charset="0"/>
              </a:rPr>
              <a:t>amount</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CCCCCC"/>
                </a:solidFill>
                <a:effectLst/>
                <a:latin typeface="Consolas" panose="020B0609020204030204" pitchFamily="49" charset="0"/>
              </a:rPr>
              <a:t> amount </a:t>
            </a:r>
            <a:r>
              <a:rPr lang="en-US" sz="800" b="0" dirty="0">
                <a:solidFill>
                  <a:srgbClr val="D4D4D4"/>
                </a:solidFill>
                <a:effectLst/>
                <a:latin typeface="Consolas" panose="020B0609020204030204" pitchFamily="49" charset="0"/>
              </a:rPr>
              <a:t>&lt;</a:t>
            </a:r>
            <a:r>
              <a:rPr lang="en-US" sz="800" b="0" dirty="0">
                <a:solidFill>
                  <a:srgbClr val="CCCCCC"/>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raise</a:t>
            </a:r>
            <a:r>
              <a:rPr lang="en-US" sz="800" b="0" dirty="0">
                <a:solidFill>
                  <a:srgbClr val="CCCCCC"/>
                </a:solidFill>
                <a:effectLst/>
                <a:latin typeface="Consolas" panose="020B0609020204030204" pitchFamily="49" charset="0"/>
              </a:rPr>
              <a:t> </a:t>
            </a:r>
            <a:r>
              <a:rPr lang="en-US" sz="800" b="0" dirty="0">
                <a:solidFill>
                  <a:srgbClr val="4EC9B0"/>
                </a:solidFill>
                <a:effectLst/>
                <a:latin typeface="Consolas" panose="020B0609020204030204" pitchFamily="49" charset="0"/>
              </a:rPr>
              <a:t>Exception</a:t>
            </a:r>
            <a:r>
              <a:rPr lang="en-US" sz="800" b="0" dirty="0">
                <a:solidFill>
                  <a:srgbClr val="CCCCCC"/>
                </a:solidFill>
                <a:effectLst/>
                <a:latin typeface="Consolas" panose="020B0609020204030204" pitchFamily="49" charset="0"/>
              </a:rPr>
              <a:t>(</a:t>
            </a:r>
            <a:r>
              <a:rPr lang="en-US" sz="800" b="0" dirty="0">
                <a:solidFill>
                  <a:srgbClr val="CE9178"/>
                </a:solidFill>
                <a:effectLst/>
                <a:latin typeface="Consolas" panose="020B0609020204030204" pitchFamily="49" charset="0"/>
              </a:rPr>
              <a:t>"amount must be non-negative"</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new_volume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amount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new_volume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&gt;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r>
              <a:rPr lang="en-US" sz="800" b="0" dirty="0">
                <a:solidFill>
                  <a:srgbClr val="CCCCCC"/>
                </a:solidFill>
                <a:effectLst/>
                <a:latin typeface="Consolas" panose="020B0609020204030204" pitchFamily="49" charset="0"/>
              </a:rPr>
              <a:t>: </a:t>
            </a:r>
            <a:r>
              <a:rPr lang="en-US" sz="800" b="0" dirty="0">
                <a:solidFill>
                  <a:srgbClr val="6A9955"/>
                </a:solidFill>
                <a:effectLst/>
                <a:latin typeface="Consolas" panose="020B0609020204030204" pitchFamily="49" charset="0"/>
              </a:rPr>
              <a:t># overflow </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new_volume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.capacity</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new_volume</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CCCCCC"/>
                </a:solidFill>
                <a:effectLst/>
                <a:latin typeface="Consolas" panose="020B0609020204030204" pitchFamily="49" charset="0"/>
              </a:rPr>
              <a:t> </a:t>
            </a:r>
            <a:r>
              <a:rPr lang="en-US" sz="800" b="0" dirty="0">
                <a:solidFill>
                  <a:srgbClr val="6A9955"/>
                </a:solidFill>
                <a:effectLst/>
                <a:latin typeface="Consolas" panose="020B0609020204030204" pitchFamily="49" charset="0"/>
              </a:rPr>
              <a:t># used all of it</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569CD6"/>
                </a:solidFill>
                <a:effectLst/>
                <a:latin typeface="Consolas" panose="020B0609020204030204" pitchFamily="49" charset="0"/>
              </a:rPr>
              <a:t>def</a:t>
            </a:r>
            <a:r>
              <a:rPr lang="en-US" sz="800" b="0" dirty="0">
                <a:solidFill>
                  <a:srgbClr val="CCCCCC"/>
                </a:solidFill>
                <a:effectLst/>
                <a:latin typeface="Consolas" panose="020B0609020204030204" pitchFamily="49" charset="0"/>
              </a:rPr>
              <a:t> </a:t>
            </a:r>
            <a:r>
              <a:rPr lang="en-US" sz="800" b="0" dirty="0">
                <a:solidFill>
                  <a:srgbClr val="DCDCAA"/>
                </a:solidFill>
                <a:effectLst/>
                <a:latin typeface="Consolas" panose="020B0609020204030204" pitchFamily="49" charset="0"/>
              </a:rPr>
              <a:t>pour</a:t>
            </a:r>
            <a:r>
              <a:rPr lang="en-US" sz="800" b="0" dirty="0">
                <a:solidFill>
                  <a:srgbClr val="CCCCCC"/>
                </a:solidFill>
                <a:effectLst/>
                <a:latin typeface="Consolas" panose="020B0609020204030204" pitchFamily="49" charset="0"/>
              </a:rPr>
              <a:t>(</a:t>
            </a:r>
            <a:r>
              <a:rPr lang="en-US" sz="800" b="0" dirty="0">
                <a:solidFill>
                  <a:srgbClr val="9CDCFE"/>
                </a:solidFill>
                <a:effectLst/>
                <a:latin typeface="Consolas" panose="020B0609020204030204" pitchFamily="49" charset="0"/>
              </a:rPr>
              <a:t>self</a:t>
            </a:r>
            <a:r>
              <a:rPr lang="en-US" sz="800" b="0" dirty="0">
                <a:solidFill>
                  <a:srgbClr val="CCCCCC"/>
                </a:solidFill>
                <a:effectLst/>
                <a:latin typeface="Consolas" panose="020B0609020204030204" pitchFamily="49" charset="0"/>
              </a:rPr>
              <a:t>, </a:t>
            </a:r>
            <a:r>
              <a:rPr lang="en-US" sz="800" b="0" dirty="0">
                <a:solidFill>
                  <a:srgbClr val="9CDCFE"/>
                </a:solidFill>
                <a:effectLst/>
                <a:latin typeface="Consolas" panose="020B0609020204030204" pitchFamily="49" charset="0"/>
              </a:rPr>
              <a:t>amount</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CCCCCC"/>
                </a:solidFill>
                <a:effectLst/>
                <a:latin typeface="Consolas" panose="020B0609020204030204" pitchFamily="49" charset="0"/>
              </a:rPr>
              <a:t> amount </a:t>
            </a:r>
            <a:r>
              <a:rPr lang="en-US" sz="800" b="0" dirty="0">
                <a:solidFill>
                  <a:srgbClr val="D4D4D4"/>
                </a:solidFill>
                <a:effectLst/>
                <a:latin typeface="Consolas" panose="020B0609020204030204" pitchFamily="49" charset="0"/>
              </a:rPr>
              <a:t>&lt;</a:t>
            </a:r>
            <a:r>
              <a:rPr lang="en-US" sz="800" b="0" dirty="0">
                <a:solidFill>
                  <a:srgbClr val="CCCCCC"/>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raise</a:t>
            </a:r>
            <a:r>
              <a:rPr lang="en-US" sz="800" b="0" dirty="0">
                <a:solidFill>
                  <a:srgbClr val="CCCCCC"/>
                </a:solidFill>
                <a:effectLst/>
                <a:latin typeface="Consolas" panose="020B0609020204030204" pitchFamily="49" charset="0"/>
              </a:rPr>
              <a:t> </a:t>
            </a:r>
            <a:r>
              <a:rPr lang="en-US" sz="800" b="0" dirty="0">
                <a:solidFill>
                  <a:srgbClr val="4EC9B0"/>
                </a:solidFill>
                <a:effectLst/>
                <a:latin typeface="Consolas" panose="020B0609020204030204" pitchFamily="49" charset="0"/>
              </a:rPr>
              <a:t>Exception</a:t>
            </a:r>
            <a:r>
              <a:rPr lang="en-US" sz="800" b="0" dirty="0">
                <a:solidFill>
                  <a:srgbClr val="CCCCCC"/>
                </a:solidFill>
                <a:effectLst/>
                <a:latin typeface="Consolas" panose="020B0609020204030204" pitchFamily="49" charset="0"/>
              </a:rPr>
              <a:t>(</a:t>
            </a:r>
            <a:r>
              <a:rPr lang="en-US" sz="800" b="0" dirty="0">
                <a:solidFill>
                  <a:srgbClr val="CE9178"/>
                </a:solidFill>
                <a:effectLst/>
                <a:latin typeface="Consolas" panose="020B0609020204030204" pitchFamily="49" charset="0"/>
              </a:rPr>
              <a:t>"amount must be non-negative"</a:t>
            </a:r>
            <a:r>
              <a:rPr lang="en-US" sz="800" b="0" dirty="0">
                <a:solidFill>
                  <a:srgbClr val="CCCCCC"/>
                </a:solidFill>
                <a:effectLst/>
                <a:latin typeface="Consolas" panose="020B0609020204030204" pitchFamily="49" charset="0"/>
              </a:rPr>
              <a: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&gt;=</a:t>
            </a:r>
            <a:r>
              <a:rPr lang="en-US" sz="800" b="0" dirty="0">
                <a:solidFill>
                  <a:srgbClr val="CCCCCC"/>
                </a:solidFill>
                <a:effectLst/>
                <a:latin typeface="Consolas" panose="020B0609020204030204" pitchFamily="49" charset="0"/>
              </a:rPr>
              <a:t> amount: </a:t>
            </a:r>
            <a:r>
              <a:rPr lang="en-US" sz="800" b="0" dirty="0">
                <a:solidFill>
                  <a:srgbClr val="6A9955"/>
                </a:solidFill>
                <a:effectLst/>
                <a:latin typeface="Consolas" panose="020B0609020204030204" pitchFamily="49" charset="0"/>
              </a:rPr>
              <a:t># enough available</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amount</a:t>
            </a: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CCCCCC"/>
                </a:solidFill>
                <a:effectLst/>
                <a:latin typeface="Consolas" panose="020B0609020204030204" pitchFamily="49" charset="0"/>
              </a:rPr>
              <a:t>: </a:t>
            </a:r>
            <a:r>
              <a:rPr lang="en-US" sz="800" b="0" dirty="0">
                <a:solidFill>
                  <a:srgbClr val="6A9955"/>
                </a:solidFill>
                <a:effectLst/>
                <a:latin typeface="Consolas" panose="020B0609020204030204" pitchFamily="49" charset="0"/>
              </a:rPr>
              <a:t># we are trying to pour too much</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to_return</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amount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self</a:t>
            </a:r>
            <a:r>
              <a:rPr lang="en-US" sz="800" b="0" dirty="0" err="1">
                <a:solidFill>
                  <a:srgbClr val="CCCCCC"/>
                </a:solidFill>
                <a:effectLst/>
                <a:latin typeface="Consolas" panose="020B0609020204030204" pitchFamily="49" charset="0"/>
              </a:rPr>
              <a:t>.current_volume</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CCCCCC"/>
                </a:solidFill>
                <a:effectLst/>
                <a:latin typeface="Consolas" panose="020B0609020204030204" pitchFamily="49" charset="0"/>
              </a:rPr>
              <a:t> </a:t>
            </a:r>
            <a:r>
              <a:rPr lang="en-US" sz="800" b="0" dirty="0" err="1">
                <a:solidFill>
                  <a:srgbClr val="CCCCCC"/>
                </a:solidFill>
                <a:effectLst/>
                <a:latin typeface="Consolas" panose="020B0609020204030204" pitchFamily="49" charset="0"/>
              </a:rPr>
              <a:t>to_return</a:t>
            </a:r>
            <a:endParaRPr lang="en-US" sz="800" b="0" dirty="0">
              <a:solidFill>
                <a:srgbClr val="CCCCCC"/>
              </a:solidFill>
              <a:effectLst/>
              <a:latin typeface="Consolas" panose="020B0609020204030204" pitchFamily="49" charset="0"/>
            </a:endParaRPr>
          </a:p>
          <a:p>
            <a:pPr>
              <a:lnSpc>
                <a:spcPts val="1425"/>
              </a:lnSpc>
            </a:pPr>
            <a:r>
              <a:rPr lang="en-US" sz="800" b="0" dirty="0">
                <a:solidFill>
                  <a:srgbClr val="CCCCCC"/>
                </a:solidFill>
                <a:effectLst/>
                <a:latin typeface="Consolas" panose="020B0609020204030204" pitchFamily="49" charset="0"/>
              </a:rPr>
              <a:t>            </a:t>
            </a:r>
          </a:p>
          <a:p>
            <a:pPr>
              <a:lnSpc>
                <a:spcPts val="1425"/>
              </a:lnSpc>
            </a:pPr>
            <a:br>
              <a:rPr lang="en-US" sz="800" b="0" dirty="0">
                <a:solidFill>
                  <a:srgbClr val="CCCCCC"/>
                </a:solidFill>
                <a:effectLst/>
                <a:latin typeface="Consolas" panose="020B0609020204030204" pitchFamily="49" charset="0"/>
              </a:rPr>
            </a:br>
            <a:br>
              <a:rPr lang="en-US" sz="800" b="0" dirty="0">
                <a:solidFill>
                  <a:srgbClr val="CCCCCC"/>
                </a:solidFill>
                <a:effectLst/>
                <a:latin typeface="Consolas" panose="020B0609020204030204" pitchFamily="49" charset="0"/>
              </a:rPr>
            </a:br>
            <a:r>
              <a:rPr lang="en-US" sz="800" b="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4014874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FC77-AC14-C07D-A469-826F82808FFD}"/>
              </a:ext>
            </a:extLst>
          </p:cNvPr>
          <p:cNvSpPr>
            <a:spLocks noGrp="1"/>
          </p:cNvSpPr>
          <p:nvPr>
            <p:ph type="title"/>
          </p:nvPr>
        </p:nvSpPr>
        <p:spPr/>
        <p:txBody>
          <a:bodyPr/>
          <a:lstStyle/>
          <a:p>
            <a:r>
              <a:rPr lang="en-US" dirty="0"/>
              <a:t>Real Programs</a:t>
            </a:r>
          </a:p>
        </p:txBody>
      </p:sp>
      <p:sp>
        <p:nvSpPr>
          <p:cNvPr id="3" name="Content Placeholder 2">
            <a:extLst>
              <a:ext uri="{FF2B5EF4-FFF2-40B4-BE49-F238E27FC236}">
                <a16:creationId xmlns:a16="http://schemas.microsoft.com/office/drawing/2014/main" id="{3ABE0172-5937-1394-8BE8-009B77F6042B}"/>
              </a:ext>
            </a:extLst>
          </p:cNvPr>
          <p:cNvSpPr>
            <a:spLocks noGrp="1"/>
          </p:cNvSpPr>
          <p:nvPr>
            <p:ph idx="1"/>
          </p:nvPr>
        </p:nvSpPr>
        <p:spPr/>
        <p:txBody>
          <a:bodyPr/>
          <a:lstStyle/>
          <a:p>
            <a:r>
              <a:rPr lang="en-US" dirty="0"/>
              <a:t>Process </a:t>
            </a:r>
            <a:r>
              <a:rPr lang="en-US" b="1" dirty="0"/>
              <a:t>real world</a:t>
            </a:r>
            <a:r>
              <a:rPr lang="en-US" dirty="0"/>
              <a:t> input (almost always)</a:t>
            </a:r>
          </a:p>
          <a:p>
            <a:pPr lvl="1"/>
            <a:r>
              <a:rPr lang="en-US" dirty="0"/>
              <a:t>Sensors (input devices)</a:t>
            </a:r>
          </a:p>
          <a:p>
            <a:pPr lvl="1"/>
            <a:r>
              <a:rPr lang="en-US" dirty="0"/>
              <a:t>Files (larger than could be hand-entered)</a:t>
            </a:r>
          </a:p>
          <a:p>
            <a:pPr lvl="1"/>
            <a:r>
              <a:rPr lang="en-US" dirty="0"/>
              <a:t>Networking</a:t>
            </a:r>
          </a:p>
          <a:p>
            <a:r>
              <a:rPr lang="en-US" dirty="0"/>
              <a:t>Produce </a:t>
            </a:r>
            <a:r>
              <a:rPr lang="en-US" b="1" dirty="0"/>
              <a:t>useful</a:t>
            </a:r>
            <a:r>
              <a:rPr lang="en-US" dirty="0"/>
              <a:t> visualizations / outputs</a:t>
            </a:r>
          </a:p>
          <a:p>
            <a:pPr lvl="1"/>
            <a:r>
              <a:rPr lang="en-US" dirty="0"/>
              <a:t>To an output device</a:t>
            </a:r>
          </a:p>
          <a:p>
            <a:pPr lvl="1"/>
            <a:r>
              <a:rPr lang="en-US" dirty="0"/>
              <a:t>To files</a:t>
            </a:r>
          </a:p>
          <a:p>
            <a:pPr lvl="1"/>
            <a:r>
              <a:rPr lang="en-US" dirty="0"/>
              <a:t>To the network</a:t>
            </a:r>
          </a:p>
          <a:p>
            <a:r>
              <a:rPr lang="en-US" dirty="0"/>
              <a:t>Almost always use </a:t>
            </a:r>
            <a:r>
              <a:rPr lang="en-US" b="1" dirty="0"/>
              <a:t>libraries</a:t>
            </a:r>
            <a:r>
              <a:rPr lang="en-US" dirty="0"/>
              <a:t> of existing functions/classes to accomplish tasks</a:t>
            </a:r>
          </a:p>
        </p:txBody>
      </p:sp>
    </p:spTree>
    <p:extLst>
      <p:ext uri="{BB962C8B-B14F-4D97-AF65-F5344CB8AC3E}">
        <p14:creationId xmlns:p14="http://schemas.microsoft.com/office/powerpoint/2010/main" val="3327878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1699</TotalTime>
  <Words>1603</Words>
  <Application>Microsoft Office PowerPoint</Application>
  <PresentationFormat>Widescreen</PresentationFormat>
  <Paragraphs>187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Consolas</vt:lpstr>
      <vt:lpstr>Office Theme</vt:lpstr>
      <vt:lpstr>Programming</vt:lpstr>
      <vt:lpstr>High Level Overview</vt:lpstr>
      <vt:lpstr>“python” installation</vt:lpstr>
      <vt:lpstr>Let’s solve a simple problem</vt:lpstr>
      <vt:lpstr>Let’s share this through GitHub</vt:lpstr>
      <vt:lpstr>Let’s do it again!</vt:lpstr>
      <vt:lpstr>And commit/push again</vt:lpstr>
      <vt:lpstr>Python Basics (Storage)</vt:lpstr>
      <vt:lpstr>Conditional Statements</vt:lpstr>
      <vt:lpstr>Iterative Statements (while)</vt:lpstr>
      <vt:lpstr>Iterative Statements (for)</vt:lpstr>
      <vt:lpstr>Functions</vt:lpstr>
      <vt:lpstr>Classes &amp; Objects</vt:lpstr>
      <vt:lpstr>Example Class</vt:lpstr>
      <vt:lpstr>Real Programs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and Python</dc:title>
  <dc:creator>Kyle J Johnsen</dc:creator>
  <cp:lastModifiedBy>Kyle J Johnsen</cp:lastModifiedBy>
  <cp:revision>3</cp:revision>
  <dcterms:created xsi:type="dcterms:W3CDTF">2023-01-10T15:30:40Z</dcterms:created>
  <dcterms:modified xsi:type="dcterms:W3CDTF">2026-01-21T13:32:39Z</dcterms:modified>
</cp:coreProperties>
</file>