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203C91-CED9-4DC3-9020-B70BE10AB664}" v="13" dt="2026-01-28T01:04:57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J Johnsen" userId="dd73adbd-5351-478d-821b-56868881e8c0" providerId="ADAL" clId="{FD55B928-8FF4-41B3-8EDD-B28A23CAEE1F}"/>
    <pc:docChg chg="undo custSel delSld modSld">
      <pc:chgData name="Kyle J Johnsen" userId="dd73adbd-5351-478d-821b-56868881e8c0" providerId="ADAL" clId="{FD55B928-8FF4-41B3-8EDD-B28A23CAEE1F}" dt="2026-01-28T01:23:02.890" v="129" actId="47"/>
      <pc:docMkLst>
        <pc:docMk/>
      </pc:docMkLst>
      <pc:sldChg chg="modSp mod">
        <pc:chgData name="Kyle J Johnsen" userId="dd73adbd-5351-478d-821b-56868881e8c0" providerId="ADAL" clId="{FD55B928-8FF4-41B3-8EDD-B28A23CAEE1F}" dt="2026-01-28T00:54:59.725" v="54" actId="1076"/>
        <pc:sldMkLst>
          <pc:docMk/>
          <pc:sldMk cId="2430260694" sldId="260"/>
        </pc:sldMkLst>
        <pc:spChg chg="mod">
          <ac:chgData name="Kyle J Johnsen" userId="dd73adbd-5351-478d-821b-56868881e8c0" providerId="ADAL" clId="{FD55B928-8FF4-41B3-8EDD-B28A23CAEE1F}" dt="2026-01-28T00:54:59.725" v="54" actId="1076"/>
          <ac:spMkLst>
            <pc:docMk/>
            <pc:sldMk cId="2430260694" sldId="260"/>
            <ac:spMk id="4" creationId="{51155779-6080-3B0D-F3FA-330181906D10}"/>
          </ac:spMkLst>
        </pc:spChg>
      </pc:sldChg>
      <pc:sldChg chg="modSp mod">
        <pc:chgData name="Kyle J Johnsen" userId="dd73adbd-5351-478d-821b-56868881e8c0" providerId="ADAL" clId="{FD55B928-8FF4-41B3-8EDD-B28A23CAEE1F}" dt="2026-01-28T00:46:34.441" v="2" actId="14100"/>
        <pc:sldMkLst>
          <pc:docMk/>
          <pc:sldMk cId="3365078814" sldId="261"/>
        </pc:sldMkLst>
        <pc:spChg chg="mod">
          <ac:chgData name="Kyle J Johnsen" userId="dd73adbd-5351-478d-821b-56868881e8c0" providerId="ADAL" clId="{FD55B928-8FF4-41B3-8EDD-B28A23CAEE1F}" dt="2026-01-28T00:46:34.441" v="2" actId="14100"/>
          <ac:spMkLst>
            <pc:docMk/>
            <pc:sldMk cId="3365078814" sldId="261"/>
            <ac:spMk id="3" creationId="{1FF86EFE-9A30-5840-2D20-C64C8F8B452D}"/>
          </ac:spMkLst>
        </pc:spChg>
      </pc:sldChg>
      <pc:sldChg chg="addSp modSp mod">
        <pc:chgData name="Kyle J Johnsen" userId="dd73adbd-5351-478d-821b-56868881e8c0" providerId="ADAL" clId="{FD55B928-8FF4-41B3-8EDD-B28A23CAEE1F}" dt="2026-01-28T01:05:02.897" v="128" actId="1076"/>
        <pc:sldMkLst>
          <pc:docMk/>
          <pc:sldMk cId="677090431" sldId="266"/>
        </pc:sldMkLst>
        <pc:spChg chg="add mod">
          <ac:chgData name="Kyle J Johnsen" userId="dd73adbd-5351-478d-821b-56868881e8c0" providerId="ADAL" clId="{FD55B928-8FF4-41B3-8EDD-B28A23CAEE1F}" dt="2026-01-28T01:01:44.829" v="122" actId="1076"/>
          <ac:spMkLst>
            <pc:docMk/>
            <pc:sldMk cId="677090431" sldId="266"/>
            <ac:spMk id="3" creationId="{B45DDB36-EF75-45D8-6353-4DCC37461145}"/>
          </ac:spMkLst>
        </pc:spChg>
        <pc:spChg chg="mod">
          <ac:chgData name="Kyle J Johnsen" userId="dd73adbd-5351-478d-821b-56868881e8c0" providerId="ADAL" clId="{FD55B928-8FF4-41B3-8EDD-B28A23CAEE1F}" dt="2026-01-28T01:05:02.897" v="128" actId="1076"/>
          <ac:spMkLst>
            <pc:docMk/>
            <pc:sldMk cId="677090431" sldId="266"/>
            <ac:spMk id="6" creationId="{1EDE83DA-E671-70AD-BAD0-8A488B855F50}"/>
          </ac:spMkLst>
        </pc:spChg>
      </pc:sldChg>
      <pc:sldChg chg="del">
        <pc:chgData name="Kyle J Johnsen" userId="dd73adbd-5351-478d-821b-56868881e8c0" providerId="ADAL" clId="{FD55B928-8FF4-41B3-8EDD-B28A23CAEE1F}" dt="2026-01-28T01:23:02.890" v="129" actId="47"/>
        <pc:sldMkLst>
          <pc:docMk/>
          <pc:sldMk cId="937482060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1762-2FBF-E794-0CDB-5F3A282C99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0B03D-C1AC-7524-5A4C-4C47C361D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AD6F-CD26-18D6-A490-9F9CCE25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41ED2-4738-A4EF-1D30-64700C13B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EE2B0-C2E0-409E-4F24-97AB4324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91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9F1C-F1E1-EEF7-B186-1C6F0E9E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27912F-07F5-83EB-06A1-A45FFD4FD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3D752-A0DE-7675-ADC2-1CAD11926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AECDC-0DE7-FF3A-2A92-43256D574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0D968-8F9B-F498-8619-DE407A860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98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8016-79C6-83F9-A4AC-7DAC7014D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3BEBB-EF3C-AA02-B22E-A7D66E7E8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6076D-C52E-B438-B074-03163E5B5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61149-6A11-0544-FF57-0BCB15D7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4BD74-9972-3D0F-3B05-87A2B032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52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BC51E-64C4-3AD9-7BD6-94F47ECC4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E439D-D514-6D65-377E-0807D47436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A2E4E-0D8D-0534-210B-8B05B14FB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D8297-4D28-5F85-5D66-BE70DB98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3CC0F-5379-9AD1-1335-807FA643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0151D-4CA1-C3DB-4913-87D9B3F65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01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46D6-C136-7764-DB63-348FB745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DB12AF-F3C5-B7A5-780F-68E76F4A9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511332-C48D-5301-D0B3-4C386BE8A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CAB24-59CD-5EF1-3034-66E16A610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B34AB-7DEF-967B-B7E5-7E1E4228EB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A57C3A-EB98-D159-1797-0D46BD18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A5C27-5238-34C1-9B6A-47F4E08FC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156C7-DBBE-13B2-AB99-712800B49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09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FC634-8513-D243-BB8F-D47CA2F92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6F8644-84E5-C480-C2D8-BBBEEE256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A458-B6A3-3937-C089-FF7F014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BE9470-E63D-AD9C-E892-88A4AED96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659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77CB53-8E12-EE54-D436-37450100F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F8115-F288-121B-FDE5-AC6A874C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0CCAC-12BC-76E6-9ADF-57FD93E20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2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9060-9228-9B5C-15D7-C018B24E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E616E-64B6-8EB4-9D26-0E6F7105B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2A6B5-E4E4-C26B-BBD7-84CECB550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E4445-99C6-1EA0-5D1E-7F3BA3E2C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8ADB1-8966-016A-4DFF-C81E4267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3311A-9F5E-8FFC-4A9D-88091CEE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73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249A7-7807-4CB8-B637-754BCA636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06BF52-A635-9022-04B3-07B306911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2B837-5CD1-810D-CC81-AA8B05D89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EE16F-D054-C575-7B27-4F7710264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F0D15-B80A-5C56-B079-840437772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E2279-0063-DAAB-46D8-5999050D1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649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F165-777B-7F14-A0F2-7C1C3EC7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9553A8-432A-7E43-B525-71E9118DE3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66AC9-08B7-7E69-3763-9406B64FD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BE28-1CEE-E380-E2FE-F07B8AA7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8E2C6D-9B14-DE2D-F538-81FFB80F7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193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8465E-A648-DE2C-8E4B-F4E5F62B00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ABC138-7228-6CE4-0712-724D1F3EB3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4C4AE-1A3B-8BC4-5DC5-E9FBD3DF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44771-94E8-A865-D1FE-97FDDA592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E8935-C6C1-0E5E-C005-012767A9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3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BE7E9-D6AB-EEAC-90AA-3497FD0A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CB1A3-4442-3165-F341-53972E519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4764B-8707-7F85-92BE-FC78EF69EF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60CFFA-943E-49B1-B10B-86403A7723AB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2F295-E480-91B0-FB8C-D4DA3313D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44BC4-A676-161F-A72E-0D56AC4D8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6EBFF-4850-431C-8E1A-59BC970EC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hyperlink" Target="https://docs.m5stack.com/en/arduino/arduino_ide" TargetMode="External"/><Relationship Id="rId7" Type="http://schemas.openxmlformats.org/officeDocument/2006/relationships/image" Target="../media/image8.png"/><Relationship Id="rId2" Type="http://schemas.openxmlformats.org/officeDocument/2006/relationships/hyperlink" Target="https://www.arduino.cc/en/softwar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hyperlink" Target="https://docs.m5stack.com/en/arduino/m5stickc_plus2/program" TargetMode="External"/><Relationship Id="rId4" Type="http://schemas.openxmlformats.org/officeDocument/2006/relationships/hyperlink" Target="https://docs.m5stack.com/en/arduino/m5stickc_plus/program" TargetMode="Externa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5stack.com/en/arduino/arduino_ide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3F6FF-7361-FED3-3FF2-292244B40F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Getting to Know the M5StickCPlus1/2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9B5B742-41D5-7D6A-6E04-56232FAB0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6759" y="3569653"/>
            <a:ext cx="2537791" cy="253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M5StickC PLUS ESP32-PICO Mini IoT Development Kit | m5stack-store">
            <a:extLst>
              <a:ext uri="{FF2B5EF4-FFF2-40B4-BE49-F238E27FC236}">
                <a16:creationId xmlns:a16="http://schemas.microsoft.com/office/drawing/2014/main" id="{A98DE87B-0947-8B96-5D29-A27C7BA1EC2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8" t="18538" r="57711" b="18775"/>
          <a:stretch/>
        </p:blipFill>
        <p:spPr bwMode="auto">
          <a:xfrm>
            <a:off x="5305721" y="3962255"/>
            <a:ext cx="942680" cy="1759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2602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55673-5ED5-CA69-172F-65B0407AD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D5A86-53B1-38D9-8C1C-DEAC011A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340" y="1411357"/>
            <a:ext cx="6205330" cy="5081518"/>
          </a:xfrm>
        </p:spPr>
        <p:txBody>
          <a:bodyPr>
            <a:normAutofit fontScale="55000" lnSpcReduction="20000"/>
          </a:bodyPr>
          <a:lstStyle/>
          <a:p>
            <a:r>
              <a:rPr lang="en-US"/>
              <a:t>Part Microcontroller – ESP32-PICO D4 or PICO-V3-02</a:t>
            </a:r>
          </a:p>
          <a:p>
            <a:pPr lvl="1"/>
            <a:r>
              <a:rPr lang="en-US"/>
              <a:t>Used to describe a processor intended to be used inside embedded systems, rather than general purpose computers.</a:t>
            </a:r>
          </a:p>
          <a:p>
            <a:pPr lvl="1"/>
            <a:r>
              <a:rPr lang="en-US"/>
              <a:t>This is the part that has WiFi/Bluetooth and Memory.  Stores/Runs your code.</a:t>
            </a:r>
          </a:p>
          <a:p>
            <a:pPr lvl="1"/>
            <a:r>
              <a:rPr lang="en-US"/>
              <a:t>The M5StickCPlus2 is slightly better in general, but not for this class</a:t>
            </a:r>
          </a:p>
          <a:p>
            <a:r>
              <a:rPr lang="en-US"/>
              <a:t>Part Peripheral components connected to the microcontroller</a:t>
            </a:r>
          </a:p>
          <a:p>
            <a:pPr lvl="1"/>
            <a:r>
              <a:rPr lang="en-US"/>
              <a:t>Sensors</a:t>
            </a:r>
          </a:p>
          <a:p>
            <a:pPr lvl="2"/>
            <a:r>
              <a:rPr lang="en-US"/>
              <a:t>Accelerometer/Gyroscope (Inertial Measurement Unit)</a:t>
            </a:r>
          </a:p>
          <a:p>
            <a:pPr lvl="2"/>
            <a:r>
              <a:rPr lang="en-US"/>
              <a:t>Microphone</a:t>
            </a:r>
          </a:p>
          <a:p>
            <a:pPr lvl="2"/>
            <a:r>
              <a:rPr lang="en-US"/>
              <a:t>3 Buttons</a:t>
            </a:r>
          </a:p>
          <a:p>
            <a:pPr lvl="1"/>
            <a:r>
              <a:rPr lang="en-US"/>
              <a:t>Controllers</a:t>
            </a:r>
          </a:p>
          <a:p>
            <a:pPr lvl="2"/>
            <a:r>
              <a:rPr lang="en-US"/>
              <a:t>Power management</a:t>
            </a:r>
          </a:p>
          <a:p>
            <a:pPr lvl="2"/>
            <a:r>
              <a:rPr lang="en-US"/>
              <a:t>Real-time Clock for Low Power sleep modes</a:t>
            </a:r>
          </a:p>
          <a:p>
            <a:pPr lvl="1"/>
            <a:r>
              <a:rPr lang="en-US"/>
              <a:t>Outputs</a:t>
            </a:r>
          </a:p>
          <a:p>
            <a:pPr lvl="2"/>
            <a:r>
              <a:rPr lang="en-US"/>
              <a:t>Display</a:t>
            </a:r>
          </a:p>
          <a:p>
            <a:pPr lvl="2"/>
            <a:r>
              <a:rPr lang="en-US"/>
              <a:t>Buzzer (very quiet, loudest at 4000Hz)</a:t>
            </a:r>
          </a:p>
          <a:p>
            <a:pPr lvl="2"/>
            <a:r>
              <a:rPr lang="en-US"/>
              <a:t>IR Transmitter (for controlling TVs and other devices with receivers)</a:t>
            </a:r>
          </a:p>
          <a:p>
            <a:pPr lvl="1"/>
            <a:r>
              <a:rPr lang="en-US"/>
              <a:t>USB-Serial (how you program)</a:t>
            </a:r>
          </a:p>
          <a:p>
            <a:r>
              <a:rPr lang="en-US"/>
              <a:t>Part Enclosure</a:t>
            </a:r>
          </a:p>
          <a:p>
            <a:pPr lvl="1"/>
            <a:r>
              <a:rPr lang="en-US"/>
              <a:t>Protection</a:t>
            </a:r>
          </a:p>
          <a:p>
            <a:pPr lvl="1"/>
            <a:r>
              <a:rPr lang="en-US"/>
              <a:t>Headers for connecting additional components</a:t>
            </a:r>
          </a:p>
          <a:p>
            <a:pPr lvl="1"/>
            <a:r>
              <a:rPr lang="en-US"/>
              <a:t>Magnet inside for quick attachments</a:t>
            </a:r>
          </a:p>
          <a:p>
            <a:pPr lvl="1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7A064-AD93-10B1-520B-C8392AE59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297" y="3952116"/>
            <a:ext cx="3558901" cy="2358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B55E81-2D96-F084-67C0-9A39AE1B8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6251" y="1109256"/>
            <a:ext cx="2758409" cy="2758409"/>
          </a:xfrm>
          <a:prstGeom prst="rect">
            <a:avLst/>
          </a:prstGeom>
        </p:spPr>
      </p:pic>
      <p:pic>
        <p:nvPicPr>
          <p:cNvPr id="1026" name="Picture 2" descr="M5StickC PLUS ESP32-PICO Mini IoT Development Kit">
            <a:extLst>
              <a:ext uri="{FF2B5EF4-FFF2-40B4-BE49-F238E27FC236}">
                <a16:creationId xmlns:a16="http://schemas.microsoft.com/office/drawing/2014/main" id="{740B0BDD-1008-0BE5-A283-7541F2CB9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032" y="1170708"/>
            <a:ext cx="2646219" cy="2646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09A517-75A6-C7AE-57AC-BDAFF747612D}"/>
              </a:ext>
            </a:extLst>
          </p:cNvPr>
          <p:cNvSpPr txBox="1"/>
          <p:nvPr/>
        </p:nvSpPr>
        <p:spPr>
          <a:xfrm>
            <a:off x="7211290" y="6366912"/>
            <a:ext cx="3913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Full schematics available.</a:t>
            </a:r>
          </a:p>
        </p:txBody>
      </p:sp>
    </p:spTree>
    <p:extLst>
      <p:ext uri="{BB962C8B-B14F-4D97-AF65-F5344CB8AC3E}">
        <p14:creationId xmlns:p14="http://schemas.microsoft.com/office/powerpoint/2010/main" val="42198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67FDA-9542-41AB-F500-F9CF639E3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you program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8183D-60E2-F723-E3FB-A7C9D720B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Theoretically using ESPRESSIF toolchain</a:t>
            </a:r>
          </a:p>
          <a:p>
            <a:pPr lvl="1"/>
            <a:r>
              <a:rPr lang="en-US" dirty="0"/>
              <a:t>Compiles C++ code for its architecture the https://www.cadence.com/en_US/home/resources/datasheets/xtensa-lx7-processor-ds.html</a:t>
            </a:r>
          </a:p>
          <a:p>
            <a:pPr lvl="1"/>
            <a:r>
              <a:rPr lang="en-US" dirty="0"/>
              <a:t>Upload over USB using esptool.py (yes, python)</a:t>
            </a:r>
          </a:p>
          <a:p>
            <a:r>
              <a:rPr lang="en-US" b="1" dirty="0"/>
              <a:t>Practically</a:t>
            </a:r>
            <a:r>
              <a:rPr lang="en-US" dirty="0"/>
              <a:t> – Arduino IDE</a:t>
            </a:r>
          </a:p>
          <a:p>
            <a:pPr lvl="1"/>
            <a:r>
              <a:rPr lang="en-US" dirty="0"/>
              <a:t>Massive library of code</a:t>
            </a:r>
          </a:p>
          <a:p>
            <a:pPr lvl="1"/>
            <a:r>
              <a:rPr lang="en-US" dirty="0"/>
              <a:t>Support from M5, </a:t>
            </a:r>
            <a:r>
              <a:rPr lang="en-US" u="sng" dirty="0"/>
              <a:t>including peripherals </a:t>
            </a:r>
          </a:p>
          <a:p>
            <a:r>
              <a:rPr lang="en-US" dirty="0"/>
              <a:t>For simple things – </a:t>
            </a:r>
            <a:r>
              <a:rPr lang="en-US" dirty="0" err="1"/>
              <a:t>MicroPython</a:t>
            </a:r>
            <a:endParaRPr lang="en-US" dirty="0"/>
          </a:p>
          <a:p>
            <a:endParaRPr lang="en-US" dirty="0"/>
          </a:p>
        </p:txBody>
      </p:sp>
      <p:pic>
        <p:nvPicPr>
          <p:cNvPr id="2050" name="Picture 2" descr="Arduino (@arduino) / X">
            <a:extLst>
              <a:ext uri="{FF2B5EF4-FFF2-40B4-BE49-F238E27FC236}">
                <a16:creationId xmlns:a16="http://schemas.microsoft.com/office/drawing/2014/main" id="{7CA9AC24-A683-D4F9-822C-06368A40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765" y="4128052"/>
            <a:ext cx="1974574" cy="1974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9030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F43E-4E3D-929B-51CB-399ED30CA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it up and running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EA118-2EA4-638D-57F0-047BF61D5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76" y="1825625"/>
            <a:ext cx="11032524" cy="2556266"/>
          </a:xfrm>
        </p:spPr>
        <p:txBody>
          <a:bodyPr>
            <a:normAutofit fontScale="55000" lnSpcReduction="20000"/>
          </a:bodyPr>
          <a:lstStyle/>
          <a:p>
            <a:r>
              <a:rPr lang="en-US"/>
              <a:t>Install the Arduino IDE </a:t>
            </a:r>
            <a:r>
              <a:rPr lang="en-US">
                <a:hlinkClick r:id="rId2"/>
              </a:rPr>
              <a:t>https://www.arduino.cc/en/software</a:t>
            </a:r>
            <a:r>
              <a:rPr lang="en-US"/>
              <a:t> </a:t>
            </a:r>
          </a:p>
          <a:p>
            <a:r>
              <a:rPr lang="en-US"/>
              <a:t>Follow (Arduino) instructions at </a:t>
            </a:r>
            <a:r>
              <a:rPr lang="en-US">
                <a:hlinkClick r:id="rId3"/>
              </a:rPr>
              <a:t>https://docs.m5stack.com/en/arduino/arduino_ide</a:t>
            </a:r>
            <a:r>
              <a:rPr lang="en-US"/>
              <a:t> </a:t>
            </a:r>
          </a:p>
          <a:p>
            <a:pPr lvl="1"/>
            <a:r>
              <a:rPr lang="en-US"/>
              <a:t>M5StickCplus (orange one): </a:t>
            </a:r>
            <a:r>
              <a:rPr lang="en-US">
                <a:hlinkClick r:id="rId4"/>
              </a:rPr>
              <a:t>https://docs.m5stack.com/en/arduino/m5stickc_plus/program</a:t>
            </a:r>
            <a:r>
              <a:rPr lang="en-US"/>
              <a:t> </a:t>
            </a:r>
          </a:p>
          <a:p>
            <a:pPr lvl="1"/>
            <a:r>
              <a:rPr lang="en-US"/>
              <a:t>Or M5StickCplus2 (yellow one): </a:t>
            </a:r>
            <a:r>
              <a:rPr lang="en-US">
                <a:hlinkClick r:id="rId5"/>
              </a:rPr>
              <a:t>https://docs.m5stack.com/en/arduino/m5stickc_plus2/program</a:t>
            </a:r>
            <a:r>
              <a:rPr lang="en-US"/>
              <a:t> </a:t>
            </a:r>
          </a:p>
          <a:p>
            <a:pPr lvl="1"/>
            <a:r>
              <a:rPr lang="en-US" b="1"/>
              <a:t>May</a:t>
            </a:r>
            <a:r>
              <a:rPr lang="en-US"/>
              <a:t> have to install a Serial port driver (on Windows, these are listed in device manager as COM ports, in Mac, </a:t>
            </a:r>
            <a:r>
              <a:rPr lang="en-US" b="1"/>
              <a:t>terminal</a:t>
            </a:r>
            <a:r>
              <a:rPr lang="en-US"/>
              <a:t>: ls /dev/tty.*)</a:t>
            </a:r>
          </a:p>
          <a:p>
            <a:pPr lvl="1"/>
            <a:r>
              <a:rPr lang="en-US"/>
              <a:t>M5StickCPlus must be on to be detected.  </a:t>
            </a:r>
          </a:p>
          <a:p>
            <a:r>
              <a:rPr lang="en-US"/>
              <a:t>Basic steps once you have Arduino</a:t>
            </a:r>
          </a:p>
          <a:p>
            <a:pPr lvl="1"/>
            <a:r>
              <a:rPr lang="en-US"/>
              <a:t>Set preference for “Additional boards manager URLs”, and </a:t>
            </a:r>
            <a:r>
              <a:rPr lang="en-US" b="1"/>
              <a:t>in Boards Manager</a:t>
            </a:r>
            <a:r>
              <a:rPr lang="en-US"/>
              <a:t>, Install M5Stack</a:t>
            </a:r>
          </a:p>
          <a:p>
            <a:pPr lvl="1"/>
            <a:r>
              <a:rPr lang="en-US"/>
              <a:t>In </a:t>
            </a:r>
            <a:r>
              <a:rPr lang="en-US" b="1"/>
              <a:t>Library Manager</a:t>
            </a:r>
            <a:r>
              <a:rPr lang="en-US"/>
              <a:t>: Install the </a:t>
            </a:r>
            <a:r>
              <a:rPr lang="en-US" b="1"/>
              <a:t>M5Unified</a:t>
            </a:r>
            <a:r>
              <a:rPr lang="en-US"/>
              <a:t> library, which works for both the M5StickCPlus and M5StickCPlus2.  </a:t>
            </a:r>
          </a:p>
          <a:p>
            <a:pPr lvl="2"/>
            <a:r>
              <a:rPr lang="en-US"/>
              <a:t>You could also install the more specific libraries for these devices, M5StickCPlus and M5StickCplus2, which have similar functionality (but will not work across the M5Stack library)</a:t>
            </a:r>
          </a:p>
          <a:p>
            <a:pPr lvl="1"/>
            <a:r>
              <a:rPr lang="en-US"/>
              <a:t>Restart Arduino IDE, Turn on and connect M5StickCPlus, &amp; Tell Arduino which Board is connected to your serial port</a:t>
            </a:r>
          </a:p>
          <a:p>
            <a:pPr lvl="1"/>
            <a:endParaRPr lang="en-US"/>
          </a:p>
          <a:p>
            <a:pPr lvl="1"/>
            <a:endParaRPr lang="en-US"/>
          </a:p>
          <a:p>
            <a:pPr lvl="1"/>
            <a:endParaRPr lang="en-US"/>
          </a:p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8260FB-D5C1-452A-C7D3-0BA679D6A2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944" y="4381891"/>
            <a:ext cx="1019318" cy="18242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E59776-15CA-B051-01DD-AD9388D1AD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83687" y="4343984"/>
            <a:ext cx="3771942" cy="173092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1E94E86-26E8-866B-C8CC-B2A758C4C6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12681" y="4381891"/>
            <a:ext cx="1973749" cy="17309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34D23E-BF24-F318-BD11-00DAF7476FD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-6125" r="96" b="8299"/>
          <a:stretch/>
        </p:blipFill>
        <p:spPr>
          <a:xfrm>
            <a:off x="226944" y="6169134"/>
            <a:ext cx="11325460" cy="49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657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2BE77-16BE-50A3-1ADE-6E9D9F0E8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Arduino/C++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6EFE-9A30-5840-2D20-C64C8F8B4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124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Similar in the way code executes to Python, with similar operators and expressions</a:t>
            </a:r>
          </a:p>
          <a:p>
            <a:r>
              <a:rPr lang="en-US" dirty="0"/>
              <a:t>Differences</a:t>
            </a:r>
          </a:p>
          <a:p>
            <a:pPr lvl="1"/>
            <a:r>
              <a:rPr lang="en-US" dirty="0"/>
              <a:t>Comments start with // or are enclosed with /* comment */</a:t>
            </a:r>
          </a:p>
          <a:p>
            <a:pPr lvl="1"/>
            <a:r>
              <a:rPr lang="en-US" dirty="0"/>
              <a:t>All variables and functions</a:t>
            </a:r>
            <a:r>
              <a:rPr lang="en-US" b="1" dirty="0"/>
              <a:t> </a:t>
            </a:r>
            <a:r>
              <a:rPr lang="en-US" dirty="0"/>
              <a:t>have an explicitly declared </a:t>
            </a:r>
            <a:r>
              <a:rPr lang="en-US" b="1" dirty="0"/>
              <a:t>static</a:t>
            </a:r>
            <a:r>
              <a:rPr lang="en-US" dirty="0"/>
              <a:t> </a:t>
            </a:r>
            <a:r>
              <a:rPr lang="en-US" b="1" dirty="0"/>
              <a:t>type</a:t>
            </a:r>
            <a:r>
              <a:rPr lang="en-US" dirty="0"/>
              <a:t>, which defines exactly how they are stored in memory or what type they return (in the case of functions)</a:t>
            </a:r>
          </a:p>
          <a:p>
            <a:pPr lvl="2"/>
            <a:r>
              <a:rPr lang="en-US" dirty="0"/>
              <a:t>int, float, char, char * (string), uint8_t (byte), int </a:t>
            </a:r>
            <a:r>
              <a:rPr lang="en-US" dirty="0" err="1"/>
              <a:t>my_fun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Programs work directly with memory addresses, and must actively manage any memory allocations (e.g., growing or shrinking lists)</a:t>
            </a:r>
          </a:p>
          <a:p>
            <a:pPr lvl="1"/>
            <a:r>
              <a:rPr lang="en-US" b="1" dirty="0"/>
              <a:t>statements</a:t>
            </a:r>
            <a:r>
              <a:rPr lang="en-US" dirty="0"/>
              <a:t> end with a semicolon, not a new line, or use curly braces to indicate the body</a:t>
            </a:r>
          </a:p>
          <a:p>
            <a:pPr lvl="1"/>
            <a:r>
              <a:rPr lang="en-US" dirty="0"/>
              <a:t>if, for, while, functions, structs, classes use curly braces when they include multiple lines.</a:t>
            </a:r>
          </a:p>
          <a:p>
            <a:r>
              <a:rPr lang="en-US" dirty="0"/>
              <a:t>Arduino programs must have both </a:t>
            </a:r>
            <a:r>
              <a:rPr lang="en-US" b="1" dirty="0"/>
              <a:t>void setup(){}</a:t>
            </a:r>
            <a:r>
              <a:rPr lang="en-US" dirty="0"/>
              <a:t> and </a:t>
            </a:r>
            <a:r>
              <a:rPr lang="en-US" b="1" dirty="0"/>
              <a:t>void loop(){} </a:t>
            </a:r>
            <a:r>
              <a:rPr lang="en-US" dirty="0"/>
              <a:t>functions defined</a:t>
            </a:r>
          </a:p>
          <a:p>
            <a:pPr lvl="1"/>
            <a:r>
              <a:rPr lang="en-US" b="1" dirty="0"/>
              <a:t>void</a:t>
            </a:r>
            <a:r>
              <a:rPr lang="en-US" dirty="0"/>
              <a:t> means no return value</a:t>
            </a:r>
          </a:p>
          <a:p>
            <a:pPr lvl="1"/>
            <a:r>
              <a:rPr lang="en-US" dirty="0"/>
              <a:t>These are </a:t>
            </a:r>
            <a:r>
              <a:rPr lang="en-US" b="1" dirty="0"/>
              <a:t>compiled</a:t>
            </a:r>
            <a:r>
              <a:rPr lang="en-US" dirty="0"/>
              <a:t> into a complete program that runs setup() once, and loop() repeatedly.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0788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774D-F2AF-74DA-9527-9989DC8B8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Simple Arduino Program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DC84D02-AA2A-161E-EB7B-6E8F25D8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5440" y="2103437"/>
            <a:ext cx="244560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/>
              <a:t>The purpose of the delay in setup is to ensure that you see it between the time you upload and the type you connect the serial port</a:t>
            </a:r>
          </a:p>
          <a:p>
            <a:pPr marL="0" indent="0">
              <a:buNone/>
            </a:pPr>
            <a:endParaRPr lang="en-US" sz="1800"/>
          </a:p>
          <a:p>
            <a:pPr marL="0" indent="0">
              <a:buNone/>
            </a:pPr>
            <a:r>
              <a:rPr lang="en-US" sz="1800"/>
              <a:t>115200 is an agreed upon “baud” rate for data transfer between devices connected via the serial port.  The other device in this case is your computer, connected via USB.</a:t>
            </a:r>
          </a:p>
          <a:p>
            <a:endParaRPr lang="en-US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803F3-506F-E8BD-5C17-89271654B98F}"/>
              </a:ext>
            </a:extLst>
          </p:cNvPr>
          <p:cNvSpPr txBox="1"/>
          <p:nvPr/>
        </p:nvSpPr>
        <p:spPr>
          <a:xfrm>
            <a:off x="465232" y="2293947"/>
            <a:ext cx="8557054" cy="39703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FF6CA-8CD2-F4F4-EB14-04A592B127BB}"/>
              </a:ext>
            </a:extLst>
          </p:cNvPr>
          <p:cNvSpPr txBox="1"/>
          <p:nvPr/>
        </p:nvSpPr>
        <p:spPr>
          <a:xfrm>
            <a:off x="365760" y="1430864"/>
            <a:ext cx="8183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will work with almost any Arduino-compatible microcontroller, including the M5StickCPlus</a:t>
            </a:r>
          </a:p>
        </p:txBody>
      </p:sp>
    </p:spTree>
    <p:extLst>
      <p:ext uri="{BB962C8B-B14F-4D97-AF65-F5344CB8AC3E}">
        <p14:creationId xmlns:p14="http://schemas.microsoft.com/office/powerpoint/2010/main" val="2072273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00F8-2EA6-84A5-D76F-CBE30CCE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M5Stick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155779-6080-3B0D-F3FA-330181906D10}"/>
              </a:ext>
            </a:extLst>
          </p:cNvPr>
          <p:cNvSpPr txBox="1"/>
          <p:nvPr/>
        </p:nvSpPr>
        <p:spPr>
          <a:xfrm>
            <a:off x="426479" y="1690688"/>
            <a:ext cx="7037173" cy="511075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"M5Unified.h"</a:t>
            </a:r>
            <a:endParaRPr lang="en-US" sz="11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setRotation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Speaker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setVolume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255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  // Action when Button A is pressed</a:t>
            </a:r>
            <a:endParaRPr lang="en-US" sz="11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BtnA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wasPressed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 Hello World!"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Speaker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tone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4000.0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    // Action when Button A is held</a:t>
            </a:r>
            <a:endParaRPr lang="en-US" sz="11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BtnA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wasHold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setCursor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// Play tone: </a:t>
            </a:r>
            <a:r>
              <a:rPr lang="en-US" sz="1100" b="0" dirty="0" err="1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freq</a:t>
            </a:r>
            <a:r>
              <a:rPr lang="en-US" sz="11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4400Hz, 100ms duration, channel 0, stop current sound</a:t>
            </a:r>
            <a:endParaRPr lang="en-US" sz="11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Speaker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tone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4400.0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drawCenterString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"cleared"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					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delay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15C48BB-640B-1C9B-6A14-57AD08499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0111" y="1881877"/>
            <a:ext cx="3816927" cy="3993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863653-2897-B310-9F35-211BAA640E4D}"/>
              </a:ext>
            </a:extLst>
          </p:cNvPr>
          <p:cNvSpPr txBox="1"/>
          <p:nvPr/>
        </p:nvSpPr>
        <p:spPr>
          <a:xfrm>
            <a:off x="7800111" y="2389909"/>
            <a:ext cx="38169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This basic program showcases how you can get button events, print text to the display, and play sounds.  </a:t>
            </a:r>
          </a:p>
          <a:p>
            <a:endParaRPr lang="en-US"/>
          </a:p>
          <a:p>
            <a:r>
              <a:rPr lang="en-US"/>
              <a:t>Note that the code is written in C++ </a:t>
            </a:r>
          </a:p>
          <a:p>
            <a:endParaRPr lang="en-US"/>
          </a:p>
          <a:p>
            <a:r>
              <a:rPr lang="en-US"/>
              <a:t>More information about the Arduino library can be found at: </a:t>
            </a:r>
          </a:p>
          <a:p>
            <a:endParaRPr lang="en-US"/>
          </a:p>
          <a:p>
            <a:r>
              <a:rPr lang="en-US">
                <a:hlinkClick r:id="rId3"/>
              </a:rPr>
              <a:t>https://docs.m5stack.com/en/arduino/arduino_ide</a:t>
            </a:r>
            <a:endParaRPr lang="en-US"/>
          </a:p>
          <a:p>
            <a:endParaRPr lang="en-US"/>
          </a:p>
          <a:p>
            <a:r>
              <a:rPr lang="en-US"/>
              <a:t>Check out the </a:t>
            </a:r>
            <a:r>
              <a:rPr lang="en-US" b="1"/>
              <a:t>M5Unified</a:t>
            </a:r>
            <a:r>
              <a:rPr lang="en-US"/>
              <a:t>, and </a:t>
            </a:r>
            <a:r>
              <a:rPr lang="en-US" b="1"/>
              <a:t>M5GFX</a:t>
            </a:r>
            <a:r>
              <a:rPr lang="en-US"/>
              <a:t> Libraries (or device specific ones)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60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8B97-0594-7D9B-4660-53D503C0C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Smoother Graphics on the M5StickCPlus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DE83DA-E671-70AD-BAD0-8A488B855F50}"/>
              </a:ext>
            </a:extLst>
          </p:cNvPr>
          <p:cNvSpPr txBox="1"/>
          <p:nvPr/>
        </p:nvSpPr>
        <p:spPr>
          <a:xfrm>
            <a:off x="6037729" y="1561653"/>
            <a:ext cx="5526742" cy="49312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"M5Unified.h"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M5Canvas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(&amp;M5.Display);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 Create a Sprite attached to the Display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cfg =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(cfg);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setRotation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createSprite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(),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setTextSize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fillSprite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(BLACK);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drawString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"Smooth Text"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x,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pushSprite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x +=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(x &gt;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 x =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DDB36-EF75-45D8-6353-4DCC37461145}"/>
              </a:ext>
            </a:extLst>
          </p:cNvPr>
          <p:cNvSpPr txBox="1"/>
          <p:nvPr/>
        </p:nvSpPr>
        <p:spPr>
          <a:xfrm>
            <a:off x="367178" y="2274103"/>
            <a:ext cx="4439771" cy="34949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"M5Unified.h"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config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 err="1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cfg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setRotation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setTextSize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clear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  <a:r>
              <a:rPr lang="en-US" sz="11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drawString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"Flickering Text"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 x, </a:t>
            </a:r>
          </a:p>
          <a:p>
            <a:pPr>
              <a:lnSpc>
                <a:spcPts val="1425"/>
              </a:lnSpc>
              <a:buNone/>
            </a:pPr>
            <a:r>
              <a:rPr lang="en-US" sz="1100" dirty="0">
                <a:solidFill>
                  <a:srgbClr val="DAE3E3"/>
                </a:solidFill>
                <a:latin typeface="Consolas" panose="020B0609020204030204" pitchFamily="49" charset="0"/>
              </a:rPr>
              <a:t>                         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/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x +=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(x &gt; 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 x = </a:t>
            </a:r>
            <a:r>
              <a:rPr lang="en-US" sz="1100" b="0" dirty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sz="11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endParaRPr lang="en-US" sz="11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090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6DA87-87F2-D141-DDE3-C641E549B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Serial Communication on Arduino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0E486-B145-2B25-8595-F75E1236C3E7}"/>
              </a:ext>
            </a:extLst>
          </p:cNvPr>
          <p:cNvSpPr txBox="1"/>
          <p:nvPr/>
        </p:nvSpPr>
        <p:spPr>
          <a:xfrm>
            <a:off x="2920252" y="1823880"/>
            <a:ext cx="5526742" cy="421307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"M5Unified.h"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//always include this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available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//read all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BtnA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wasPressed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//use print for strings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123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//sends as '1','2','3'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BtnB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wasPressed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(0x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//use write for arbitrary bytes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BtnB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wasReleased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] = {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(list,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//use write for byte arrays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39398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39118-35FE-7FD7-1768-067372A33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Serial Communication in Python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2018CC-17B0-AEB2-0F48-0BDF5D711CDF}"/>
              </a:ext>
            </a:extLst>
          </p:cNvPr>
          <p:cNvSpPr txBox="1"/>
          <p:nvPr/>
        </p:nvSpPr>
        <p:spPr>
          <a:xfrm>
            <a:off x="2991969" y="2137644"/>
            <a:ext cx="5526742" cy="331539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pip install pyserial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tools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list_ports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check your ports and choose the first one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tools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list_ports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serial ports"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in_waiting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read a byte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sleep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.1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sleep for a tenth of a second to slow things down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 World"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write a string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]))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#write arbitrary bytes)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689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D31D-33FB-C20B-318C-C2421675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Read/Write Structured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B99107-1E81-F223-D62D-8CDE5F3EDA08}"/>
              </a:ext>
            </a:extLst>
          </p:cNvPr>
          <p:cNvSpPr txBox="1"/>
          <p:nvPr/>
        </p:nvSpPr>
        <p:spPr>
          <a:xfrm>
            <a:off x="419099" y="1574661"/>
            <a:ext cx="5526742" cy="4213076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pip install pyserial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tools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list_ports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struct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check your ports and choose the first one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tools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list_ports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comports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serial ports"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exit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ports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device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bytearray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struct_format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"&lt;fI"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#float, Little-Endian 4-byte int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struct_size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calcsize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struct_format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struct_size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in_waiting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extend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m5stick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struct_size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unpack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struct_format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[: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struct_size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buffer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struct_size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:] </a:t>
            </a:r>
            <a:r>
              <a:rPr lang="en-US" sz="1100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bytes from the buffer</a:t>
            </a:r>
            <a:endParaRPr lang="en-US" sz="11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100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EECE7A-FBC9-A394-BE12-E1C2546418F5}"/>
              </a:ext>
            </a:extLst>
          </p:cNvPr>
          <p:cNvSpPr txBox="1"/>
          <p:nvPr/>
        </p:nvSpPr>
        <p:spPr>
          <a:xfrm>
            <a:off x="6362699" y="1574661"/>
            <a:ext cx="5526742" cy="493122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"M5Unified.h"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#pragma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pack(1)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//force tight packing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typedef struct{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f;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uint32_t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i;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 MyPacket;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MyPacket p;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setup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115200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sz="1100" b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 //always include this</a:t>
            </a: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>
                <a:solidFill>
                  <a:srgbClr val="7FCBCD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M5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BtnA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wasPressed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()){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millis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()/(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Serial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sz="1100" b="0">
                <a:solidFill>
                  <a:srgbClr val="0CA1A6"/>
                </a:solidFill>
                <a:effectLst/>
                <a:latin typeface="Consolas" panose="020B0609020204030204" pitchFamily="49" charset="0"/>
              </a:rPr>
              <a:t>uint8_t</a:t>
            </a: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*)&amp;p,sizeof(MyPacket));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100" b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</a:br>
            <a:endParaRPr lang="en-US" sz="1100" b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6EE482-88A4-7894-D8AA-6D862DE018BD}"/>
              </a:ext>
            </a:extLst>
          </p:cNvPr>
          <p:cNvSpPr txBox="1"/>
          <p:nvPr/>
        </p:nvSpPr>
        <p:spPr>
          <a:xfrm>
            <a:off x="770964" y="5897886"/>
            <a:ext cx="4482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https://docs.python.org/3/library/struct.html</a:t>
            </a:r>
          </a:p>
        </p:txBody>
      </p:sp>
    </p:spTree>
    <p:extLst>
      <p:ext uri="{BB962C8B-B14F-4D97-AF65-F5344CB8AC3E}">
        <p14:creationId xmlns:p14="http://schemas.microsoft.com/office/powerpoint/2010/main" val="369735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1983</Words>
  <Application>Microsoft Office PowerPoint</Application>
  <PresentationFormat>Widescreen</PresentationFormat>
  <Paragraphs>240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Getting to Know the M5StickCPlus1/2</vt:lpstr>
      <vt:lpstr>What is it?</vt:lpstr>
      <vt:lpstr>How do you program it?</vt:lpstr>
      <vt:lpstr>Getting it up and running</vt:lpstr>
      <vt:lpstr>Basic Arduino/C++</vt:lpstr>
      <vt:lpstr>Simple Arduino Program</vt:lpstr>
      <vt:lpstr>Using M5Stick Functions</vt:lpstr>
      <vt:lpstr>Smoother Graphics on the M5StickCPlus</vt:lpstr>
      <vt:lpstr>Serial Communication on Arduino</vt:lpstr>
      <vt:lpstr>Serial Communication in Python</vt:lpstr>
      <vt:lpstr>Read/Write Structured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to Know the M5StickCPlus2</dc:title>
  <dc:creator>Kyle J Johnsen</dc:creator>
  <cp:lastModifiedBy>Kyle J Johnsen</cp:lastModifiedBy>
  <cp:revision>1</cp:revision>
  <dcterms:created xsi:type="dcterms:W3CDTF">2024-01-31T13:07:04Z</dcterms:created>
  <dcterms:modified xsi:type="dcterms:W3CDTF">2026-01-28T01:23:11Z</dcterms:modified>
</cp:coreProperties>
</file>