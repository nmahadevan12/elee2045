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4" r:id="rId6"/>
    <p:sldId id="267" r:id="rId7"/>
    <p:sldId id="261" r:id="rId8"/>
    <p:sldId id="265" r:id="rId9"/>
    <p:sldId id="262" r:id="rId10"/>
    <p:sldId id="268"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1" autoAdjust="0"/>
    <p:restoredTop sz="94660"/>
  </p:normalViewPr>
  <p:slideViewPr>
    <p:cSldViewPr snapToGrid="0">
      <p:cViewPr varScale="1">
        <p:scale>
          <a:sx n="94" d="100"/>
          <a:sy n="94" d="100"/>
        </p:scale>
        <p:origin x="90" y="7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J Johnsen" userId="dd73adbd-5351-478d-821b-56868881e8c0" providerId="ADAL" clId="{FD55B928-8FF4-41B3-8EDD-B28A23CAEE1F}"/>
    <pc:docChg chg="undo custSel addSld modSld">
      <pc:chgData name="Kyle J Johnsen" userId="dd73adbd-5351-478d-821b-56868881e8c0" providerId="ADAL" clId="{FD55B928-8FF4-41B3-8EDD-B28A23CAEE1F}" dt="2026-02-23T16:09:53.434" v="272" actId="1076"/>
      <pc:docMkLst>
        <pc:docMk/>
      </pc:docMkLst>
      <pc:sldChg chg="modSp mod">
        <pc:chgData name="Kyle J Johnsen" userId="dd73adbd-5351-478d-821b-56868881e8c0" providerId="ADAL" clId="{FD55B928-8FF4-41B3-8EDD-B28A23CAEE1F}" dt="2026-02-18T14:55:48.800" v="191" actId="20577"/>
        <pc:sldMkLst>
          <pc:docMk/>
          <pc:sldMk cId="2946227909" sldId="260"/>
        </pc:sldMkLst>
        <pc:spChg chg="mod">
          <ac:chgData name="Kyle J Johnsen" userId="dd73adbd-5351-478d-821b-56868881e8c0" providerId="ADAL" clId="{FD55B928-8FF4-41B3-8EDD-B28A23CAEE1F}" dt="2026-02-18T14:55:48.800" v="191" actId="20577"/>
          <ac:spMkLst>
            <pc:docMk/>
            <pc:sldMk cId="2946227909" sldId="260"/>
            <ac:spMk id="3" creationId="{D12E00A5-10EE-B114-4978-D0980F7F6244}"/>
          </ac:spMkLst>
        </pc:spChg>
      </pc:sldChg>
      <pc:sldChg chg="addSp delSp modSp mod">
        <pc:chgData name="Kyle J Johnsen" userId="dd73adbd-5351-478d-821b-56868881e8c0" providerId="ADAL" clId="{FD55B928-8FF4-41B3-8EDD-B28A23CAEE1F}" dt="2026-02-23T15:24:18.649" v="206" actId="1076"/>
        <pc:sldMkLst>
          <pc:docMk/>
          <pc:sldMk cId="2567906853" sldId="261"/>
        </pc:sldMkLst>
        <pc:spChg chg="add del">
          <ac:chgData name="Kyle J Johnsen" userId="dd73adbd-5351-478d-821b-56868881e8c0" providerId="ADAL" clId="{FD55B928-8FF4-41B3-8EDD-B28A23CAEE1F}" dt="2026-02-23T15:21:15.708" v="195" actId="22"/>
          <ac:spMkLst>
            <pc:docMk/>
            <pc:sldMk cId="2567906853" sldId="261"/>
            <ac:spMk id="4" creationId="{1B2F3242-BF3C-D653-5039-02EBEB3121CE}"/>
          </ac:spMkLst>
        </pc:spChg>
        <pc:spChg chg="add del mod">
          <ac:chgData name="Kyle J Johnsen" userId="dd73adbd-5351-478d-821b-56868881e8c0" providerId="ADAL" clId="{FD55B928-8FF4-41B3-8EDD-B28A23CAEE1F}" dt="2026-02-23T15:23:00.357" v="199" actId="22"/>
          <ac:spMkLst>
            <pc:docMk/>
            <pc:sldMk cId="2567906853" sldId="261"/>
            <ac:spMk id="6" creationId="{0C71AE1D-3B2C-1369-5A2F-A32304880B7C}"/>
          </ac:spMkLst>
        </pc:spChg>
        <pc:picChg chg="add mod">
          <ac:chgData name="Kyle J Johnsen" userId="dd73adbd-5351-478d-821b-56868881e8c0" providerId="ADAL" clId="{FD55B928-8FF4-41B3-8EDD-B28A23CAEE1F}" dt="2026-02-23T15:23:30.775" v="201" actId="1076"/>
          <ac:picMkLst>
            <pc:docMk/>
            <pc:sldMk cId="2567906853" sldId="261"/>
            <ac:picMk id="8" creationId="{33CACABA-8303-EDC7-A932-D3ADA0A4866D}"/>
          </ac:picMkLst>
        </pc:picChg>
        <pc:picChg chg="del">
          <ac:chgData name="Kyle J Johnsen" userId="dd73adbd-5351-478d-821b-56868881e8c0" providerId="ADAL" clId="{FD55B928-8FF4-41B3-8EDD-B28A23CAEE1F}" dt="2026-02-23T15:21:10.895" v="192" actId="478"/>
          <ac:picMkLst>
            <pc:docMk/>
            <pc:sldMk cId="2567906853" sldId="261"/>
            <ac:picMk id="10" creationId="{9F495809-A024-A47B-65B0-0A55082DAC37}"/>
          </ac:picMkLst>
        </pc:picChg>
        <pc:picChg chg="add del mod">
          <ac:chgData name="Kyle J Johnsen" userId="dd73adbd-5351-478d-821b-56868881e8c0" providerId="ADAL" clId="{FD55B928-8FF4-41B3-8EDD-B28A23CAEE1F}" dt="2026-02-23T15:24:16.059" v="204" actId="478"/>
          <ac:picMkLst>
            <pc:docMk/>
            <pc:sldMk cId="2567906853" sldId="261"/>
            <ac:picMk id="11" creationId="{BF1DDF51-2A2C-64D5-A3BD-3E8BC6654DF3}"/>
          </ac:picMkLst>
        </pc:picChg>
        <pc:picChg chg="del">
          <ac:chgData name="Kyle J Johnsen" userId="dd73adbd-5351-478d-821b-56868881e8c0" providerId="ADAL" clId="{FD55B928-8FF4-41B3-8EDD-B28A23CAEE1F}" dt="2026-02-23T15:21:12.727" v="193" actId="478"/>
          <ac:picMkLst>
            <pc:docMk/>
            <pc:sldMk cId="2567906853" sldId="261"/>
            <ac:picMk id="12" creationId="{C89E1F67-6FF3-9AFA-73E4-1E0449859E59}"/>
          </ac:picMkLst>
        </pc:picChg>
        <pc:picChg chg="add mod">
          <ac:chgData name="Kyle J Johnsen" userId="dd73adbd-5351-478d-821b-56868881e8c0" providerId="ADAL" clId="{FD55B928-8FF4-41B3-8EDD-B28A23CAEE1F}" dt="2026-02-23T15:24:18.649" v="206" actId="1076"/>
          <ac:picMkLst>
            <pc:docMk/>
            <pc:sldMk cId="2567906853" sldId="261"/>
            <ac:picMk id="15" creationId="{E485269E-1B33-2BFC-668E-9AB36C547493}"/>
          </ac:picMkLst>
        </pc:picChg>
      </pc:sldChg>
      <pc:sldChg chg="addSp delSp modSp mod">
        <pc:chgData name="Kyle J Johnsen" userId="dd73adbd-5351-478d-821b-56868881e8c0" providerId="ADAL" clId="{FD55B928-8FF4-41B3-8EDD-B28A23CAEE1F}" dt="2026-02-23T16:05:42.033" v="226" actId="1076"/>
        <pc:sldMkLst>
          <pc:docMk/>
          <pc:sldMk cId="3515136085" sldId="262"/>
        </pc:sldMkLst>
        <pc:spChg chg="add del mod">
          <ac:chgData name="Kyle J Johnsen" userId="dd73adbd-5351-478d-821b-56868881e8c0" providerId="ADAL" clId="{FD55B928-8FF4-41B3-8EDD-B28A23CAEE1F}" dt="2026-02-23T16:04:12.061" v="211" actId="22"/>
          <ac:spMkLst>
            <pc:docMk/>
            <pc:sldMk cId="3515136085" sldId="262"/>
            <ac:spMk id="5" creationId="{1FA16DA5-80DD-EDC9-864E-E7A39685A357}"/>
          </ac:spMkLst>
        </pc:spChg>
        <pc:spChg chg="mod">
          <ac:chgData name="Kyle J Johnsen" userId="dd73adbd-5351-478d-821b-56868881e8c0" providerId="ADAL" clId="{FD55B928-8FF4-41B3-8EDD-B28A23CAEE1F}" dt="2026-02-23T16:05:11.605" v="220" actId="27636"/>
          <ac:spMkLst>
            <pc:docMk/>
            <pc:sldMk cId="3515136085" sldId="262"/>
            <ac:spMk id="18" creationId="{4E0B3BF7-C639-41B7-7E74-BD74433DB2E1}"/>
          </ac:spMkLst>
        </pc:spChg>
        <pc:picChg chg="add del">
          <ac:chgData name="Kyle J Johnsen" userId="dd73adbd-5351-478d-821b-56868881e8c0" providerId="ADAL" clId="{FD55B928-8FF4-41B3-8EDD-B28A23CAEE1F}" dt="2026-02-23T16:04:43.026" v="213" actId="478"/>
          <ac:picMkLst>
            <pc:docMk/>
            <pc:sldMk cId="3515136085" sldId="262"/>
            <ac:picMk id="4" creationId="{2FDD4DC9-EA49-8D84-1931-03C8BD64D5BE}"/>
          </ac:picMkLst>
        </pc:picChg>
        <pc:picChg chg="add mod">
          <ac:chgData name="Kyle J Johnsen" userId="dd73adbd-5351-478d-821b-56868881e8c0" providerId="ADAL" clId="{FD55B928-8FF4-41B3-8EDD-B28A23CAEE1F}" dt="2026-02-23T16:05:20.530" v="223" actId="14100"/>
          <ac:picMkLst>
            <pc:docMk/>
            <pc:sldMk cId="3515136085" sldId="262"/>
            <ac:picMk id="7" creationId="{7A209BAF-FA9B-453D-C1DA-7B15EE5F77BC}"/>
          </ac:picMkLst>
        </pc:picChg>
        <pc:picChg chg="add del mod">
          <ac:chgData name="Kyle J Johnsen" userId="dd73adbd-5351-478d-821b-56868881e8c0" providerId="ADAL" clId="{FD55B928-8FF4-41B3-8EDD-B28A23CAEE1F}" dt="2026-02-23T16:05:38.753" v="224" actId="478"/>
          <ac:picMkLst>
            <pc:docMk/>
            <pc:sldMk cId="3515136085" sldId="262"/>
            <ac:picMk id="9" creationId="{0BF5BCD3-1ED2-1876-3172-5521EFDABDD9}"/>
          </ac:picMkLst>
        </pc:picChg>
        <pc:picChg chg="add mod">
          <ac:chgData name="Kyle J Johnsen" userId="dd73adbd-5351-478d-821b-56868881e8c0" providerId="ADAL" clId="{FD55B928-8FF4-41B3-8EDD-B28A23CAEE1F}" dt="2026-02-23T16:05:42.033" v="226" actId="1076"/>
          <ac:picMkLst>
            <pc:docMk/>
            <pc:sldMk cId="3515136085" sldId="262"/>
            <ac:picMk id="11" creationId="{FC5D2E0E-8F3F-7EB5-7C80-255CC6F97779}"/>
          </ac:picMkLst>
        </pc:picChg>
      </pc:sldChg>
      <pc:sldChg chg="addSp delSp modSp new mod">
        <pc:chgData name="Kyle J Johnsen" userId="dd73adbd-5351-478d-821b-56868881e8c0" providerId="ADAL" clId="{FD55B928-8FF4-41B3-8EDD-B28A23CAEE1F}" dt="2026-02-23T16:09:53.434" v="272" actId="1076"/>
        <pc:sldMkLst>
          <pc:docMk/>
          <pc:sldMk cId="753645592" sldId="268"/>
        </pc:sldMkLst>
        <pc:spChg chg="mod">
          <ac:chgData name="Kyle J Johnsen" userId="dd73adbd-5351-478d-821b-56868881e8c0" providerId="ADAL" clId="{FD55B928-8FF4-41B3-8EDD-B28A23CAEE1F}" dt="2026-02-23T16:09:25.528" v="264" actId="20577"/>
          <ac:spMkLst>
            <pc:docMk/>
            <pc:sldMk cId="753645592" sldId="268"/>
            <ac:spMk id="2" creationId="{7563F7DF-C9AA-7584-CE30-D7F63D3842A6}"/>
          </ac:spMkLst>
        </pc:spChg>
        <pc:spChg chg="del">
          <ac:chgData name="Kyle J Johnsen" userId="dd73adbd-5351-478d-821b-56868881e8c0" providerId="ADAL" clId="{FD55B928-8FF4-41B3-8EDD-B28A23CAEE1F}" dt="2026-02-23T16:09:29.191" v="265" actId="478"/>
          <ac:spMkLst>
            <pc:docMk/>
            <pc:sldMk cId="753645592" sldId="268"/>
            <ac:spMk id="3" creationId="{189757F3-E167-3C9F-914B-0F279E7FD30C}"/>
          </ac:spMkLst>
        </pc:spChg>
        <pc:picChg chg="add mod">
          <ac:chgData name="Kyle J Johnsen" userId="dd73adbd-5351-478d-821b-56868881e8c0" providerId="ADAL" clId="{FD55B928-8FF4-41B3-8EDD-B28A23CAEE1F}" dt="2026-02-23T16:09:53.434" v="272" actId="1076"/>
          <ac:picMkLst>
            <pc:docMk/>
            <pc:sldMk cId="753645592" sldId="268"/>
            <ac:picMk id="5" creationId="{E06A3802-DAC4-5280-9D48-04876034867D}"/>
          </ac:picMkLst>
        </pc:picChg>
        <pc:picChg chg="add mod">
          <ac:chgData name="Kyle J Johnsen" userId="dd73adbd-5351-478d-821b-56868881e8c0" providerId="ADAL" clId="{FD55B928-8FF4-41B3-8EDD-B28A23CAEE1F}" dt="2026-02-23T16:09:51.920" v="271" actId="1076"/>
          <ac:picMkLst>
            <pc:docMk/>
            <pc:sldMk cId="753645592" sldId="268"/>
            <ac:picMk id="7" creationId="{60691148-E273-68E9-7F7A-ADFC7CEC852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35E9-2622-32DA-F153-C4D7F09330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2F9D9E-FC98-89C4-0550-669B28062A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8CE75A-BFA0-0754-EC63-050238B20169}"/>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60BADBE4-C2FD-799F-3F3F-529EDBF4D80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77CF35-0E52-3299-C598-F11742B6E04B}"/>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314870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B0EC5-672A-AFD0-CBE6-F6BEFE8444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0018FD-CB54-2FB8-DC28-B278629AF1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61D120-00FC-8F87-6FA7-2C62466A2A13}"/>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D5043259-40F5-89C0-5E59-AB8B4A10E0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64ABF0D-38CB-63A2-95AC-053C85832B2C}"/>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964199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B957-2A20-5956-C0A6-9C7AD1C8D6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150280-043F-A2E1-9FE8-74979CB473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B58E3A-6F88-BFD7-974D-FA5237573097}"/>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E0405DF9-27AA-B464-2167-4D58E7F05B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7D75D06-2702-8274-BD08-5C2736CE2D02}"/>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2620237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2836-BE0B-A3FA-54E0-E54CA3329F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DE7AC-1478-77B4-64DB-711D20090E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2DBB2E-6A14-4EC2-560B-46CF5EB9E2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0143D-90A6-73B6-CD1D-B559FC39685A}"/>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6" name="Footer Placeholder 5">
            <a:extLst>
              <a:ext uri="{FF2B5EF4-FFF2-40B4-BE49-F238E27FC236}">
                <a16:creationId xmlns:a16="http://schemas.microsoft.com/office/drawing/2014/main" id="{D08AE1E0-FC5E-CE55-8AE0-A0024503408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06FCB7-4975-3B00-D33D-57AD61F792FF}"/>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757400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10B38-56D9-88AC-D491-885DEA5E95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70E879-F1FE-4052-E66F-D0F2B3D0EE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033A8F-4396-68E7-D6F2-BC25C44ACB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247B88-FEB7-719F-CC9A-759AC5F2E1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4AB986-7C71-C5F7-8AA9-4A37A7E42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5FF97-14E7-CC56-F039-29BBFF258675}"/>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8" name="Footer Placeholder 7">
            <a:extLst>
              <a:ext uri="{FF2B5EF4-FFF2-40B4-BE49-F238E27FC236}">
                <a16:creationId xmlns:a16="http://schemas.microsoft.com/office/drawing/2014/main" id="{B6CF8F96-A567-BD1F-6583-1B3FF51CB10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9EE2DCE-4E74-C16B-9EF8-6650A26C3A3C}"/>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620716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BE04F-FA68-2231-E55E-5C8C6CF595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C3495F-AA31-EA92-76B0-39B463F7FFD5}"/>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4" name="Footer Placeholder 3">
            <a:extLst>
              <a:ext uri="{FF2B5EF4-FFF2-40B4-BE49-F238E27FC236}">
                <a16:creationId xmlns:a16="http://schemas.microsoft.com/office/drawing/2014/main" id="{0D246E8F-2062-3660-C471-00F04CC0784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40E1FAA-E877-A8F5-1471-646573B00045}"/>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1121014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E96BFC-6B71-D71A-9C8C-62B563E527E0}"/>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3" name="Footer Placeholder 2">
            <a:extLst>
              <a:ext uri="{FF2B5EF4-FFF2-40B4-BE49-F238E27FC236}">
                <a16:creationId xmlns:a16="http://schemas.microsoft.com/office/drawing/2014/main" id="{4A499D69-06DA-C2A6-394C-CD87C4C7EB2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B9192C2-6C72-ABFD-827A-48064A50820A}"/>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177843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FF2B-3533-8235-8DF1-22E6358629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38AC2E-2735-C431-C348-C660CACD8E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9F3647-D689-5552-A26E-897A6A0D6B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06C29-5A38-129B-4E24-5DED4E1DED74}"/>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6" name="Footer Placeholder 5">
            <a:extLst>
              <a:ext uri="{FF2B5EF4-FFF2-40B4-BE49-F238E27FC236}">
                <a16:creationId xmlns:a16="http://schemas.microsoft.com/office/drawing/2014/main" id="{E120AD11-7FF0-B420-202D-C2D41964375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E90B6A8-0188-3536-DCFD-610448DD3453}"/>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331631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FDA66-5B94-0A3F-2FF1-C865D47F3E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0B5A2A-44B1-5FFA-124B-92B8C2852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4D4BB46-FD68-32B0-79E4-51C633EA6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EEC41-0751-E7DF-A358-FAD15EAD58EC}"/>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6" name="Footer Placeholder 5">
            <a:extLst>
              <a:ext uri="{FF2B5EF4-FFF2-40B4-BE49-F238E27FC236}">
                <a16:creationId xmlns:a16="http://schemas.microsoft.com/office/drawing/2014/main" id="{5BC5CCCC-7C99-0C7E-EE28-2F94F30ED56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40B97A-5427-E599-A87D-CD55F467B935}"/>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4128785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A40D-AA17-1DD6-662F-A0122C7003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AE44A5-3951-8DC9-260C-BCA275A087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D2063-D41B-29FE-AD32-012C0400B825}"/>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109F617F-E49E-C083-EE5A-BD19C47A664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7111B5-B305-77CD-09C0-635C731B3321}"/>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436728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90568-7573-8B00-24C3-8D0F8FA523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26B34C-20D5-7FD5-7BB4-120832B4BF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DA8F8F-8978-B970-DCC5-25F01E24D6CB}"/>
              </a:ext>
            </a:extLst>
          </p:cNvPr>
          <p:cNvSpPr>
            <a:spLocks noGrp="1"/>
          </p:cNvSpPr>
          <p:nvPr>
            <p:ph type="dt" sz="half" idx="10"/>
          </p:nvPr>
        </p:nvSpPr>
        <p:spPr/>
        <p:txBody>
          <a:body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B669CD75-EC3C-C6D4-438E-15AF0AEE7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DE05DC5-1906-D2C4-51AA-2AA823AC6419}"/>
              </a:ext>
            </a:extLst>
          </p:cNvPr>
          <p:cNvSpPr>
            <a:spLocks noGrp="1"/>
          </p:cNvSpPr>
          <p:nvPr>
            <p:ph type="sldNum" sz="quarter" idx="12"/>
          </p:nvPr>
        </p:nvSpPr>
        <p:spPr/>
        <p:txBody>
          <a:bodyPr/>
          <a:lstStyle/>
          <a:p>
            <a:fld id="{A76E56ED-A9BE-4B96-82CE-0FBD2F8C817C}" type="slidenum">
              <a:rPr lang="en-US" smtClean="0"/>
              <a:t>‹#›</a:t>
            </a:fld>
            <a:endParaRPr lang="en-US" dirty="0"/>
          </a:p>
        </p:txBody>
      </p:sp>
    </p:spTree>
    <p:extLst>
      <p:ext uri="{BB962C8B-B14F-4D97-AF65-F5344CB8AC3E}">
        <p14:creationId xmlns:p14="http://schemas.microsoft.com/office/powerpoint/2010/main" val="218076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99A0F8-C2DD-92E7-F9E8-724D6745B8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87FB9E-EA7F-1285-FB49-6135AD948A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23933-7C85-F751-C240-DDC02C9D5F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961073-2E4D-4142-81D9-7B41B707079C}" type="datetimeFigureOut">
              <a:rPr lang="en-US" smtClean="0"/>
              <a:t>2/23/2026</a:t>
            </a:fld>
            <a:endParaRPr lang="en-US" dirty="0"/>
          </a:p>
        </p:txBody>
      </p:sp>
      <p:sp>
        <p:nvSpPr>
          <p:cNvPr id="5" name="Footer Placeholder 4">
            <a:extLst>
              <a:ext uri="{FF2B5EF4-FFF2-40B4-BE49-F238E27FC236}">
                <a16:creationId xmlns:a16="http://schemas.microsoft.com/office/drawing/2014/main" id="{8A832BD1-6CC9-EF70-F83D-397F4945D2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834B61DF-1110-8E12-0560-6FC787C598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E56ED-A9BE-4B96-82CE-0FBD2F8C817C}" type="slidenum">
              <a:rPr lang="en-US" smtClean="0"/>
              <a:t>‹#›</a:t>
            </a:fld>
            <a:endParaRPr lang="en-US" dirty="0"/>
          </a:p>
        </p:txBody>
      </p:sp>
    </p:spTree>
    <p:extLst>
      <p:ext uri="{BB962C8B-B14F-4D97-AF65-F5344CB8AC3E}">
        <p14:creationId xmlns:p14="http://schemas.microsoft.com/office/powerpoint/2010/main" val="408470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EC4FB-946D-CF7C-8A6E-CAC8EEB43D4D}"/>
              </a:ext>
            </a:extLst>
          </p:cNvPr>
          <p:cNvSpPr>
            <a:spLocks noGrp="1"/>
          </p:cNvSpPr>
          <p:nvPr>
            <p:ph type="ctrTitle"/>
          </p:nvPr>
        </p:nvSpPr>
        <p:spPr/>
        <p:txBody>
          <a:bodyPr/>
          <a:lstStyle/>
          <a:p>
            <a:r>
              <a:rPr lang="en-US" dirty="0"/>
              <a:t>Internet of Things (IoT) Programming</a:t>
            </a:r>
          </a:p>
        </p:txBody>
      </p:sp>
      <p:sp>
        <p:nvSpPr>
          <p:cNvPr id="3" name="Subtitle 2">
            <a:extLst>
              <a:ext uri="{FF2B5EF4-FFF2-40B4-BE49-F238E27FC236}">
                <a16:creationId xmlns:a16="http://schemas.microsoft.com/office/drawing/2014/main" id="{1D747175-006C-9350-98EA-323A65FF0132}"/>
              </a:ext>
            </a:extLst>
          </p:cNvPr>
          <p:cNvSpPr>
            <a:spLocks noGrp="1"/>
          </p:cNvSpPr>
          <p:nvPr>
            <p:ph type="subTitle" idx="1"/>
          </p:nvPr>
        </p:nvSpPr>
        <p:spPr/>
        <p:txBody>
          <a:bodyPr/>
          <a:lstStyle/>
          <a:p>
            <a:r>
              <a:rPr lang="en-US" dirty="0"/>
              <a:t>Kyle Johnsen</a:t>
            </a:r>
          </a:p>
        </p:txBody>
      </p:sp>
    </p:spTree>
    <p:extLst>
      <p:ext uri="{BB962C8B-B14F-4D97-AF65-F5344CB8AC3E}">
        <p14:creationId xmlns:p14="http://schemas.microsoft.com/office/powerpoint/2010/main" val="214368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9780-1EF9-E3F0-2B90-73CDF68749CE}"/>
              </a:ext>
            </a:extLst>
          </p:cNvPr>
          <p:cNvSpPr>
            <a:spLocks noGrp="1"/>
          </p:cNvSpPr>
          <p:nvPr>
            <p:ph type="title"/>
          </p:nvPr>
        </p:nvSpPr>
        <p:spPr/>
        <p:txBody>
          <a:bodyPr/>
          <a:lstStyle/>
          <a:p>
            <a:r>
              <a:rPr lang="en-US" dirty="0"/>
              <a:t>Basics of IoT</a:t>
            </a:r>
          </a:p>
        </p:txBody>
      </p:sp>
      <p:sp>
        <p:nvSpPr>
          <p:cNvPr id="3" name="Content Placeholder 2">
            <a:extLst>
              <a:ext uri="{FF2B5EF4-FFF2-40B4-BE49-F238E27FC236}">
                <a16:creationId xmlns:a16="http://schemas.microsoft.com/office/drawing/2014/main" id="{48F0EFD4-5D45-691B-4955-191E09F45F6C}"/>
              </a:ext>
            </a:extLst>
          </p:cNvPr>
          <p:cNvSpPr>
            <a:spLocks noGrp="1"/>
          </p:cNvSpPr>
          <p:nvPr>
            <p:ph idx="1"/>
          </p:nvPr>
        </p:nvSpPr>
        <p:spPr/>
        <p:txBody>
          <a:bodyPr>
            <a:normAutofit fontScale="92500" lnSpcReduction="20000"/>
          </a:bodyPr>
          <a:lstStyle/>
          <a:p>
            <a:r>
              <a:rPr lang="en-US" dirty="0"/>
              <a:t>The field is defined by constraints:</a:t>
            </a:r>
          </a:p>
          <a:p>
            <a:pPr lvl="1"/>
            <a:r>
              <a:rPr lang="en-US" b="1" dirty="0"/>
              <a:t>Connectivity</a:t>
            </a:r>
          </a:p>
          <a:p>
            <a:pPr lvl="1"/>
            <a:r>
              <a:rPr lang="en-US" dirty="0"/>
              <a:t>Power</a:t>
            </a:r>
          </a:p>
          <a:p>
            <a:pPr lvl="1"/>
            <a:r>
              <a:rPr lang="en-US" dirty="0"/>
              <a:t>Security</a:t>
            </a:r>
          </a:p>
          <a:p>
            <a:pPr lvl="1"/>
            <a:r>
              <a:rPr lang="en-US" dirty="0"/>
              <a:t>Cost</a:t>
            </a:r>
          </a:p>
          <a:p>
            <a:pPr lvl="1"/>
            <a:endParaRPr lang="en-US" dirty="0"/>
          </a:p>
          <a:p>
            <a:r>
              <a:rPr lang="en-US" dirty="0"/>
              <a:t>Examples of IoT</a:t>
            </a:r>
          </a:p>
          <a:p>
            <a:pPr lvl="1"/>
            <a:r>
              <a:rPr lang="en-US" dirty="0"/>
              <a:t>Home Sensors/automation</a:t>
            </a:r>
          </a:p>
          <a:p>
            <a:pPr lvl="1"/>
            <a:r>
              <a:rPr lang="en-US" dirty="0"/>
              <a:t>Smart parking lots</a:t>
            </a:r>
          </a:p>
          <a:p>
            <a:pPr lvl="1"/>
            <a:r>
              <a:rPr lang="en-US" dirty="0"/>
              <a:t>Digital Twins </a:t>
            </a:r>
          </a:p>
          <a:p>
            <a:pPr lvl="1"/>
            <a:endParaRPr lang="en-US" dirty="0"/>
          </a:p>
          <a:p>
            <a:r>
              <a:rPr lang="en-US" dirty="0"/>
              <a:t>Much of the benefit comes from basic “</a:t>
            </a:r>
            <a:r>
              <a:rPr lang="en-US" b="1" dirty="0"/>
              <a:t>telemetry</a:t>
            </a:r>
            <a:r>
              <a:rPr lang="en-US" dirty="0"/>
              <a:t>”, but control is possible as well</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038447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2DCC-3074-7D23-D56A-EAE4C7DA5996}"/>
              </a:ext>
            </a:extLst>
          </p:cNvPr>
          <p:cNvSpPr>
            <a:spLocks noGrp="1"/>
          </p:cNvSpPr>
          <p:nvPr>
            <p:ph type="title"/>
          </p:nvPr>
        </p:nvSpPr>
        <p:spPr/>
        <p:txBody>
          <a:bodyPr/>
          <a:lstStyle/>
          <a:p>
            <a:r>
              <a:rPr lang="en-US" dirty="0"/>
              <a:t>IoT Messaging</a:t>
            </a:r>
          </a:p>
        </p:txBody>
      </p:sp>
      <p:sp>
        <p:nvSpPr>
          <p:cNvPr id="3" name="Content Placeholder 2">
            <a:extLst>
              <a:ext uri="{FF2B5EF4-FFF2-40B4-BE49-F238E27FC236}">
                <a16:creationId xmlns:a16="http://schemas.microsoft.com/office/drawing/2014/main" id="{2C35C57F-F8A2-CD9A-1B91-9F72B8281C66}"/>
              </a:ext>
            </a:extLst>
          </p:cNvPr>
          <p:cNvSpPr>
            <a:spLocks noGrp="1"/>
          </p:cNvSpPr>
          <p:nvPr>
            <p:ph idx="1"/>
          </p:nvPr>
        </p:nvSpPr>
        <p:spPr/>
        <p:txBody>
          <a:bodyPr>
            <a:normAutofit/>
          </a:bodyPr>
          <a:lstStyle/>
          <a:p>
            <a:r>
              <a:rPr lang="en-US" dirty="0"/>
              <a:t>Base layer is the </a:t>
            </a:r>
            <a:r>
              <a:rPr lang="en-US" b="1" dirty="0"/>
              <a:t>Internet</a:t>
            </a:r>
            <a:r>
              <a:rPr lang="en-US" dirty="0"/>
              <a:t> Protocol (IP), then Transport (</a:t>
            </a:r>
            <a:r>
              <a:rPr lang="en-US" b="1" dirty="0"/>
              <a:t>TCP</a:t>
            </a:r>
            <a:r>
              <a:rPr lang="en-US" dirty="0"/>
              <a:t>, UDP) </a:t>
            </a:r>
          </a:p>
          <a:p>
            <a:pPr lvl="1"/>
            <a:r>
              <a:rPr lang="en-US" dirty="0"/>
              <a:t>Routers “speak” IP to deliver packets between IP addresses</a:t>
            </a:r>
          </a:p>
          <a:p>
            <a:pPr lvl="1"/>
            <a:r>
              <a:rPr lang="en-US" dirty="0"/>
              <a:t>Devices “speak” TCP/UDP to deliver datagrams to specific services at IP addresses and </a:t>
            </a:r>
            <a:r>
              <a:rPr lang="en-US" b="1" dirty="0"/>
              <a:t>Ports</a:t>
            </a:r>
          </a:p>
          <a:p>
            <a:pPr lvl="1"/>
            <a:r>
              <a:rPr lang="en-US" dirty="0"/>
              <a:t>Servers broker messages sent with protocols such as </a:t>
            </a:r>
            <a:r>
              <a:rPr lang="en-US" b="1" dirty="0"/>
              <a:t>HTTP</a:t>
            </a:r>
            <a:r>
              <a:rPr lang="en-US" dirty="0"/>
              <a:t> or </a:t>
            </a:r>
            <a:r>
              <a:rPr lang="en-US" b="1" dirty="0"/>
              <a:t>MQTT</a:t>
            </a:r>
          </a:p>
          <a:p>
            <a:r>
              <a:rPr lang="en-US" dirty="0"/>
              <a:t>IOT relies upon </a:t>
            </a:r>
            <a:r>
              <a:rPr lang="en-US" u="sng" dirty="0"/>
              <a:t>connectable</a:t>
            </a:r>
            <a:r>
              <a:rPr lang="en-US" dirty="0"/>
              <a:t> </a:t>
            </a:r>
            <a:r>
              <a:rPr lang="en-US" b="1" dirty="0"/>
              <a:t>servers</a:t>
            </a:r>
          </a:p>
          <a:p>
            <a:pPr lvl="1"/>
            <a:r>
              <a:rPr lang="en-US" dirty="0"/>
              <a:t>Why can’t we connect directly? - Firewalls/Security/Random IP addresses</a:t>
            </a:r>
          </a:p>
          <a:p>
            <a:pPr lvl="1"/>
            <a:endParaRPr lang="en-US" dirty="0"/>
          </a:p>
          <a:p>
            <a:pPr marL="0" indent="0">
              <a:buNone/>
            </a:pPr>
            <a:r>
              <a:rPr lang="en-US" dirty="0"/>
              <a:t>Note: The </a:t>
            </a:r>
            <a:r>
              <a:rPr lang="en-US" b="1" dirty="0"/>
              <a:t>physical</a:t>
            </a:r>
            <a:r>
              <a:rPr lang="en-US" dirty="0"/>
              <a:t> layer can be anything (Ethernet, </a:t>
            </a:r>
            <a:r>
              <a:rPr lang="en-US" dirty="0" err="1"/>
              <a:t>WiFi</a:t>
            </a:r>
            <a:r>
              <a:rPr lang="en-US" dirty="0"/>
              <a:t>, Bluetooth, LoRa, </a:t>
            </a:r>
            <a:r>
              <a:rPr lang="en-US" dirty="0" err="1"/>
              <a:t>etc</a:t>
            </a:r>
            <a:r>
              <a:rPr lang="en-US" dirty="0"/>
              <a:t>).  As long as you get the ability to communicate over </a:t>
            </a:r>
            <a:r>
              <a:rPr lang="en-US" b="1" dirty="0"/>
              <a:t>IP</a:t>
            </a:r>
            <a:r>
              <a:rPr lang="en-US" dirty="0"/>
              <a:t>) </a:t>
            </a:r>
          </a:p>
        </p:txBody>
      </p:sp>
    </p:spTree>
    <p:extLst>
      <p:ext uri="{BB962C8B-B14F-4D97-AF65-F5344CB8AC3E}">
        <p14:creationId xmlns:p14="http://schemas.microsoft.com/office/powerpoint/2010/main" val="255415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03C9-5E7A-809F-ECAB-722EE470D78D}"/>
              </a:ext>
            </a:extLst>
          </p:cNvPr>
          <p:cNvSpPr>
            <a:spLocks noGrp="1"/>
          </p:cNvSpPr>
          <p:nvPr>
            <p:ph type="title"/>
          </p:nvPr>
        </p:nvSpPr>
        <p:spPr/>
        <p:txBody>
          <a:bodyPr/>
          <a:lstStyle/>
          <a:p>
            <a:r>
              <a:rPr lang="en-US" dirty="0"/>
              <a:t>Options for IoT Servers</a:t>
            </a:r>
          </a:p>
        </p:txBody>
      </p:sp>
      <p:sp>
        <p:nvSpPr>
          <p:cNvPr id="3" name="Content Placeholder 2">
            <a:extLst>
              <a:ext uri="{FF2B5EF4-FFF2-40B4-BE49-F238E27FC236}">
                <a16:creationId xmlns:a16="http://schemas.microsoft.com/office/drawing/2014/main" id="{D12E00A5-10EE-B114-4978-D0980F7F6244}"/>
              </a:ext>
            </a:extLst>
          </p:cNvPr>
          <p:cNvSpPr>
            <a:spLocks noGrp="1"/>
          </p:cNvSpPr>
          <p:nvPr>
            <p:ph idx="1"/>
          </p:nvPr>
        </p:nvSpPr>
        <p:spPr/>
        <p:txBody>
          <a:bodyPr>
            <a:normAutofit/>
          </a:bodyPr>
          <a:lstStyle/>
          <a:p>
            <a:r>
              <a:rPr lang="en-US" dirty="0"/>
              <a:t>Private server (complex, but total flexibility)</a:t>
            </a:r>
          </a:p>
          <a:p>
            <a:pPr lvl="1"/>
            <a:r>
              <a:rPr lang="en-US" dirty="0"/>
              <a:t>Buy/own a </a:t>
            </a:r>
            <a:r>
              <a:rPr lang="en-US" b="1" dirty="0"/>
              <a:t>public internet connection</a:t>
            </a:r>
            <a:r>
              <a:rPr lang="en-US" dirty="0"/>
              <a:t> and connect a physical machine </a:t>
            </a:r>
          </a:p>
          <a:p>
            <a:pPr lvl="1"/>
            <a:r>
              <a:rPr lang="en-US" dirty="0"/>
              <a:t>Provision a computer in the </a:t>
            </a:r>
            <a:r>
              <a:rPr lang="en-US" b="1" dirty="0"/>
              <a:t>cloud</a:t>
            </a:r>
            <a:r>
              <a:rPr lang="en-US" dirty="0"/>
              <a:t> (free tiers exist) (AWS, Azure, Oracle)</a:t>
            </a:r>
          </a:p>
          <a:p>
            <a:pPr lvl="1"/>
            <a:r>
              <a:rPr lang="en-US" b="1" dirty="0"/>
              <a:t>Forward</a:t>
            </a:r>
            <a:r>
              <a:rPr lang="en-US" dirty="0"/>
              <a:t> specific ports from your home router to a local computer </a:t>
            </a:r>
          </a:p>
          <a:p>
            <a:endParaRPr lang="en-US" b="1" dirty="0"/>
          </a:p>
          <a:p>
            <a:r>
              <a:rPr lang="en-US" dirty="0"/>
              <a:t>Public server  (quick but constrained)</a:t>
            </a:r>
          </a:p>
          <a:p>
            <a:pPr lvl="1"/>
            <a:r>
              <a:rPr lang="en-US" b="1" dirty="0"/>
              <a:t>Ngrok</a:t>
            </a:r>
            <a:r>
              <a:rPr lang="en-US" dirty="0"/>
              <a:t> - makes a tunnel through a public server to your local computer</a:t>
            </a:r>
          </a:p>
          <a:p>
            <a:pPr lvl="1"/>
            <a:r>
              <a:rPr lang="en-US" b="1" dirty="0"/>
              <a:t>PythonAnywhere</a:t>
            </a:r>
            <a:r>
              <a:rPr lang="en-US" dirty="0"/>
              <a:t> - Run an application in the cloud</a:t>
            </a:r>
          </a:p>
          <a:p>
            <a:pPr lvl="1"/>
            <a:r>
              <a:rPr lang="en-US" b="1" dirty="0"/>
              <a:t>Cloudflare tunnels – </a:t>
            </a:r>
            <a:r>
              <a:rPr lang="en-US" dirty="0"/>
              <a:t>Very flexible.  Supports free (no sign-up) quick tunnels to locally running applications on </a:t>
            </a:r>
            <a:r>
              <a:rPr lang="en-US"/>
              <a:t>your computer.  </a:t>
            </a:r>
            <a:endParaRPr lang="en-US" b="1" dirty="0"/>
          </a:p>
          <a:p>
            <a:endParaRPr lang="en-US" dirty="0"/>
          </a:p>
        </p:txBody>
      </p:sp>
    </p:spTree>
    <p:extLst>
      <p:ext uri="{BB962C8B-B14F-4D97-AF65-F5344CB8AC3E}">
        <p14:creationId xmlns:p14="http://schemas.microsoft.com/office/powerpoint/2010/main" val="2946227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FEA6-F498-C8B3-EC73-3199D09E6E32}"/>
              </a:ext>
            </a:extLst>
          </p:cNvPr>
          <p:cNvSpPr>
            <a:spLocks noGrp="1"/>
          </p:cNvSpPr>
          <p:nvPr>
            <p:ph type="title"/>
          </p:nvPr>
        </p:nvSpPr>
        <p:spPr/>
        <p:txBody>
          <a:bodyPr/>
          <a:lstStyle/>
          <a:p>
            <a:r>
              <a:rPr lang="en-US" dirty="0"/>
              <a:t>Messaging Options</a:t>
            </a:r>
          </a:p>
        </p:txBody>
      </p:sp>
      <p:sp>
        <p:nvSpPr>
          <p:cNvPr id="3" name="Content Placeholder 2">
            <a:extLst>
              <a:ext uri="{FF2B5EF4-FFF2-40B4-BE49-F238E27FC236}">
                <a16:creationId xmlns:a16="http://schemas.microsoft.com/office/drawing/2014/main" id="{4A7919B9-C2BA-B8E0-91E0-2928BA5C25D6}"/>
              </a:ext>
            </a:extLst>
          </p:cNvPr>
          <p:cNvSpPr>
            <a:spLocks noGrp="1"/>
          </p:cNvSpPr>
          <p:nvPr>
            <p:ph idx="1"/>
          </p:nvPr>
        </p:nvSpPr>
        <p:spPr/>
        <p:txBody>
          <a:bodyPr>
            <a:normAutofit fontScale="85000" lnSpcReduction="20000"/>
          </a:bodyPr>
          <a:lstStyle/>
          <a:p>
            <a:r>
              <a:rPr lang="en-US" dirty="0"/>
              <a:t>MQTT - Message Queuing Telemetry Transport</a:t>
            </a:r>
          </a:p>
          <a:p>
            <a:pPr lvl="1"/>
            <a:r>
              <a:rPr lang="en-US" dirty="0"/>
              <a:t>A </a:t>
            </a:r>
            <a:r>
              <a:rPr lang="en-US" b="1" dirty="0"/>
              <a:t>standard</a:t>
            </a:r>
            <a:r>
              <a:rPr lang="en-US" dirty="0"/>
              <a:t> IoT communication framework (also useful for other things)</a:t>
            </a:r>
          </a:p>
          <a:p>
            <a:pPr lvl="1"/>
            <a:r>
              <a:rPr lang="en-US" dirty="0"/>
              <a:t>Publish-Subscribe model</a:t>
            </a:r>
          </a:p>
          <a:p>
            <a:pPr lvl="2"/>
            <a:r>
              <a:rPr lang="en-US" dirty="0"/>
              <a:t>Publish to a topic, Subscribe to a topic</a:t>
            </a:r>
          </a:p>
          <a:p>
            <a:pPr lvl="2"/>
            <a:r>
              <a:rPr lang="en-US" dirty="0"/>
              <a:t>Actual bytes sent are up to you</a:t>
            </a:r>
          </a:p>
          <a:p>
            <a:pPr lvl="1"/>
            <a:r>
              <a:rPr lang="en-US" dirty="0"/>
              <a:t>“Lightweight” </a:t>
            </a:r>
          </a:p>
          <a:p>
            <a:pPr lvl="2"/>
            <a:r>
              <a:rPr lang="en-US" dirty="0"/>
              <a:t>Options for security (nothing by default)</a:t>
            </a:r>
          </a:p>
          <a:p>
            <a:pPr lvl="1"/>
            <a:r>
              <a:rPr lang="en-US" dirty="0"/>
              <a:t>Relies upon publicly connectable brokers</a:t>
            </a:r>
          </a:p>
          <a:p>
            <a:pPr lvl="2"/>
            <a:r>
              <a:rPr lang="en-US" dirty="0" err="1"/>
              <a:t>Mosquitto</a:t>
            </a:r>
            <a:r>
              <a:rPr lang="en-US" dirty="0"/>
              <a:t> is an open-source broker</a:t>
            </a:r>
          </a:p>
          <a:p>
            <a:r>
              <a:rPr lang="en-US" dirty="0"/>
              <a:t>HTTP - </a:t>
            </a:r>
            <a:r>
              <a:rPr lang="en-US" dirty="0" err="1"/>
              <a:t>HyperText</a:t>
            </a:r>
            <a:r>
              <a:rPr lang="en-US" dirty="0"/>
              <a:t> Transport Protocol</a:t>
            </a:r>
          </a:p>
          <a:p>
            <a:pPr lvl="1"/>
            <a:r>
              <a:rPr lang="en-US" dirty="0"/>
              <a:t>A </a:t>
            </a:r>
            <a:r>
              <a:rPr lang="en-US" b="1" dirty="0"/>
              <a:t>standard</a:t>
            </a:r>
            <a:r>
              <a:rPr lang="en-US" dirty="0"/>
              <a:t> Web communication Framework</a:t>
            </a:r>
          </a:p>
          <a:p>
            <a:pPr lvl="2"/>
            <a:r>
              <a:rPr lang="en-US" dirty="0"/>
              <a:t>Can be used for IOT</a:t>
            </a:r>
          </a:p>
          <a:p>
            <a:pPr lvl="2"/>
            <a:r>
              <a:rPr lang="en-US" dirty="0"/>
              <a:t>Often the only option because of security limitations</a:t>
            </a:r>
          </a:p>
          <a:p>
            <a:pPr lvl="1"/>
            <a:r>
              <a:rPr lang="en-US" dirty="0"/>
              <a:t>Request-Response model</a:t>
            </a:r>
          </a:p>
          <a:p>
            <a:pPr lvl="2"/>
            <a:r>
              <a:rPr lang="en-US" dirty="0"/>
              <a:t>Must create your own communication </a:t>
            </a:r>
            <a:r>
              <a:rPr lang="en-US" b="1" dirty="0"/>
              <a:t>routes</a:t>
            </a:r>
            <a:r>
              <a:rPr lang="en-US" dirty="0"/>
              <a:t> on the server</a:t>
            </a:r>
          </a:p>
        </p:txBody>
      </p:sp>
    </p:spTree>
    <p:extLst>
      <p:ext uri="{BB962C8B-B14F-4D97-AF65-F5344CB8AC3E}">
        <p14:creationId xmlns:p14="http://schemas.microsoft.com/office/powerpoint/2010/main" val="1744454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E0D-8CBA-BA14-E230-D81862DA5AA8}"/>
              </a:ext>
            </a:extLst>
          </p:cNvPr>
          <p:cNvSpPr>
            <a:spLocks noGrp="1"/>
          </p:cNvSpPr>
          <p:nvPr>
            <p:ph type="title"/>
          </p:nvPr>
        </p:nvSpPr>
        <p:spPr/>
        <p:txBody>
          <a:bodyPr/>
          <a:lstStyle/>
          <a:p>
            <a:r>
              <a:rPr lang="en-US" dirty="0"/>
              <a:t>MQTT Basics </a:t>
            </a:r>
          </a:p>
        </p:txBody>
      </p:sp>
      <p:sp>
        <p:nvSpPr>
          <p:cNvPr id="3" name="Content Placeholder 2">
            <a:extLst>
              <a:ext uri="{FF2B5EF4-FFF2-40B4-BE49-F238E27FC236}">
                <a16:creationId xmlns:a16="http://schemas.microsoft.com/office/drawing/2014/main" id="{B405DAFD-2468-37AA-3C65-C87494FB75CB}"/>
              </a:ext>
            </a:extLst>
          </p:cNvPr>
          <p:cNvSpPr>
            <a:spLocks noGrp="1"/>
          </p:cNvSpPr>
          <p:nvPr>
            <p:ph idx="1"/>
          </p:nvPr>
        </p:nvSpPr>
        <p:spPr/>
        <p:txBody>
          <a:bodyPr>
            <a:normAutofit fontScale="85000" lnSpcReduction="20000"/>
          </a:bodyPr>
          <a:lstStyle/>
          <a:p>
            <a:r>
              <a:rPr lang="en-US" dirty="0"/>
              <a:t>You first configure a client</a:t>
            </a:r>
          </a:p>
          <a:p>
            <a:pPr lvl="1"/>
            <a:r>
              <a:rPr lang="en-US" dirty="0"/>
              <a:t>Username/password (</a:t>
            </a:r>
            <a:r>
              <a:rPr lang="en-US" dirty="0" err="1"/>
              <a:t>giiuser,giipassword</a:t>
            </a:r>
            <a:r>
              <a:rPr lang="en-US" dirty="0"/>
              <a:t>)</a:t>
            </a:r>
          </a:p>
          <a:p>
            <a:pPr lvl="1"/>
            <a:r>
              <a:rPr lang="en-US" dirty="0"/>
              <a:t>Callback functions</a:t>
            </a:r>
          </a:p>
          <a:p>
            <a:r>
              <a:rPr lang="en-US" dirty="0"/>
              <a:t>Then you </a:t>
            </a:r>
            <a:r>
              <a:rPr lang="en-US" b="1" dirty="0"/>
              <a:t>connect</a:t>
            </a:r>
            <a:r>
              <a:rPr lang="en-US" dirty="0"/>
              <a:t> to a broker server</a:t>
            </a:r>
          </a:p>
          <a:p>
            <a:pPr lvl="1"/>
            <a:r>
              <a:rPr lang="en-US" dirty="0"/>
              <a:t>Need the </a:t>
            </a:r>
            <a:r>
              <a:rPr lang="en-US" dirty="0" err="1"/>
              <a:t>ip</a:t>
            </a:r>
            <a:r>
              <a:rPr lang="en-US" dirty="0"/>
              <a:t> address / host name &amp; port -&gt; eduoracle.ugavel.com, port 1883</a:t>
            </a:r>
          </a:p>
          <a:p>
            <a:r>
              <a:rPr lang="en-US" u="sng" dirty="0"/>
              <a:t>After</a:t>
            </a:r>
            <a:r>
              <a:rPr lang="en-US" dirty="0"/>
              <a:t> connecting (usually in the connection callback), you can </a:t>
            </a:r>
            <a:r>
              <a:rPr lang="en-US" b="1" dirty="0"/>
              <a:t>subscribe</a:t>
            </a:r>
            <a:r>
              <a:rPr lang="en-US" dirty="0"/>
              <a:t> and </a:t>
            </a:r>
            <a:r>
              <a:rPr lang="en-US" b="1" dirty="0"/>
              <a:t>publish </a:t>
            </a:r>
            <a:r>
              <a:rPr lang="en-US" dirty="0"/>
              <a:t>to </a:t>
            </a:r>
            <a:r>
              <a:rPr lang="en-US" b="1" dirty="0"/>
              <a:t>topics</a:t>
            </a:r>
          </a:p>
          <a:p>
            <a:pPr lvl="1"/>
            <a:r>
              <a:rPr lang="en-US" dirty="0"/>
              <a:t>Topics are arbitrary strings (e.g., elee2045sp25/button/</a:t>
            </a:r>
            <a:r>
              <a:rPr lang="en-US" dirty="0" err="1"/>
              <a:t>kjohnsen</a:t>
            </a:r>
            <a:r>
              <a:rPr lang="en-US" dirty="0"/>
              <a:t>)</a:t>
            </a:r>
          </a:p>
          <a:p>
            <a:pPr lvl="1"/>
            <a:r>
              <a:rPr lang="en-US" dirty="0"/>
              <a:t>Slashes are used with wildcard #s to subscribe to many topics at a time</a:t>
            </a:r>
          </a:p>
          <a:p>
            <a:pPr lvl="2"/>
            <a:r>
              <a:rPr lang="en-US" dirty="0"/>
              <a:t>e.g., elee2045sp25/button/# would subscribe to any topic starting with elee2045sp25/button/</a:t>
            </a:r>
          </a:p>
          <a:p>
            <a:pPr lvl="1"/>
            <a:r>
              <a:rPr lang="en-US" dirty="0"/>
              <a:t>MQTT messages always contain the topic and a data </a:t>
            </a:r>
            <a:r>
              <a:rPr lang="en-US" b="1" dirty="0"/>
              <a:t>payload</a:t>
            </a:r>
          </a:p>
          <a:p>
            <a:pPr lvl="1"/>
            <a:r>
              <a:rPr lang="en-US" dirty="0"/>
              <a:t>Payloads are </a:t>
            </a:r>
            <a:r>
              <a:rPr lang="en-US" b="1" dirty="0"/>
              <a:t>arbitrary length byte arrays </a:t>
            </a:r>
            <a:r>
              <a:rPr lang="en-US" dirty="0"/>
              <a:t>(e.g., a string, a struct, </a:t>
            </a:r>
            <a:r>
              <a:rPr lang="en-US" dirty="0" err="1"/>
              <a:t>etc</a:t>
            </a:r>
            <a:r>
              <a:rPr lang="en-US" dirty="0"/>
              <a:t>). </a:t>
            </a:r>
          </a:p>
          <a:p>
            <a:pPr lvl="1"/>
            <a:r>
              <a:rPr lang="en-US" dirty="0"/>
              <a:t>Messages published to a topic you have subscribed to are received in a callback function</a:t>
            </a:r>
          </a:p>
          <a:p>
            <a:pPr lvl="2"/>
            <a:r>
              <a:rPr lang="en-US" dirty="0"/>
              <a:t>You must </a:t>
            </a:r>
            <a:r>
              <a:rPr lang="en-US" b="1" dirty="0"/>
              <a:t>check the topic </a:t>
            </a:r>
            <a:r>
              <a:rPr lang="en-US" dirty="0"/>
              <a:t>to know how to read the message.</a:t>
            </a:r>
          </a:p>
        </p:txBody>
      </p:sp>
    </p:spTree>
    <p:extLst>
      <p:ext uri="{BB962C8B-B14F-4D97-AF65-F5344CB8AC3E}">
        <p14:creationId xmlns:p14="http://schemas.microsoft.com/office/powerpoint/2010/main" val="3211784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6884-9774-7F1B-A667-3BAA5B263160}"/>
              </a:ext>
            </a:extLst>
          </p:cNvPr>
          <p:cNvSpPr>
            <a:spLocks noGrp="1"/>
          </p:cNvSpPr>
          <p:nvPr>
            <p:ph type="title"/>
          </p:nvPr>
        </p:nvSpPr>
        <p:spPr/>
        <p:txBody>
          <a:bodyPr/>
          <a:lstStyle/>
          <a:p>
            <a:r>
              <a:rPr lang="en-US" dirty="0"/>
              <a:t>MQTT in Python (</a:t>
            </a:r>
            <a:r>
              <a:rPr lang="en-US" dirty="0" err="1"/>
              <a:t>paho-mqtt</a:t>
            </a:r>
            <a:r>
              <a:rPr lang="en-US" dirty="0"/>
              <a:t>)</a:t>
            </a:r>
          </a:p>
        </p:txBody>
      </p:sp>
      <p:sp>
        <p:nvSpPr>
          <p:cNvPr id="13" name="Content Placeholder 12">
            <a:extLst>
              <a:ext uri="{FF2B5EF4-FFF2-40B4-BE49-F238E27FC236}">
                <a16:creationId xmlns:a16="http://schemas.microsoft.com/office/drawing/2014/main" id="{E2DD4D45-DF6B-A6E5-D3FD-CD0825033014}"/>
              </a:ext>
            </a:extLst>
          </p:cNvPr>
          <p:cNvSpPr>
            <a:spLocks noGrp="1"/>
          </p:cNvSpPr>
          <p:nvPr>
            <p:ph idx="1"/>
          </p:nvPr>
        </p:nvSpPr>
        <p:spPr>
          <a:xfrm>
            <a:off x="838200" y="5638779"/>
            <a:ext cx="10515600" cy="1057443"/>
          </a:xfrm>
        </p:spPr>
        <p:txBody>
          <a:bodyPr>
            <a:normAutofit fontScale="92500"/>
          </a:bodyPr>
          <a:lstStyle/>
          <a:p>
            <a:r>
              <a:rPr lang="en-US" dirty="0"/>
              <a:t>pip install </a:t>
            </a:r>
            <a:r>
              <a:rPr lang="en-US" dirty="0" err="1"/>
              <a:t>paho-mqtt</a:t>
            </a:r>
            <a:endParaRPr lang="en-US" dirty="0"/>
          </a:p>
          <a:p>
            <a:r>
              <a:rPr lang="en-US" dirty="0"/>
              <a:t>Subscribe after connecting, make sure you are connected when you publish</a:t>
            </a:r>
          </a:p>
        </p:txBody>
      </p:sp>
      <p:pic>
        <p:nvPicPr>
          <p:cNvPr id="8" name="Picture 7">
            <a:extLst>
              <a:ext uri="{FF2B5EF4-FFF2-40B4-BE49-F238E27FC236}">
                <a16:creationId xmlns:a16="http://schemas.microsoft.com/office/drawing/2014/main" id="{33CACABA-8303-EDC7-A932-D3ADA0A4866D}"/>
              </a:ext>
            </a:extLst>
          </p:cNvPr>
          <p:cNvPicPr>
            <a:picLocks noChangeAspect="1"/>
          </p:cNvPicPr>
          <p:nvPr/>
        </p:nvPicPr>
        <p:blipFill>
          <a:blip r:embed="rId2"/>
          <a:stretch>
            <a:fillRect/>
          </a:stretch>
        </p:blipFill>
        <p:spPr>
          <a:xfrm>
            <a:off x="675668" y="1457050"/>
            <a:ext cx="4991797" cy="3943900"/>
          </a:xfrm>
          <a:prstGeom prst="rect">
            <a:avLst/>
          </a:prstGeom>
        </p:spPr>
      </p:pic>
      <p:pic>
        <p:nvPicPr>
          <p:cNvPr id="15" name="Picture 14">
            <a:extLst>
              <a:ext uri="{FF2B5EF4-FFF2-40B4-BE49-F238E27FC236}">
                <a16:creationId xmlns:a16="http://schemas.microsoft.com/office/drawing/2014/main" id="{E485269E-1B33-2BFC-668E-9AB36C547493}"/>
              </a:ext>
            </a:extLst>
          </p:cNvPr>
          <p:cNvPicPr>
            <a:picLocks noChangeAspect="1"/>
          </p:cNvPicPr>
          <p:nvPr/>
        </p:nvPicPr>
        <p:blipFill>
          <a:blip r:embed="rId3"/>
          <a:stretch>
            <a:fillRect/>
          </a:stretch>
        </p:blipFill>
        <p:spPr>
          <a:xfrm>
            <a:off x="5829997" y="1457050"/>
            <a:ext cx="5534797" cy="3048425"/>
          </a:xfrm>
          <a:prstGeom prst="rect">
            <a:avLst/>
          </a:prstGeom>
        </p:spPr>
      </p:pic>
    </p:spTree>
    <p:extLst>
      <p:ext uri="{BB962C8B-B14F-4D97-AF65-F5344CB8AC3E}">
        <p14:creationId xmlns:p14="http://schemas.microsoft.com/office/powerpoint/2010/main" val="2567906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60CF6-659E-AB5E-9F3A-BBDF1E529AB9}"/>
              </a:ext>
            </a:extLst>
          </p:cNvPr>
          <p:cNvSpPr>
            <a:spLocks noGrp="1"/>
          </p:cNvSpPr>
          <p:nvPr>
            <p:ph type="title"/>
          </p:nvPr>
        </p:nvSpPr>
        <p:spPr/>
        <p:txBody>
          <a:bodyPr/>
          <a:lstStyle/>
          <a:p>
            <a:r>
              <a:rPr lang="en-US" dirty="0"/>
              <a:t>MQTT in Arduino (Part 1: </a:t>
            </a:r>
            <a:r>
              <a:rPr lang="en-US" dirty="0" err="1"/>
              <a:t>WiFi</a:t>
            </a:r>
            <a:r>
              <a:rPr lang="en-US" dirty="0"/>
              <a:t> Credentials)</a:t>
            </a:r>
          </a:p>
        </p:txBody>
      </p:sp>
      <p:sp>
        <p:nvSpPr>
          <p:cNvPr id="29" name="TextBox 28">
            <a:extLst>
              <a:ext uri="{FF2B5EF4-FFF2-40B4-BE49-F238E27FC236}">
                <a16:creationId xmlns:a16="http://schemas.microsoft.com/office/drawing/2014/main" id="{BB591D8E-1CB2-4EE1-CA00-82842E904AD8}"/>
              </a:ext>
            </a:extLst>
          </p:cNvPr>
          <p:cNvSpPr txBox="1"/>
          <p:nvPr/>
        </p:nvSpPr>
        <p:spPr>
          <a:xfrm>
            <a:off x="259532" y="1811408"/>
            <a:ext cx="11620633" cy="923330"/>
          </a:xfrm>
          <a:prstGeom prst="rect">
            <a:avLst/>
          </a:prstGeom>
          <a:noFill/>
        </p:spPr>
        <p:txBody>
          <a:bodyPr wrap="square" rtlCol="0">
            <a:spAutoFit/>
          </a:bodyPr>
          <a:lstStyle/>
          <a:p>
            <a:r>
              <a:rPr lang="en-US" dirty="0"/>
              <a:t>You need to store your </a:t>
            </a:r>
            <a:r>
              <a:rPr lang="en-US" dirty="0" err="1"/>
              <a:t>WiFi</a:t>
            </a:r>
            <a:r>
              <a:rPr lang="en-US" dirty="0"/>
              <a:t> credentials inside the device by writing the below program (replacing the blank credentials with your own).  Subsequent programs can read these credentials.  This only needs to be done once, unless you change </a:t>
            </a:r>
            <a:r>
              <a:rPr lang="en-US" dirty="0" err="1"/>
              <a:t>wifi</a:t>
            </a:r>
            <a:r>
              <a:rPr lang="en-US" dirty="0"/>
              <a:t> networks.   You could also store multiple, and just try them in succession.</a:t>
            </a:r>
          </a:p>
        </p:txBody>
      </p:sp>
      <p:pic>
        <p:nvPicPr>
          <p:cNvPr id="33" name="Picture 32">
            <a:extLst>
              <a:ext uri="{FF2B5EF4-FFF2-40B4-BE49-F238E27FC236}">
                <a16:creationId xmlns:a16="http://schemas.microsoft.com/office/drawing/2014/main" id="{D6508DC5-9ADE-905E-34B7-F4C9DC76E13D}"/>
              </a:ext>
            </a:extLst>
          </p:cNvPr>
          <p:cNvPicPr>
            <a:picLocks noChangeAspect="1"/>
          </p:cNvPicPr>
          <p:nvPr/>
        </p:nvPicPr>
        <p:blipFill>
          <a:blip r:embed="rId2"/>
          <a:stretch>
            <a:fillRect/>
          </a:stretch>
        </p:blipFill>
        <p:spPr>
          <a:xfrm>
            <a:off x="2346759" y="2885912"/>
            <a:ext cx="6813325" cy="2504235"/>
          </a:xfrm>
          <a:prstGeom prst="rect">
            <a:avLst/>
          </a:prstGeom>
        </p:spPr>
      </p:pic>
    </p:spTree>
    <p:extLst>
      <p:ext uri="{BB962C8B-B14F-4D97-AF65-F5344CB8AC3E}">
        <p14:creationId xmlns:p14="http://schemas.microsoft.com/office/powerpoint/2010/main" val="334027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ED18B-85FF-1E31-F4C6-D2A76AA148AB}"/>
              </a:ext>
            </a:extLst>
          </p:cNvPr>
          <p:cNvSpPr>
            <a:spLocks noGrp="1"/>
          </p:cNvSpPr>
          <p:nvPr>
            <p:ph type="title"/>
          </p:nvPr>
        </p:nvSpPr>
        <p:spPr/>
        <p:txBody>
          <a:bodyPr>
            <a:normAutofit/>
          </a:bodyPr>
          <a:lstStyle/>
          <a:p>
            <a:r>
              <a:rPr lang="en-US" dirty="0"/>
              <a:t>MQTT In Arduino (Part 2: </a:t>
            </a:r>
            <a:r>
              <a:rPr lang="en-US" dirty="0" err="1"/>
              <a:t>WiFi</a:t>
            </a:r>
            <a:r>
              <a:rPr lang="en-US" dirty="0"/>
              <a:t> Connection)</a:t>
            </a:r>
          </a:p>
        </p:txBody>
      </p:sp>
      <p:sp>
        <p:nvSpPr>
          <p:cNvPr id="18" name="Content Placeholder 17">
            <a:extLst>
              <a:ext uri="{FF2B5EF4-FFF2-40B4-BE49-F238E27FC236}">
                <a16:creationId xmlns:a16="http://schemas.microsoft.com/office/drawing/2014/main" id="{4E0B3BF7-C639-41B7-7E74-BD74433DB2E1}"/>
              </a:ext>
            </a:extLst>
          </p:cNvPr>
          <p:cNvSpPr>
            <a:spLocks noGrp="1"/>
          </p:cNvSpPr>
          <p:nvPr>
            <p:ph idx="1"/>
          </p:nvPr>
        </p:nvSpPr>
        <p:spPr>
          <a:xfrm>
            <a:off x="838200" y="1825625"/>
            <a:ext cx="4591929" cy="3173095"/>
          </a:xfrm>
        </p:spPr>
        <p:txBody>
          <a:bodyPr>
            <a:normAutofit fontScale="77500" lnSpcReduction="20000"/>
          </a:bodyPr>
          <a:lstStyle/>
          <a:p>
            <a:r>
              <a:rPr lang="en-US" dirty="0"/>
              <a:t>This is provided to you, but you are free to modify.  You #include this in your program.  </a:t>
            </a:r>
          </a:p>
          <a:p>
            <a:r>
              <a:rPr lang="en-US" dirty="0"/>
              <a:t>Call </a:t>
            </a:r>
            <a:r>
              <a:rPr lang="en-US" dirty="0" err="1"/>
              <a:t>connectToWifi</a:t>
            </a:r>
            <a:r>
              <a:rPr lang="en-US" dirty="0"/>
              <a:t> if not connected in your main program’s loop.  </a:t>
            </a:r>
          </a:p>
          <a:p>
            <a:r>
              <a:rPr lang="en-US" dirty="0"/>
              <a:t>Note that if you do not supply a username, it will use WPA2 Personal</a:t>
            </a:r>
          </a:p>
          <a:p>
            <a:r>
              <a:rPr lang="en-US" dirty="0"/>
              <a:t>PAWS-Secure/</a:t>
            </a:r>
            <a:r>
              <a:rPr lang="en-US" dirty="0" err="1"/>
              <a:t>Eduroam</a:t>
            </a:r>
            <a:r>
              <a:rPr lang="en-US" dirty="0"/>
              <a:t> use WPA2_Enterprise.  </a:t>
            </a:r>
          </a:p>
        </p:txBody>
      </p:sp>
      <p:pic>
        <p:nvPicPr>
          <p:cNvPr id="7" name="Picture 6">
            <a:extLst>
              <a:ext uri="{FF2B5EF4-FFF2-40B4-BE49-F238E27FC236}">
                <a16:creationId xmlns:a16="http://schemas.microsoft.com/office/drawing/2014/main" id="{7A209BAF-FA9B-453D-C1DA-7B15EE5F77BC}"/>
              </a:ext>
            </a:extLst>
          </p:cNvPr>
          <p:cNvPicPr>
            <a:picLocks noChangeAspect="1"/>
          </p:cNvPicPr>
          <p:nvPr/>
        </p:nvPicPr>
        <p:blipFill>
          <a:blip r:embed="rId2"/>
          <a:stretch>
            <a:fillRect/>
          </a:stretch>
        </p:blipFill>
        <p:spPr>
          <a:xfrm>
            <a:off x="5634563" y="1646237"/>
            <a:ext cx="5719237" cy="4945205"/>
          </a:xfrm>
          <a:prstGeom prst="rect">
            <a:avLst/>
          </a:prstGeom>
        </p:spPr>
      </p:pic>
      <p:pic>
        <p:nvPicPr>
          <p:cNvPr id="11" name="Picture 10">
            <a:extLst>
              <a:ext uri="{FF2B5EF4-FFF2-40B4-BE49-F238E27FC236}">
                <a16:creationId xmlns:a16="http://schemas.microsoft.com/office/drawing/2014/main" id="{FC5D2E0E-8F3F-7EB5-7C80-255CC6F97779}"/>
              </a:ext>
            </a:extLst>
          </p:cNvPr>
          <p:cNvPicPr>
            <a:picLocks noChangeAspect="1"/>
          </p:cNvPicPr>
          <p:nvPr/>
        </p:nvPicPr>
        <p:blipFill>
          <a:blip r:embed="rId3"/>
          <a:stretch>
            <a:fillRect/>
          </a:stretch>
        </p:blipFill>
        <p:spPr>
          <a:xfrm>
            <a:off x="1021510" y="4520416"/>
            <a:ext cx="4429743" cy="2086266"/>
          </a:xfrm>
          <a:prstGeom prst="rect">
            <a:avLst/>
          </a:prstGeom>
        </p:spPr>
      </p:pic>
    </p:spTree>
    <p:extLst>
      <p:ext uri="{BB962C8B-B14F-4D97-AF65-F5344CB8AC3E}">
        <p14:creationId xmlns:p14="http://schemas.microsoft.com/office/powerpoint/2010/main" val="3515136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3F7DF-C9AA-7584-CE30-D7F63D3842A6}"/>
              </a:ext>
            </a:extLst>
          </p:cNvPr>
          <p:cNvSpPr>
            <a:spLocks noGrp="1"/>
          </p:cNvSpPr>
          <p:nvPr>
            <p:ph type="title"/>
          </p:nvPr>
        </p:nvSpPr>
        <p:spPr/>
        <p:txBody>
          <a:bodyPr/>
          <a:lstStyle/>
          <a:p>
            <a:r>
              <a:rPr lang="en-US" dirty="0"/>
              <a:t>Breaking up your program to manage it</a:t>
            </a:r>
          </a:p>
        </p:txBody>
      </p:sp>
      <p:pic>
        <p:nvPicPr>
          <p:cNvPr id="5" name="Picture 4">
            <a:extLst>
              <a:ext uri="{FF2B5EF4-FFF2-40B4-BE49-F238E27FC236}">
                <a16:creationId xmlns:a16="http://schemas.microsoft.com/office/drawing/2014/main" id="{E06A3802-DAC4-5280-9D48-04876034867D}"/>
              </a:ext>
            </a:extLst>
          </p:cNvPr>
          <p:cNvPicPr>
            <a:picLocks noChangeAspect="1"/>
          </p:cNvPicPr>
          <p:nvPr/>
        </p:nvPicPr>
        <p:blipFill>
          <a:blip r:embed="rId2"/>
          <a:stretch>
            <a:fillRect/>
          </a:stretch>
        </p:blipFill>
        <p:spPr>
          <a:xfrm>
            <a:off x="247043" y="2196554"/>
            <a:ext cx="5353797" cy="3448531"/>
          </a:xfrm>
          <a:prstGeom prst="rect">
            <a:avLst/>
          </a:prstGeom>
        </p:spPr>
      </p:pic>
      <p:pic>
        <p:nvPicPr>
          <p:cNvPr id="7" name="Picture 6">
            <a:extLst>
              <a:ext uri="{FF2B5EF4-FFF2-40B4-BE49-F238E27FC236}">
                <a16:creationId xmlns:a16="http://schemas.microsoft.com/office/drawing/2014/main" id="{60691148-E273-68E9-7F7A-ADFC7CEC852B}"/>
              </a:ext>
            </a:extLst>
          </p:cNvPr>
          <p:cNvPicPr>
            <a:picLocks noChangeAspect="1"/>
          </p:cNvPicPr>
          <p:nvPr/>
        </p:nvPicPr>
        <p:blipFill>
          <a:blip r:embed="rId3"/>
          <a:stretch>
            <a:fillRect/>
          </a:stretch>
        </p:blipFill>
        <p:spPr>
          <a:xfrm>
            <a:off x="5714738" y="1463027"/>
            <a:ext cx="6230219" cy="4915586"/>
          </a:xfrm>
          <a:prstGeom prst="rect">
            <a:avLst/>
          </a:prstGeom>
        </p:spPr>
      </p:pic>
    </p:spTree>
    <p:extLst>
      <p:ext uri="{BB962C8B-B14F-4D97-AF65-F5344CB8AC3E}">
        <p14:creationId xmlns:p14="http://schemas.microsoft.com/office/powerpoint/2010/main" val="753645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0C82-701C-1DE0-34DE-E58F6BB2F15A}"/>
              </a:ext>
            </a:extLst>
          </p:cNvPr>
          <p:cNvSpPr>
            <a:spLocks noGrp="1"/>
          </p:cNvSpPr>
          <p:nvPr>
            <p:ph type="title"/>
          </p:nvPr>
        </p:nvSpPr>
        <p:spPr/>
        <p:txBody>
          <a:bodyPr/>
          <a:lstStyle/>
          <a:p>
            <a:r>
              <a:rPr lang="en-US" dirty="0"/>
              <a:t>MQTT in Arduino (Part 3: </a:t>
            </a:r>
            <a:r>
              <a:rPr lang="en-US" dirty="0" err="1"/>
              <a:t>pubsubclient</a:t>
            </a:r>
            <a:r>
              <a:rPr lang="en-US" dirty="0"/>
              <a:t>)</a:t>
            </a:r>
          </a:p>
        </p:txBody>
      </p:sp>
      <p:pic>
        <p:nvPicPr>
          <p:cNvPr id="9" name="Picture 8">
            <a:extLst>
              <a:ext uri="{FF2B5EF4-FFF2-40B4-BE49-F238E27FC236}">
                <a16:creationId xmlns:a16="http://schemas.microsoft.com/office/drawing/2014/main" id="{9AB37365-7501-4B24-C284-66CE31A057C4}"/>
              </a:ext>
            </a:extLst>
          </p:cNvPr>
          <p:cNvPicPr>
            <a:picLocks noChangeAspect="1"/>
          </p:cNvPicPr>
          <p:nvPr/>
        </p:nvPicPr>
        <p:blipFill>
          <a:blip r:embed="rId2"/>
          <a:stretch>
            <a:fillRect/>
          </a:stretch>
        </p:blipFill>
        <p:spPr>
          <a:xfrm>
            <a:off x="254222" y="1499239"/>
            <a:ext cx="5436160" cy="5263162"/>
          </a:xfrm>
          <a:prstGeom prst="rect">
            <a:avLst/>
          </a:prstGeom>
        </p:spPr>
      </p:pic>
      <p:pic>
        <p:nvPicPr>
          <p:cNvPr id="13" name="Picture 12">
            <a:extLst>
              <a:ext uri="{FF2B5EF4-FFF2-40B4-BE49-F238E27FC236}">
                <a16:creationId xmlns:a16="http://schemas.microsoft.com/office/drawing/2014/main" id="{1D2E7277-7057-230D-2352-BC75C8DB6B3D}"/>
              </a:ext>
            </a:extLst>
          </p:cNvPr>
          <p:cNvPicPr>
            <a:picLocks noChangeAspect="1"/>
          </p:cNvPicPr>
          <p:nvPr/>
        </p:nvPicPr>
        <p:blipFill>
          <a:blip r:embed="rId3"/>
          <a:stretch>
            <a:fillRect/>
          </a:stretch>
        </p:blipFill>
        <p:spPr>
          <a:xfrm>
            <a:off x="5791202" y="1499239"/>
            <a:ext cx="5090420" cy="4331819"/>
          </a:xfrm>
          <a:prstGeom prst="rect">
            <a:avLst/>
          </a:prstGeom>
        </p:spPr>
      </p:pic>
    </p:spTree>
    <p:extLst>
      <p:ext uri="{BB962C8B-B14F-4D97-AF65-F5344CB8AC3E}">
        <p14:creationId xmlns:p14="http://schemas.microsoft.com/office/powerpoint/2010/main" val="2380372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2056</TotalTime>
  <Words>690</Words>
  <Application>Microsoft Office PowerPoint</Application>
  <PresentationFormat>Widescreen</PresentationFormat>
  <Paragraphs>78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Internet of Things (IoT) Programming</vt:lpstr>
      <vt:lpstr>Basics of IoT</vt:lpstr>
      <vt:lpstr>IoT Messaging</vt:lpstr>
      <vt:lpstr>Options for IoT Servers</vt:lpstr>
      <vt:lpstr>Messaging Options</vt:lpstr>
      <vt:lpstr>MQTT Basics </vt:lpstr>
      <vt:lpstr>MQTT in Python (paho-mqtt)</vt:lpstr>
      <vt:lpstr>MQTT in Arduino (Part 1: WiFi Credentials)</vt:lpstr>
      <vt:lpstr>MQTT In Arduino (Part 2: WiFi Connection)</vt:lpstr>
      <vt:lpstr>Breaking up your program to manage it</vt:lpstr>
      <vt:lpstr>MQTT in Arduino (Part 3: pubsubclient)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(IoT) Programming</dc:title>
  <dc:creator>Kyle J Johnsen</dc:creator>
  <cp:lastModifiedBy>Kyle J Johnsen</cp:lastModifiedBy>
  <cp:revision>3</cp:revision>
  <dcterms:created xsi:type="dcterms:W3CDTF">2023-02-08T11:20:41Z</dcterms:created>
  <dcterms:modified xsi:type="dcterms:W3CDTF">2026-02-23T16:09:54Z</dcterms:modified>
</cp:coreProperties>
</file>