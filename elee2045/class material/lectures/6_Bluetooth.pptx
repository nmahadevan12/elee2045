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2" r:id="rId6"/>
    <p:sldId id="259" r:id="rId7"/>
    <p:sldId id="260" r:id="rId8"/>
    <p:sldId id="261" r:id="rId9"/>
    <p:sldId id="264" r:id="rId10"/>
    <p:sldId id="271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yle J Johnsen" userId="dd73adbd-5351-478d-821b-56868881e8c0" providerId="ADAL" clId="{FD55B928-8FF4-41B3-8EDD-B28A23CAEE1F}"/>
    <pc:docChg chg="custSel modSld">
      <pc:chgData name="Kyle J Johnsen" userId="dd73adbd-5351-478d-821b-56868881e8c0" providerId="ADAL" clId="{FD55B928-8FF4-41B3-8EDD-B28A23CAEE1F}" dt="2026-03-16T12:36:48.313" v="3" actId="1076"/>
      <pc:docMkLst>
        <pc:docMk/>
      </pc:docMkLst>
      <pc:sldChg chg="addSp delSp modSp mod">
        <pc:chgData name="Kyle J Johnsen" userId="dd73adbd-5351-478d-821b-56868881e8c0" providerId="ADAL" clId="{FD55B928-8FF4-41B3-8EDD-B28A23CAEE1F}" dt="2026-03-16T12:36:48.313" v="3" actId="1076"/>
        <pc:sldMkLst>
          <pc:docMk/>
          <pc:sldMk cId="2293440401" sldId="263"/>
        </pc:sldMkLst>
        <pc:picChg chg="add mod">
          <ac:chgData name="Kyle J Johnsen" userId="dd73adbd-5351-478d-821b-56868881e8c0" providerId="ADAL" clId="{FD55B928-8FF4-41B3-8EDD-B28A23CAEE1F}" dt="2026-03-16T12:36:48.313" v="3" actId="1076"/>
          <ac:picMkLst>
            <pc:docMk/>
            <pc:sldMk cId="2293440401" sldId="263"/>
            <ac:picMk id="4" creationId="{69840CAC-47C0-4BD6-C05F-37CE1EF0561D}"/>
          </ac:picMkLst>
        </pc:picChg>
        <pc:picChg chg="del">
          <ac:chgData name="Kyle J Johnsen" userId="dd73adbd-5351-478d-821b-56868881e8c0" providerId="ADAL" clId="{FD55B928-8FF4-41B3-8EDD-B28A23CAEE1F}" dt="2026-03-16T12:36:43.120" v="0" actId="478"/>
          <ac:picMkLst>
            <pc:docMk/>
            <pc:sldMk cId="2293440401" sldId="263"/>
            <ac:picMk id="9" creationId="{D4C82F7D-DD1C-375A-7C9C-BB2FE75F3A8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E4643-5491-11F9-D86F-2CF8C7044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D821F9-89E8-A7A8-1B07-2D9973883E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47DF3-AB07-DC1F-DCFA-18A4E8C06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0FCA-F01E-4461-9992-370619298011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6F998-14D3-1D71-022D-0D8F736D7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F16EC-B905-0D52-61A4-82C7D3DE0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CA65D-1456-4C05-B291-1E1855C61DE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837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14541-F07F-E849-E3FC-CF2CFC37E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15B77-0C6E-9EB5-796B-B03BC3932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FA838-854A-8537-8378-5CDB28B6F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0FCA-F01E-4461-9992-370619298011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79D26-8A4C-68B1-DA24-9E71595BA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3C9F2-972D-6D32-D288-16680BDC7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CA65D-1456-4C05-B291-1E1855C61DE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358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CC0B3-C0D2-AC91-E5B0-D539B329C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2FAD7F-B5C6-8642-0138-B98ED5ABC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E7ED3-9060-D624-E46C-C992B6854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0FCA-F01E-4461-9992-370619298011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208A8-6172-0352-E253-3FE1BD1EC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BB859-05DC-B928-513E-0AE37AE2E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CA65D-1456-4C05-B291-1E1855C61DE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17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D40B9-E8BC-526B-27D0-81A9E1664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CD2E1-D397-F0A6-689A-31E7424E5F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98B395-366C-0301-FB16-C68F72DEF9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53E677-036E-6052-F8EC-6ADAB7547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0FCA-F01E-4461-9992-370619298011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CA3279-8DBB-7FCC-F19B-6DB89E508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B876C2-968E-4E7C-DC7A-FDE998E42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CA65D-1456-4C05-B291-1E1855C61DE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392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06A1B-10F8-5B49-2A12-741B10D0C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83D93D-8072-9AEE-2893-7193739BA7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AF0580-05C3-2630-73C7-054CE26C8F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CD8F6F-6A8E-C6DD-5AD8-E1F09CB2CA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7DE05C-C6DA-F356-8AF5-EE403724B9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539D07-EBA8-9983-B92A-9628AB1E2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0FCA-F01E-4461-9992-370619298011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D7A7E9-5B64-3319-A2F5-EBF1B6F1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D319AF-C860-E342-61B5-5006B13F6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CA65D-1456-4C05-B291-1E1855C61DE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22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37E8F-9E33-8350-B34D-FB843ED4E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CA2634-7128-657D-ADCA-768DB7219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0FCA-F01E-4461-9992-370619298011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912A4-8199-6C43-57CA-2F2CDE6FD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9EF7DE-BEA1-E6C4-7EE3-C00AA7976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CA65D-1456-4C05-B291-1E1855C61DE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992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8BA6B5-899C-C997-09BB-669F33F68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0FCA-F01E-4461-9992-370619298011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AC6276-20CB-465B-85F8-216828344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6E088-1F05-0D4B-7115-78B97B9F7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CA65D-1456-4C05-B291-1E1855C61DE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757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E4C80-39D7-D5F2-858D-63952B61D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57D0E-A8DD-003A-A230-1A74DF7F0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21D46E-9AF6-3ED6-8A1F-18EB541544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5487F4-2EED-22E5-B1C9-A2BD5A0EB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0FCA-F01E-4461-9992-370619298011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E901B7-B849-A9B8-48E7-108899A3A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66D350-3AEC-B340-7098-442AA3670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CA65D-1456-4C05-B291-1E1855C61DE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170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A39EC-C14B-44C5-3FD0-3E0785FDC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1EDE00-0A04-70EA-B58D-F89C70F0B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397032-19A0-0A51-5F50-AB22E8C148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5EA40-ED3A-06F3-3648-66C246DA4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0FCA-F01E-4461-9992-370619298011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C64F7D-6A73-30E4-8698-5CA7E6E1A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3CEC38-FA69-F2D3-2B4D-9DB9406DB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CA65D-1456-4C05-B291-1E1855C61DE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949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FAE83-BB8A-4204-25F1-194922715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D0A9DD-6A35-9145-92C4-C77C313D0A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DD73D-FCB8-051E-275F-8232DC598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0FCA-F01E-4461-9992-370619298011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5EF4C-4F96-F4B1-2946-187A1F36D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30408-EB8B-28FE-81A5-5B4B0A847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CA65D-1456-4C05-B291-1E1855C61DE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477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ED68A9-D469-B086-4E1E-7F027739CD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6F2282-4153-5967-0F98-3922019E20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9AA65-E8BA-17F5-F264-0661C3001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0FCA-F01E-4461-9992-370619298011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45AC1-1DA9-94A0-1D2E-CEA6F1FA3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EECA7-55B1-B4C1-EDAA-E35268FE9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CA65D-1456-4C05-B291-1E1855C61DE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969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327462-4BFD-A159-546F-C92C1FAE7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E83F2-AFE4-64BC-9DD9-A1426F25D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E0C16-BAED-3311-062B-C9568A98C1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FE0FCA-F01E-4461-9992-370619298011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282E0-B2BE-79D8-ADEB-73A8DCA81D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96636-CF58-F15C-F081-DEC08D537D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BCA65D-1456-4C05-B291-1E1855C61DE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09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learn.adafruit.com/introduction-to-bluetooth-low-energy/gatt?view=al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uuidgenerator.net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62588-2C47-7361-94DD-DED6EF6FC1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Bluetooth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7F9FBB-8090-B1DD-AC5A-FCA87D7262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127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0943D-316B-45D7-1F52-6CC7083E1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Bluetooth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AA5BB-BD15-1C36-7471-4B7982BB8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wireless standard (like WiFi) designed for </a:t>
            </a:r>
            <a:r>
              <a:rPr lang="en-US" b="1" dirty="0"/>
              <a:t>point-to-point </a:t>
            </a:r>
            <a:r>
              <a:rPr lang="en-US" dirty="0"/>
              <a:t>communication</a:t>
            </a:r>
          </a:p>
          <a:p>
            <a:r>
              <a:rPr lang="en-US" dirty="0"/>
              <a:t>Primary applications</a:t>
            </a:r>
          </a:p>
          <a:p>
            <a:pPr lvl="1"/>
            <a:r>
              <a:rPr lang="en-US" dirty="0"/>
              <a:t>Connect peripheral devices (mouse, keyboard, headphones, fitness trackers)</a:t>
            </a:r>
          </a:p>
          <a:p>
            <a:pPr lvl="1"/>
            <a:r>
              <a:rPr lang="en-US" dirty="0"/>
              <a:t>Radio Frequency Identification (RFID)</a:t>
            </a:r>
          </a:p>
          <a:p>
            <a:r>
              <a:rPr lang="en-US" dirty="0"/>
              <a:t>Maximum range of ~100m</a:t>
            </a:r>
          </a:p>
          <a:p>
            <a:r>
              <a:rPr lang="en-US" dirty="0"/>
              <a:t>Two types (same range:</a:t>
            </a:r>
          </a:p>
          <a:p>
            <a:pPr lvl="1"/>
            <a:r>
              <a:rPr lang="en-US" dirty="0"/>
              <a:t>Bluetooth Classic </a:t>
            </a:r>
          </a:p>
          <a:p>
            <a:pPr lvl="2"/>
            <a:r>
              <a:rPr lang="en-US" dirty="0"/>
              <a:t>Designed for higher-throughput connections such as audio</a:t>
            </a:r>
          </a:p>
          <a:p>
            <a:pPr lvl="2"/>
            <a:r>
              <a:rPr lang="en-US" dirty="0"/>
              <a:t>Persistent wireless connection (radio stays on)</a:t>
            </a:r>
          </a:p>
          <a:p>
            <a:pPr lvl="1"/>
            <a:r>
              <a:rPr lang="en-US" b="1" dirty="0"/>
              <a:t>Bluetooth Low Energy (BLE) (what we’ll use)</a:t>
            </a:r>
          </a:p>
          <a:p>
            <a:pPr lvl="2"/>
            <a:r>
              <a:rPr lang="en-US" dirty="0"/>
              <a:t>Designed for low-throughput, low-power connections</a:t>
            </a:r>
          </a:p>
          <a:p>
            <a:pPr lvl="2"/>
            <a:r>
              <a:rPr lang="en-US" dirty="0"/>
              <a:t>Radios connect at negotiated intervals for short bursts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919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81631-14BC-8533-2241-956F9E3EC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Advertising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B4833-EA42-665E-9333-6A1166387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Bluetooth device broadcasts its address and some advertising payload data (configurable) at a regular rate (e.g. every 1s)</a:t>
            </a:r>
          </a:p>
          <a:p>
            <a:pPr lvl="1"/>
            <a:r>
              <a:rPr lang="en-US" dirty="0"/>
              <a:t>Very low power usage (uA)</a:t>
            </a:r>
          </a:p>
          <a:p>
            <a:pPr lvl="1"/>
            <a:endParaRPr lang="en-US" dirty="0"/>
          </a:p>
          <a:p>
            <a:r>
              <a:rPr lang="en-US" dirty="0"/>
              <a:t>Key component to RFID </a:t>
            </a:r>
          </a:p>
          <a:p>
            <a:pPr lvl="1"/>
            <a:r>
              <a:rPr lang="en-US" dirty="0"/>
              <a:t>Received Strength of Signal Indicator (RSSI) - dBm </a:t>
            </a:r>
          </a:p>
          <a:p>
            <a:pPr lvl="1"/>
            <a:r>
              <a:rPr lang="en-US" dirty="0"/>
              <a:t>AirTag, Tile primarily work this way (also now ultra wide band)</a:t>
            </a:r>
          </a:p>
        </p:txBody>
      </p:sp>
    </p:spTree>
    <p:extLst>
      <p:ext uri="{BB962C8B-B14F-4D97-AF65-F5344CB8AC3E}">
        <p14:creationId xmlns:p14="http://schemas.microsoft.com/office/powerpoint/2010/main" val="341597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027F2-825A-F230-C410-4DB8F5A3A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Advertising on the M5StickCPlus (ESP32)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840CAC-47C0-4BD6-C05F-37CE1EF05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634" y="1779637"/>
            <a:ext cx="6854732" cy="460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440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CC61F-BC0B-E7A8-F429-2116510C0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Bluetooth in Python via Bleak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4DAE9-78D5-07F5-376E-839184923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Bleak is a modern, cross-platform python library for BLE</a:t>
            </a:r>
          </a:p>
          <a:p>
            <a:pPr lvl="1"/>
            <a:r>
              <a:rPr lang="en-US" dirty="0"/>
              <a:t>Uses “asynchronous” programming features of python, which allow events to be “awaited” </a:t>
            </a:r>
            <a:r>
              <a:rPr lang="en-US" b="1" dirty="0"/>
              <a:t>within async functions</a:t>
            </a:r>
          </a:p>
          <a:p>
            <a:pPr lvl="1"/>
            <a:r>
              <a:rPr lang="en-US" dirty="0"/>
              <a:t>Requires an “event loop” to run (asyncio.run) … more on this later</a:t>
            </a:r>
          </a:p>
          <a:p>
            <a:r>
              <a:rPr lang="en-US" dirty="0"/>
              <a:t>pip install bleak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BB2CD2-E477-407D-9AA9-93500FC88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736" y="4069084"/>
            <a:ext cx="7497221" cy="232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936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A28CD-7DAA-F119-145C-8DD0AACC4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Doing More with GATT Profiles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ED7D2-35DB-6267-02D6-2D9396C41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39724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If we </a:t>
            </a:r>
            <a:r>
              <a:rPr lang="en-US" b="1" dirty="0"/>
              <a:t>connect</a:t>
            </a:r>
            <a:r>
              <a:rPr lang="en-US" dirty="0"/>
              <a:t> to a device, we can send/receive data</a:t>
            </a:r>
          </a:p>
          <a:p>
            <a:endParaRPr lang="en-US" dirty="0"/>
          </a:p>
          <a:p>
            <a:r>
              <a:rPr lang="en-US" dirty="0"/>
              <a:t>Generic ATTribute Profile</a:t>
            </a:r>
          </a:p>
          <a:p>
            <a:pPr lvl="1"/>
            <a:r>
              <a:rPr lang="en-US" dirty="0"/>
              <a:t>Consists of </a:t>
            </a:r>
            <a:r>
              <a:rPr lang="en-US" b="1" dirty="0"/>
              <a:t>services,</a:t>
            </a:r>
            <a:r>
              <a:rPr lang="en-US" dirty="0"/>
              <a:t> which consist of </a:t>
            </a:r>
            <a:r>
              <a:rPr lang="en-US" b="1" dirty="0"/>
              <a:t>characteristics</a:t>
            </a:r>
          </a:p>
          <a:p>
            <a:pPr lvl="1"/>
            <a:r>
              <a:rPr lang="en-US" dirty="0"/>
              <a:t>Services </a:t>
            </a:r>
            <a:r>
              <a:rPr lang="en-US" u="sng" dirty="0"/>
              <a:t>attempt</a:t>
            </a:r>
            <a:r>
              <a:rPr lang="en-US" dirty="0"/>
              <a:t> to standardize how to communicate with a device class</a:t>
            </a:r>
          </a:p>
          <a:p>
            <a:pPr lvl="1"/>
            <a:r>
              <a:rPr lang="en-US" dirty="0"/>
              <a:t>Characteristics are ultimately what is used to transmit and receive data</a:t>
            </a:r>
          </a:p>
          <a:p>
            <a:endParaRPr lang="en-US" dirty="0"/>
          </a:p>
          <a:p>
            <a:r>
              <a:rPr lang="en-US" dirty="0"/>
              <a:t>See </a:t>
            </a:r>
            <a:r>
              <a:rPr lang="en-US" dirty="0">
                <a:hlinkClick r:id="rId2"/>
              </a:rPr>
              <a:t>https://learn.adafruit.com/introduction-to-bluetooth-low-energy/gatt?view=all</a:t>
            </a:r>
            <a:r>
              <a:rPr lang="en-US" dirty="0"/>
              <a:t> for a more in-depth explanation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8A5B058-00F9-C6BF-28A9-1BDA2D02A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1624" y="2447517"/>
            <a:ext cx="2236110" cy="2744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1651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490BA-200C-133F-43E9-C6DC9819A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EE7E5-6352-4F72-4390-143FF0412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UUID - Universally Unique ID (</a:t>
            </a:r>
            <a:r>
              <a:rPr lang="en-US" dirty="0">
                <a:hlinkClick r:id="rId2"/>
              </a:rPr>
              <a:t>https://www.uuidgenerator.net/</a:t>
            </a:r>
            <a:r>
              <a:rPr lang="en-US" dirty="0"/>
              <a:t>) </a:t>
            </a:r>
          </a:p>
          <a:p>
            <a:r>
              <a:rPr lang="en-US" dirty="0"/>
              <a:t>Properties</a:t>
            </a:r>
          </a:p>
          <a:p>
            <a:pPr lvl="1"/>
            <a:r>
              <a:rPr lang="en-US" dirty="0"/>
              <a:t>Read - Value can be read by a client </a:t>
            </a:r>
            <a:r>
              <a:rPr lang="en-US" b="1" dirty="0"/>
              <a:t>on demand </a:t>
            </a:r>
            <a:r>
              <a:rPr lang="en-US" dirty="0"/>
              <a:t>(polling, e.g., what is the temperature?)</a:t>
            </a:r>
            <a:endParaRPr lang="en-US" b="1" dirty="0"/>
          </a:p>
          <a:p>
            <a:pPr lvl="1"/>
            <a:r>
              <a:rPr lang="en-US" dirty="0"/>
              <a:t>Write - Value can be written by a client </a:t>
            </a:r>
            <a:r>
              <a:rPr lang="en-US" b="1" dirty="0"/>
              <a:t>on demand </a:t>
            </a:r>
            <a:r>
              <a:rPr lang="en-US" dirty="0"/>
              <a:t>(e.g., set the motor to this speed)</a:t>
            </a:r>
            <a:endParaRPr lang="en-US" b="1" dirty="0"/>
          </a:p>
          <a:p>
            <a:pPr lvl="1"/>
            <a:r>
              <a:rPr lang="en-US" dirty="0"/>
              <a:t>Notify/Indicate - Updated values are </a:t>
            </a:r>
            <a:r>
              <a:rPr lang="en-US" b="1" dirty="0"/>
              <a:t>automatically</a:t>
            </a:r>
            <a:r>
              <a:rPr lang="en-US" dirty="0"/>
              <a:t> sent to the client (e.g., this is the new value of the accelerometer)</a:t>
            </a:r>
          </a:p>
          <a:p>
            <a:pPr lvl="2"/>
            <a:r>
              <a:rPr lang="en-US" dirty="0"/>
              <a:t>Only when </a:t>
            </a:r>
            <a:r>
              <a:rPr lang="en-US" b="1" dirty="0"/>
              <a:t>enabled</a:t>
            </a:r>
            <a:r>
              <a:rPr lang="en-US" dirty="0"/>
              <a:t> by the client</a:t>
            </a:r>
          </a:p>
          <a:p>
            <a:r>
              <a:rPr lang="en-US" dirty="0"/>
              <a:t>Value</a:t>
            </a:r>
          </a:p>
          <a:p>
            <a:pPr lvl="1"/>
            <a:r>
              <a:rPr lang="en-US" dirty="0"/>
              <a:t>Usually, &lt;= 20 bytes of data</a:t>
            </a:r>
          </a:p>
          <a:p>
            <a:pPr lvl="1"/>
            <a:r>
              <a:rPr lang="en-US" dirty="0"/>
              <a:t>Newer version of Bluetooth (4.2+) allow for more by changing the Maximum Transmission Unit</a:t>
            </a:r>
          </a:p>
          <a:p>
            <a:endParaRPr lang="en-US" dirty="0"/>
          </a:p>
          <a:p>
            <a:r>
              <a:rPr lang="en-US" dirty="0"/>
              <a:t>Descriptors</a:t>
            </a:r>
          </a:p>
          <a:p>
            <a:pPr lvl="1"/>
            <a:r>
              <a:rPr lang="en-US" dirty="0"/>
              <a:t>Hold useful information about the characteristic (e.g., name), and may be read/written depending on the type</a:t>
            </a:r>
          </a:p>
          <a:p>
            <a:pPr lvl="1"/>
            <a:r>
              <a:rPr lang="en-US" dirty="0"/>
              <a:t>Notify/Indicate require a special writable descriptor (0x2902) called the </a:t>
            </a:r>
            <a:r>
              <a:rPr lang="en-US" b="1" dirty="0"/>
              <a:t>CCCD</a:t>
            </a:r>
            <a:r>
              <a:rPr lang="en-US" dirty="0"/>
              <a:t> (client characteristic configuration descriptor)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889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B803A-BA4D-59C9-EB70-B37D48916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Connection Intervals and Data Rates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37E35-B0CF-E2D0-CF34-32F6BE817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BLE normally uses a data rate of 1Mbps at the “link” layer (operates on 2.4Ghz spectrum)</a:t>
            </a:r>
          </a:p>
          <a:p>
            <a:pPr lvl="1"/>
            <a:r>
              <a:rPr lang="en-US" dirty="0"/>
              <a:t>In practice, less, because of protocol overhead.</a:t>
            </a:r>
          </a:p>
          <a:p>
            <a:r>
              <a:rPr lang="en-US" dirty="0"/>
              <a:t>Client and Server only connect to each other so often to exchange data</a:t>
            </a:r>
          </a:p>
          <a:p>
            <a:pPr lvl="1"/>
            <a:r>
              <a:rPr lang="en-US" dirty="0"/>
              <a:t>Minimum and maximum values, between 7.5ms and 4s</a:t>
            </a:r>
          </a:p>
          <a:p>
            <a:pPr lvl="1"/>
            <a:r>
              <a:rPr lang="en-US" dirty="0"/>
              <a:t>Negotiated by client and server</a:t>
            </a:r>
          </a:p>
          <a:p>
            <a:pPr lvl="1"/>
            <a:r>
              <a:rPr lang="en-US" dirty="0"/>
              <a:t>Higher is better to reduce power consumption</a:t>
            </a:r>
          </a:p>
          <a:p>
            <a:r>
              <a:rPr lang="en-US" dirty="0"/>
              <a:t>Several packets may be sent each connection</a:t>
            </a:r>
          </a:p>
          <a:p>
            <a:pPr lvl="1"/>
            <a:r>
              <a:rPr lang="en-US" dirty="0"/>
              <a:t>Varies by device, interference</a:t>
            </a:r>
          </a:p>
        </p:txBody>
      </p:sp>
    </p:spTree>
    <p:extLst>
      <p:ext uri="{BB962C8B-B14F-4D97-AF65-F5344CB8AC3E}">
        <p14:creationId xmlns:p14="http://schemas.microsoft.com/office/powerpoint/2010/main" val="2022934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32CF9-B493-7AEC-1A62-794B23A6D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Minimal Bluetooth M5Stick (1 characteristic)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86C402-630E-0D91-4364-5A1ABE3C9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87" y="1685401"/>
            <a:ext cx="4474561" cy="451103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A77C245-0DD0-CC4D-8EAA-2BB9E5FB4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0905" y="1690688"/>
            <a:ext cx="4963841" cy="450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360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F39A4B-8B32-F0B8-2DB4-469F5354D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078" y="394252"/>
            <a:ext cx="9293916" cy="60694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2EF00C9-135E-C367-959A-D0CC420404C9}"/>
              </a:ext>
            </a:extLst>
          </p:cNvPr>
          <p:cNvSpPr txBox="1"/>
          <p:nvPr/>
        </p:nvSpPr>
        <p:spPr>
          <a:xfrm>
            <a:off x="2756451" y="6463748"/>
            <a:ext cx="7229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 the use of threads, which allows you to mix in other event loops</a:t>
            </a:r>
          </a:p>
        </p:txBody>
      </p:sp>
    </p:spTree>
    <p:extLst>
      <p:ext uri="{BB962C8B-B14F-4D97-AF65-F5344CB8AC3E}">
        <p14:creationId xmlns:p14="http://schemas.microsoft.com/office/powerpoint/2010/main" val="949634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9B5A3-F09F-A550-3C3D-530E6BF8F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Bluetooth or WiFi?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B2C46-BD4E-70A8-C8D9-06A5A5936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WiFi is generally better, if it’s available</a:t>
            </a:r>
          </a:p>
          <a:p>
            <a:pPr lvl="1"/>
            <a:r>
              <a:rPr lang="en-US" dirty="0"/>
              <a:t>Much more bandwidth available</a:t>
            </a:r>
          </a:p>
          <a:p>
            <a:pPr lvl="1"/>
            <a:r>
              <a:rPr lang="en-US" dirty="0"/>
              <a:t>Multiple devices can communicate with each other</a:t>
            </a:r>
          </a:p>
          <a:p>
            <a:r>
              <a:rPr lang="en-US" dirty="0"/>
              <a:t>But you may already be using your WiFi radio to connect to the internet</a:t>
            </a:r>
          </a:p>
          <a:p>
            <a:pPr lvl="1"/>
            <a:r>
              <a:rPr lang="en-US" dirty="0"/>
              <a:t>Also, the other device might not have WiFi</a:t>
            </a:r>
          </a:p>
          <a:p>
            <a:r>
              <a:rPr lang="en-US" dirty="0"/>
              <a:t>Bluetooth is normally used for devices that can be used anywhere, in an </a:t>
            </a:r>
            <a:r>
              <a:rPr lang="en-US" i="1" dirty="0"/>
              <a:t>ad hoc</a:t>
            </a:r>
            <a:r>
              <a:rPr lang="en-US" dirty="0"/>
              <a:t> manner</a:t>
            </a:r>
          </a:p>
          <a:p>
            <a:r>
              <a:rPr lang="en-US" dirty="0"/>
              <a:t>M5StickCPlus is not the most power-efficient Bluetooth sensor </a:t>
            </a:r>
            <a:r>
              <a:rPr lang="en-US"/>
              <a:t>(better as the “central”)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848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3673</TotalTime>
  <Words>626</Words>
  <Application>Microsoft Office PowerPoint</Application>
  <PresentationFormat>Widescreen</PresentationFormat>
  <Paragraphs>72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Bluetooth</vt:lpstr>
      <vt:lpstr>Bluetooth</vt:lpstr>
      <vt:lpstr>Advertising</vt:lpstr>
      <vt:lpstr>Advertising on the M5StickCPlus (ESP32)</vt:lpstr>
      <vt:lpstr>Bluetooth in Python via Bleak</vt:lpstr>
      <vt:lpstr>Doing More with GATT Profiles</vt:lpstr>
      <vt:lpstr>Characteristics</vt:lpstr>
      <vt:lpstr>Connection Intervals and Data Rates</vt:lpstr>
      <vt:lpstr>Minimal Bluetooth M5Stick (1 characteristic)</vt:lpstr>
      <vt:lpstr>PowerPoint Presentation</vt:lpstr>
      <vt:lpstr>Bluetooth or WiFi?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Bluetooth</dc:title>
  <dc:creator>Kyle J Johnsen</dc:creator>
  <cp:lastModifiedBy>Kyle J Johnsen</cp:lastModifiedBy>
  <cp:revision>2</cp:revision>
  <dcterms:created xsi:type="dcterms:W3CDTF">2023-03-04T15:37:16Z</dcterms:created>
  <dcterms:modified xsi:type="dcterms:W3CDTF">2026-03-16T12:36:49Z</dcterms:modified>
</cp:coreProperties>
</file>