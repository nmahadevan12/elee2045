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3" r:id="rId4"/>
    <p:sldId id="300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318" r:id="rId13"/>
    <p:sldId id="291" r:id="rId14"/>
    <p:sldId id="292" r:id="rId15"/>
    <p:sldId id="336" r:id="rId16"/>
    <p:sldId id="338" r:id="rId17"/>
    <p:sldId id="293" r:id="rId18"/>
    <p:sldId id="294" r:id="rId19"/>
    <p:sldId id="295" r:id="rId20"/>
    <p:sldId id="296" r:id="rId21"/>
    <p:sldId id="297" r:id="rId22"/>
    <p:sldId id="259" r:id="rId23"/>
    <p:sldId id="260" r:id="rId24"/>
    <p:sldId id="270" r:id="rId25"/>
    <p:sldId id="261" r:id="rId26"/>
    <p:sldId id="267" r:id="rId27"/>
    <p:sldId id="269" r:id="rId28"/>
    <p:sldId id="273" r:id="rId29"/>
    <p:sldId id="262" r:id="rId30"/>
    <p:sldId id="265" r:id="rId31"/>
    <p:sldId id="274" r:id="rId32"/>
    <p:sldId id="277" r:id="rId33"/>
    <p:sldId id="276" r:id="rId34"/>
    <p:sldId id="275" r:id="rId35"/>
    <p:sldId id="278" r:id="rId36"/>
    <p:sldId id="27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8F7C-ED4F-D9C9-330F-E45BAA897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C3F6-F7E2-E913-3B08-3E95A81F8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2E004-A513-9003-684C-CCA5A68C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A210-A696-C536-5EB6-503EC7FA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D7FF9-CC88-4082-0A7C-97BD4666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CB47-4AFD-4DE8-01B4-194F12EA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7C87D-B142-47EE-64D9-93A59299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7B314-D938-2047-FC6D-EB7DE905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5EB8-551D-F6C1-2CB7-F2F45972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DD3CC-7628-5617-D46B-68927D28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A2C4-D133-C417-60B0-30B5A877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7636-6234-42FB-1268-90CF46B58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7896E-6C45-AC14-0FAD-8A8B7D31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13415-45A5-D6BF-B9C5-9AD26CC1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3048B-9BD4-34C0-4CBD-F4375741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2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C545-5F51-0B8D-FD8D-5EF74D49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E44FA-5E29-86AA-A8F3-C4B854C1F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18A5B-327F-A32B-0678-C14BD4259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2124A-8FF4-7931-4DFC-D0191280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7F19E-E0A5-6153-CB92-15B2257C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9ED39-4EF9-D1BC-64D1-532356B7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3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4B8F-D51B-0CEA-4199-BA29BB35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CECC2-56A6-A434-6413-2F1DFF77A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563E1-4B36-9B5E-0602-560171599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E506D-886F-2289-5AD4-993AF44F0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CDFA9-8771-813E-FB45-3BF596893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60C29-374F-1C1C-7DD8-118D146C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EE9FD-B82C-E7AF-BFBB-DB1AE80B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07F06-C785-6582-F715-E311F974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9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EB5-D8FA-9ECC-BC85-79F4050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EDC04-06CE-DF05-CDBB-37B1666D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83B3E-8583-454E-E2E4-577210B0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CCF88-750B-01A5-A542-940303E1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2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0832C-A1D9-9107-A8F5-3E526786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E53AD-D332-6E7C-8476-61A1B0F5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F3320-6EEC-AF60-C652-F2B4B96C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6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AC1A-C819-8A51-C0C5-DC39D47A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8A4D-08E1-AF45-9A90-C0DF38D1C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E9F58-E282-BB99-6184-D43866A4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4D245-6B2A-8C4E-096C-3892744F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86DF9-57F7-80C4-E457-8B0BFAF8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9AB3E-3419-58EB-7D3B-5985231B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2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3284-9437-DBC6-ED92-91866DAD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CFA21-EE35-F0B3-3FF1-9C4341909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28C27-989B-F7B0-E5FD-608A36360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EFBBC-5203-D6CC-1E4A-4F1A75D1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45785-B895-ADF2-1373-8CF619E2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DF3E1-6D0D-473E-656F-EEF66BA7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7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B1B2-C040-91D1-48E7-3A72B1D9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01CF4-94D9-1050-95C9-FCB04E524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DF02-9B5D-D21C-C574-A014254A6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EF66D-CEF7-E2B7-B0EF-C7705C0D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B3F1-2EBA-E006-6C39-EE186933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DF1A9-120C-B3DA-143F-0EA2C8A13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48E20-BF12-9551-1506-62C5FB7C0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854D-F4CD-A6CA-FD26-AC58F03B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AB984-CCFE-A379-AC7F-FA5D6137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6913-DBFB-AEDA-CC75-DAFDC0BE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32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48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8890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3019382"/>
            <a:ext cx="10934700" cy="738664"/>
          </a:xfrm>
        </p:spPr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2069" y="1556129"/>
            <a:ext cx="7891780" cy="348878"/>
          </a:xfrm>
        </p:spPr>
        <p:txBody>
          <a:bodyPr lIns="0" tIns="0" rIns="0" bIns="0"/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7827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3019382"/>
            <a:ext cx="10934700" cy="738664"/>
          </a:xfrm>
        </p:spPr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8337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3019382"/>
            <a:ext cx="10934700" cy="738664"/>
          </a:xfrm>
        </p:spPr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377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755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099B9-3B14-2258-D8AE-DE6F7515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D3483-D116-B733-D197-691E019EA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6B06F-75EA-5E85-9684-6A25C353E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4F1EA-0950-454A-BDD3-3AAF376EF11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BC731-204B-4A66-C3DF-5DD034ED4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BC2B-2966-988F-D956-2C501BD18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57A5B-9080-4356-9436-DACE3C19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3019382"/>
            <a:ext cx="109347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2069" y="1556129"/>
            <a:ext cx="789178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89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4.3/getting-started/introductio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3_pr_mediaquery.ph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DDF2-0002-6ED2-2E1A-52B82D72C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Dashboards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951EF-4306-91BB-DE40-BE068BF654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ELEE2045</a:t>
            </a:r>
          </a:p>
          <a:p>
            <a:r>
              <a:rPr lang="en-US" dirty="0"/>
              <a:t>3/23/2026</a:t>
            </a:r>
          </a:p>
        </p:txBody>
      </p:sp>
    </p:spTree>
    <p:extLst>
      <p:ext uri="{BB962C8B-B14F-4D97-AF65-F5344CB8AC3E}">
        <p14:creationId xmlns:p14="http://schemas.microsoft.com/office/powerpoint/2010/main" val="3686798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54FE-3BF1-B777-51A5-09DF0797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31A3-760D-ED46-44F6-8296B560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Stands for </a:t>
            </a:r>
            <a:r>
              <a:rPr lang="en-US" dirty="0" err="1"/>
              <a:t>HyperText</a:t>
            </a:r>
            <a:r>
              <a:rPr lang="en-US" dirty="0"/>
              <a:t> Markup Language and is used for the ‘front-end’ or client side. ( what the user sees)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885274"/>
            <a:ext cx="4050453" cy="50261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&lt;!DOCTYPE</a:t>
            </a:r>
            <a:r>
              <a:rPr sz="2400" kern="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html&gt;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defTabSz="1219170">
              <a:spcBef>
                <a:spcPts val="907"/>
              </a:spcBef>
            </a:pP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/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&lt;html</a:t>
            </a:r>
            <a:r>
              <a:rPr sz="2400" kern="0" spc="-33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lang="en"&gt;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02432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title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lang="en-US" sz="2400" kern="0" spc="-27" dirty="0">
                <a:solidFill>
                  <a:srgbClr val="FFFFFF"/>
                </a:solidFill>
                <a:latin typeface="Consolas"/>
                <a:cs typeface="Consolas"/>
              </a:rPr>
              <a:t>ELEE2045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&lt;/html&gt;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952E-6038-0F4D-A3F7-7094D6A9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9766-8A1D-615D-EB72-7FB7772E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tag is a piece of text inside angle brackets &lt;&gt;</a:t>
            </a:r>
          </a:p>
          <a:p>
            <a:r>
              <a:rPr lang="en-US" dirty="0"/>
              <a:t>Opening tag: &lt;</a:t>
            </a:r>
          </a:p>
          <a:p>
            <a:r>
              <a:rPr lang="en-US" dirty="0"/>
              <a:t>Closing tag /&gt;</a:t>
            </a:r>
          </a:p>
          <a:p>
            <a:r>
              <a:rPr lang="en-US" dirty="0" err="1"/>
              <a:t>E.g</a:t>
            </a:r>
            <a:r>
              <a:rPr lang="en-US" dirty="0"/>
              <a:t> :</a:t>
            </a:r>
          </a:p>
          <a:p>
            <a:pPr marL="457200" lvl="1" indent="0">
              <a:buNone/>
            </a:pPr>
            <a:r>
              <a:rPr lang="en-US" dirty="0"/>
              <a:t>&lt;p&gt;</a:t>
            </a:r>
          </a:p>
          <a:p>
            <a:pPr marL="457200" lvl="1" indent="0">
              <a:buNone/>
            </a:pPr>
            <a:r>
              <a:rPr lang="en-US" dirty="0"/>
              <a:t>This is a paragraph</a:t>
            </a:r>
          </a:p>
          <a:p>
            <a:pPr marL="457200" lvl="1" indent="0">
              <a:buNone/>
            </a:pPr>
            <a:r>
              <a:rPr lang="en-US" dirty="0"/>
              <a:t>&lt;/p&gt;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5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D704-F050-4D2D-F798-AD00EC86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8F42E-7BC1-65C6-9F01-DF61D8291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Attributes are name value pairs that modify the tag. For example:</a:t>
            </a:r>
          </a:p>
          <a:p>
            <a:pPr marL="457200" lvl="1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=“my_image.jpg” Alt = “this is an image” /&gt;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 attribute describes where the image can be found</a:t>
            </a:r>
          </a:p>
          <a:p>
            <a:pPr lvl="1"/>
            <a:r>
              <a:rPr lang="en-US" dirty="0"/>
              <a:t>alt attribute describes the alternate text to display when the image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330020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1830-8CEB-F806-C860-378588D9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HTML page: Required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7D14D-FDDB-E76A-3B67-3FB004748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2419350"/>
            <a:ext cx="80391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2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1830-8CEB-F806-C860-378588D9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HTML page: key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E64C6-83C7-8F6A-915F-0E279E3A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985962"/>
            <a:ext cx="107442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1E99-7CE2-D5A5-C3DF-617B8980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3CE9A-3F45-5338-44F5-3FFD5D2E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0167"/>
            <a:ext cx="109728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8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0414-B714-6506-DD40-900A94FF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&lt;a&gt; anchor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BA576-2220-BC20-96E5-1B5B46E44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has the </a:t>
            </a:r>
            <a:r>
              <a:rPr lang="en-US" dirty="0" err="1"/>
              <a:t>href</a:t>
            </a:r>
            <a:r>
              <a:rPr lang="en-US" dirty="0"/>
              <a:t> attribute, and it creates a hyperlink to webpages, files, email addresses or anything </a:t>
            </a:r>
          </a:p>
          <a:p>
            <a:pPr lvl="1"/>
            <a:r>
              <a:rPr lang="pt-BR" dirty="0"/>
              <a:t>E.g. &lt;a href="https://vel.engr.uga.edu/"&gt;VEL&lt;/a&gt;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FB1F-B57C-5AA5-05D0-279B4528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Simple/base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EAC4-106A-1A47-BB8A-5938AD3F3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0" lvl="3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44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2968" y="885273"/>
            <a:ext cx="25442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onsolas"/>
                <a:cs typeface="Consolas"/>
              </a:rPr>
              <a:t>&lt;!DOCTYPE</a:t>
            </a:r>
            <a:r>
              <a:rPr sz="2400" spc="-60" dirty="0">
                <a:latin typeface="Consolas"/>
                <a:cs typeface="Consolas"/>
              </a:rPr>
              <a:t> </a:t>
            </a:r>
            <a:r>
              <a:rPr sz="2400" spc="-13" dirty="0">
                <a:latin typeface="Consolas"/>
                <a:cs typeface="Consolas"/>
              </a:rPr>
              <a:t>html&gt;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670134"/>
            <a:ext cx="4050453" cy="4225942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16933" defTabSz="1219170">
              <a:spcBef>
                <a:spcPts val="552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&lt;html</a:t>
            </a:r>
            <a:r>
              <a:rPr sz="2400" kern="0" spc="-33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lang="en"&gt;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02432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title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lang="en-US" sz="2400" kern="0" spc="-27" dirty="0">
                <a:solidFill>
                  <a:srgbClr val="FFFFFF"/>
                </a:solidFill>
                <a:latin typeface="Consolas"/>
                <a:cs typeface="Consolas"/>
              </a:rPr>
              <a:t>ELEE2045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&lt;/html&gt;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34" y="550399"/>
            <a:ext cx="4964965" cy="57571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12056" y="5719627"/>
            <a:ext cx="1228513" cy="218008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1700"/>
              </a:lnSpc>
            </a:pPr>
            <a:r>
              <a:rPr sz="1467" kern="0" dirty="0">
                <a:solidFill>
                  <a:srgbClr val="D9D9D9"/>
                </a:solidFill>
                <a:latin typeface="Consolas"/>
                <a:cs typeface="Consolas"/>
              </a:rPr>
              <a:t>hello,</a:t>
            </a:r>
            <a:r>
              <a:rPr sz="1467" kern="0" spc="-40" dirty="0">
                <a:solidFill>
                  <a:srgbClr val="D9D9D9"/>
                </a:solidFill>
                <a:latin typeface="Consolas"/>
                <a:cs typeface="Consolas"/>
              </a:rPr>
              <a:t> </a:t>
            </a:r>
            <a:r>
              <a:rPr sz="1467" kern="0" spc="-13" dirty="0">
                <a:solidFill>
                  <a:srgbClr val="D9D9D9"/>
                </a:solidFill>
                <a:latin typeface="Consolas"/>
                <a:cs typeface="Consolas"/>
              </a:rPr>
              <a:t>title</a:t>
            </a:r>
            <a:endParaRPr sz="1467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8934" y="4581606"/>
            <a:ext cx="1228513" cy="218008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01597" defTabSz="1219170">
              <a:lnSpc>
                <a:spcPts val="1700"/>
              </a:lnSpc>
            </a:pPr>
            <a:r>
              <a:rPr sz="1467" kern="0" dirty="0">
                <a:solidFill>
                  <a:srgbClr val="D9D9D9"/>
                </a:solidFill>
                <a:latin typeface="Consolas"/>
                <a:cs typeface="Consolas"/>
              </a:rPr>
              <a:t>hello,</a:t>
            </a:r>
            <a:r>
              <a:rPr sz="1467" kern="0" spc="-40" dirty="0">
                <a:solidFill>
                  <a:srgbClr val="D9D9D9"/>
                </a:solidFill>
                <a:latin typeface="Consolas"/>
                <a:cs typeface="Consolas"/>
              </a:rPr>
              <a:t> </a:t>
            </a:r>
            <a:r>
              <a:rPr sz="1467" kern="0" spc="-27" dirty="0">
                <a:solidFill>
                  <a:srgbClr val="D9D9D9"/>
                </a:solidFill>
                <a:latin typeface="Consolas"/>
                <a:cs typeface="Consolas"/>
              </a:rPr>
              <a:t>body</a:t>
            </a:r>
            <a:endParaRPr sz="1467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1B42A4-FB02-3232-B6A2-5AD66CD16CBD}"/>
              </a:ext>
            </a:extLst>
          </p:cNvPr>
          <p:cNvSpPr txBox="1">
            <a:spLocks/>
          </p:cNvSpPr>
          <p:nvPr/>
        </p:nvSpPr>
        <p:spPr>
          <a:xfrm>
            <a:off x="593767" y="0"/>
            <a:ext cx="10515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>
                <a:solidFill>
                  <a:schemeClr val="bg1">
                    <a:lumMod val="65000"/>
                  </a:schemeClr>
                </a:solidFill>
              </a:rPr>
              <a:t>Simple/base web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DF49-8063-9769-46E4-C161D6C3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(CSS)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D48F-DD32-25AC-53A2-1667D523D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CSS: Cascading Style sheets</a:t>
            </a:r>
          </a:p>
          <a:p>
            <a:r>
              <a:rPr lang="en-US" dirty="0"/>
              <a:t>CSS selectors find the elements you want to style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82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95D2-CEE9-7502-7FA5-52F5D3C5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use CSS/Styling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0E8E-6F04-8A22-C0F0-BEE82011C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inline style, as an attribute</a:t>
            </a:r>
          </a:p>
          <a:p>
            <a:r>
              <a:rPr lang="en-US" dirty="0"/>
              <a:t>You can include a &lt;style&gt; section in the &lt;head&gt; section</a:t>
            </a:r>
          </a:p>
          <a:p>
            <a:r>
              <a:rPr lang="en-US" dirty="0"/>
              <a:t>You can use a &lt;link </a:t>
            </a:r>
            <a:r>
              <a:rPr lang="en-US" dirty="0" err="1"/>
              <a:t>rel</a:t>
            </a:r>
            <a:r>
              <a:rPr lang="en-US" dirty="0"/>
              <a:t>=“stylesheet” </a:t>
            </a:r>
            <a:r>
              <a:rPr lang="en-US" dirty="0" err="1"/>
              <a:t>href</a:t>
            </a:r>
            <a:r>
              <a:rPr lang="en-US" dirty="0"/>
              <a:t>=“location of </a:t>
            </a:r>
            <a:r>
              <a:rPr lang="en-US" dirty="0" err="1"/>
              <a:t>css</a:t>
            </a:r>
            <a:r>
              <a:rPr lang="en-US" dirty="0"/>
              <a:t> file”&gt; to bring styling contained in another file in to your code.</a:t>
            </a:r>
          </a:p>
          <a:p>
            <a:r>
              <a:rPr lang="en-US" dirty="0"/>
              <a:t>Note this can be external, </a:t>
            </a:r>
            <a:r>
              <a:rPr lang="en-US" dirty="0" err="1"/>
              <a:t>e.g</a:t>
            </a:r>
            <a:r>
              <a:rPr lang="en-US" dirty="0"/>
              <a:t> bootstrap: </a:t>
            </a:r>
            <a:r>
              <a:rPr lang="en-US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"https://cdn.jsdelivr.net/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/bootstrap@5.3.0/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/bootstrap.min.css"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integrity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"sha384-9ndCyUaIbzAi2FUVXJi0CjmCapSmO7SnpJef0486qhLnuZ2cdeRhO02iuK6FUUVM"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US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Bootstrap link: </a:t>
            </a:r>
            <a:r>
              <a:rPr lang="en-US" dirty="0">
                <a:hlinkClick r:id="rId2"/>
              </a:rPr>
              <a:t>https://getbootstrap.com/docs/4.3/getting-started/introduction/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091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8" y="256624"/>
            <a:ext cx="2711873" cy="16611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&lt;!DOCTYPE</a:t>
            </a:r>
            <a:r>
              <a:rPr sz="2400" kern="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html&gt;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defTabSz="1219170">
              <a:spcBef>
                <a:spcPts val="907"/>
              </a:spcBef>
            </a:pP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/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&lt;html</a:t>
            </a:r>
            <a:r>
              <a:rPr sz="2400" kern="0" spc="-33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lang="en"&gt;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&lt;head&gt;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543" y="1962150"/>
            <a:ext cx="1173480" cy="35907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&lt;style&gt;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0543" y="2800350"/>
            <a:ext cx="1341120" cy="35907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&lt;/style&gt;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967" y="3136984"/>
            <a:ext cx="4050453" cy="3384686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1355479" defTabSz="1219170">
              <a:spcBef>
                <a:spcPts val="552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02432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title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lang="en-US" sz="2400" kern="0" spc="-27" dirty="0">
                <a:solidFill>
                  <a:srgbClr val="FFFFFF"/>
                </a:solidFill>
                <a:latin typeface="Consolas"/>
                <a:cs typeface="Consolas"/>
              </a:rPr>
              <a:t>ELEE2045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&lt;/html&gt;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8" y="256624"/>
            <a:ext cx="2711873" cy="16611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&lt;!DOCTYPE</a:t>
            </a:r>
            <a:r>
              <a:rPr sz="2400" kern="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html&gt;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defTabSz="1219170">
              <a:spcBef>
                <a:spcPts val="907"/>
              </a:spcBef>
            </a:pP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/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&lt;html</a:t>
            </a:r>
            <a:r>
              <a:rPr sz="2400" kern="0" spc="-33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lang="en"&gt;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&lt;head&gt;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0543" y="1962150"/>
            <a:ext cx="6871547" cy="35907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&lt;link</a:t>
            </a:r>
            <a:r>
              <a:rPr sz="2400" kern="0" spc="-73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href="styles.css"</a:t>
            </a:r>
            <a:r>
              <a:rPr sz="2400" kern="0" spc="-73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rel="stylesheet"&gt;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2298784"/>
            <a:ext cx="4050453" cy="3384686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1355479" defTabSz="1219170">
              <a:spcBef>
                <a:spcPts val="552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202432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title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&lt;/title&gt;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&lt;/head&gt;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355479" defTabSz="1219170">
              <a:spcBef>
                <a:spcPts val="420"/>
              </a:spcBef>
            </a:pPr>
            <a:r>
              <a:rPr sz="2400" kern="0" dirty="0">
                <a:solidFill>
                  <a:srgbClr val="FFFFFF"/>
                </a:solidFill>
                <a:latin typeface="Consolas"/>
                <a:cs typeface="Consolas"/>
              </a:rPr>
              <a:t>hello,</a:t>
            </a:r>
            <a:r>
              <a:rPr sz="2400" kern="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lang="en-US" sz="2400" kern="0" spc="-27" dirty="0">
                <a:solidFill>
                  <a:srgbClr val="FFFFFF"/>
                </a:solidFill>
                <a:latin typeface="Consolas"/>
                <a:cs typeface="Consolas"/>
              </a:rPr>
              <a:t>ELEE2045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68578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&lt;/body&gt;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spc="-13" dirty="0">
                <a:solidFill>
                  <a:srgbClr val="FFFFFF"/>
                </a:solidFill>
                <a:latin typeface="Consolas"/>
                <a:cs typeface="Consolas"/>
              </a:rPr>
              <a:t>&lt;/html&gt;</a:t>
            </a:r>
            <a:endParaRPr sz="24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AE0C-BA3B-6AD7-2F63-F1AA1E03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10D5B-26B4-1760-32E4-768D088F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e.g. </a:t>
            </a:r>
          </a:p>
          <a:p>
            <a:pPr marL="457200" lvl="1" indent="0">
              <a:buNone/>
            </a:pPr>
            <a:r>
              <a:rPr lang="en-US" dirty="0"/>
              <a:t>div{</a:t>
            </a:r>
          </a:p>
          <a:p>
            <a:pPr marL="457200" lvl="1" indent="0">
              <a:buNone/>
            </a:pPr>
            <a:r>
              <a:rPr lang="en-US" dirty="0"/>
              <a:t>text-align: center</a:t>
            </a:r>
          </a:p>
          <a:p>
            <a:pPr marL="457200" lvl="1" indent="0">
              <a:buNone/>
            </a:pPr>
            <a:r>
              <a:rPr lang="en-US" dirty="0"/>
              <a:t>font-size: 34</a:t>
            </a:r>
          </a:p>
          <a:p>
            <a:pPr marL="457200" lvl="1" indent="0">
              <a:buNone/>
            </a:pPr>
            <a:r>
              <a:rPr lang="en-US" dirty="0" err="1"/>
              <a:t>font-weight:bold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3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9149-6279-46A3-63B8-4E9C0AAF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 (.)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77DD-3F40-E3EF-BE08-B8B8353EB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class_name</a:t>
            </a:r>
            <a:r>
              <a:rPr lang="en-US" dirty="0"/>
              <a:t>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2568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BDAC-2CF2-4915-A8BF-6D9F69A7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 (#)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EB87A-6974-EFE3-5236-A5800E28C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#shout{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text-align:center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color: red;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8500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814DD-E99B-C2F9-2B8D-8A8A9807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Descendants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8CA57-31C2-B35A-5AFB-6C5776B4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e.g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ol</a:t>
            </a:r>
            <a:r>
              <a:rPr lang="en-US" dirty="0"/>
              <a:t> &gt; </a:t>
            </a:r>
            <a:r>
              <a:rPr lang="en-US" dirty="0" err="1"/>
              <a:t>ul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color: blue;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#container &gt; div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5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911E-A3B9-CCBE-4AE4-C6F71DB8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D729E-72C5-55BF-1860-274E83CF4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@media query to change the styling based on the size/type of screen</a:t>
            </a:r>
          </a:p>
          <a:p>
            <a:r>
              <a:rPr lang="en-US" dirty="0"/>
              <a:t>Ref: </a:t>
            </a:r>
            <a:r>
              <a:rPr lang="en-US" dirty="0">
                <a:hlinkClick r:id="rId2"/>
              </a:rPr>
              <a:t>https://www.w3schools.com/cssref/css3_pr_mediaquery.php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1770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A56E-9FF3-1606-17F1-C1DD0C6D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6407B-5C9E-5B10-43B7-5F639E72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backend</a:t>
            </a:r>
          </a:p>
          <a:p>
            <a:r>
              <a:rPr lang="en-US" dirty="0"/>
              <a:t>Inheritance and control flow using jinja</a:t>
            </a:r>
          </a:p>
          <a:p>
            <a:r>
              <a:rPr lang="en-US" dirty="0"/>
              <a:t>Getting data from forms</a:t>
            </a:r>
          </a:p>
          <a:p>
            <a:r>
              <a:rPr lang="en-US" dirty="0"/>
              <a:t>Sending data to our web pages</a:t>
            </a:r>
          </a:p>
          <a:p>
            <a:r>
              <a:rPr lang="en-US" dirty="0"/>
              <a:t>Navigating between our pages</a:t>
            </a:r>
          </a:p>
          <a:p>
            <a:r>
              <a:rPr lang="en-US" dirty="0"/>
              <a:t>All these encapsulated in student detail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350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9328-F2E6-CFDA-73B0-F85C0395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Flask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1806-03BE-9308-E040-DF570C6F7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.route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'Hello. world!'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A456D-161D-8C67-E541-12F4593F81AB}"/>
              </a:ext>
            </a:extLst>
          </p:cNvPr>
          <p:cNvSpPr/>
          <p:nvPr/>
        </p:nvSpPr>
        <p:spPr>
          <a:xfrm>
            <a:off x="838200" y="3207026"/>
            <a:ext cx="3203713" cy="5035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333A5B-A9F2-FF94-05B9-C4C94D507ADC}"/>
              </a:ext>
            </a:extLst>
          </p:cNvPr>
          <p:cNvCxnSpPr/>
          <p:nvPr/>
        </p:nvCxnSpPr>
        <p:spPr>
          <a:xfrm>
            <a:off x="4041913" y="3429000"/>
            <a:ext cx="1762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05FF33-AC9A-290E-6D67-4122EE2A16CF}"/>
              </a:ext>
            </a:extLst>
          </p:cNvPr>
          <p:cNvSpPr txBox="1"/>
          <p:nvPr/>
        </p:nvSpPr>
        <p:spPr>
          <a:xfrm>
            <a:off x="5837463" y="3220278"/>
            <a:ext cx="110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3BE8DA-B710-208C-0DC1-7F10D0D25EB7}"/>
              </a:ext>
            </a:extLst>
          </p:cNvPr>
          <p:cNvCxnSpPr>
            <a:cxnSpLocks/>
          </p:cNvCxnSpPr>
          <p:nvPr/>
        </p:nvCxnSpPr>
        <p:spPr>
          <a:xfrm>
            <a:off x="3246783" y="3933269"/>
            <a:ext cx="2584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07CAD4-10B3-06AE-F3D1-60280EBEDFFA}"/>
              </a:ext>
            </a:extLst>
          </p:cNvPr>
          <p:cNvSpPr txBox="1"/>
          <p:nvPr/>
        </p:nvSpPr>
        <p:spPr>
          <a:xfrm>
            <a:off x="5863969" y="3724547"/>
            <a:ext cx="306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Corresponding function</a:t>
            </a:r>
          </a:p>
        </p:txBody>
      </p:sp>
    </p:spTree>
    <p:extLst>
      <p:ext uri="{BB962C8B-B14F-4D97-AF65-F5344CB8AC3E}">
        <p14:creationId xmlns:p14="http://schemas.microsoft.com/office/powerpoint/2010/main" val="1831155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AAD9-2C8D-A326-C029-1A6E8311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render_template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CC3D-BB30-07F1-51C3-32977A3E5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Renders a html page on the browser</a:t>
            </a:r>
          </a:p>
        </p:txBody>
      </p:sp>
    </p:spTree>
    <p:extLst>
      <p:ext uri="{BB962C8B-B14F-4D97-AF65-F5344CB8AC3E}">
        <p14:creationId xmlns:p14="http://schemas.microsoft.com/office/powerpoint/2010/main" val="2105737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EA77-FB3E-9166-DDFF-05DB8A75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url_for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628C-39C1-320B-60BA-484396E44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it from the flask module</a:t>
            </a:r>
          </a:p>
          <a:p>
            <a:r>
              <a:rPr lang="en-US" dirty="0"/>
              <a:t>It allows you to dynamically create a </a:t>
            </a:r>
            <a:r>
              <a:rPr lang="en-US" dirty="0" err="1"/>
              <a:t>url</a:t>
            </a:r>
            <a:r>
              <a:rPr lang="en-US" dirty="0"/>
              <a:t> for a function in your python file. For example if you have:</a:t>
            </a:r>
          </a:p>
          <a:p>
            <a:pPr lvl="1"/>
            <a:r>
              <a:rPr lang="en-US" dirty="0" err="1"/>
              <a:t>App.route</a:t>
            </a:r>
            <a:r>
              <a:rPr lang="en-US" dirty="0"/>
              <a:t>(‘/view’)</a:t>
            </a:r>
          </a:p>
          <a:p>
            <a:pPr lvl="1"/>
            <a:r>
              <a:rPr lang="en-US" dirty="0"/>
              <a:t>Def </a:t>
            </a:r>
            <a:r>
              <a:rPr lang="en-US" dirty="0" err="1"/>
              <a:t>view_records</a:t>
            </a:r>
            <a:r>
              <a:rPr lang="en-US" dirty="0"/>
              <a:t>():</a:t>
            </a:r>
          </a:p>
          <a:p>
            <a:pPr lvl="2"/>
            <a:r>
              <a:rPr lang="en-US" dirty="0"/>
              <a:t>Return </a:t>
            </a:r>
            <a:r>
              <a:rPr lang="en-US" dirty="0" err="1"/>
              <a:t>render_template</a:t>
            </a:r>
            <a:r>
              <a:rPr lang="en-US" dirty="0"/>
              <a:t>(‘view.html’)</a:t>
            </a:r>
          </a:p>
          <a:p>
            <a:pPr lvl="1"/>
            <a:r>
              <a:rPr lang="en-US" dirty="0"/>
              <a:t>You can get the </a:t>
            </a:r>
            <a:r>
              <a:rPr lang="en-US" dirty="0" err="1"/>
              <a:t>url</a:t>
            </a:r>
            <a:r>
              <a:rPr lang="en-US" dirty="0"/>
              <a:t> for the </a:t>
            </a:r>
            <a:r>
              <a:rPr lang="en-US" dirty="0" err="1"/>
              <a:t>view_records</a:t>
            </a:r>
            <a:r>
              <a:rPr lang="en-US" dirty="0"/>
              <a:t>() function anywhere in the python file through: </a:t>
            </a:r>
            <a:r>
              <a:rPr lang="en-US" dirty="0" err="1"/>
              <a:t>url_for</a:t>
            </a:r>
            <a:r>
              <a:rPr lang="en-US" dirty="0"/>
              <a:t>(‘</a:t>
            </a:r>
            <a:r>
              <a:rPr lang="en-US" dirty="0" err="1"/>
              <a:t>view_records</a:t>
            </a:r>
            <a:r>
              <a:rPr lang="en-US" dirty="0"/>
              <a:t>’).</a:t>
            </a:r>
          </a:p>
          <a:p>
            <a:pPr lvl="1"/>
            <a:r>
              <a:rPr lang="en-US" dirty="0"/>
              <a:t>You can get the same </a:t>
            </a:r>
            <a:r>
              <a:rPr lang="en-US" dirty="0" err="1"/>
              <a:t>url</a:t>
            </a:r>
            <a:r>
              <a:rPr lang="en-US" dirty="0"/>
              <a:t> in html files using jinja: {{</a:t>
            </a:r>
            <a:r>
              <a:rPr lang="en-US" dirty="0" err="1"/>
              <a:t>url_for</a:t>
            </a:r>
            <a:r>
              <a:rPr lang="en-US" dirty="0"/>
              <a:t>(‘</a:t>
            </a:r>
            <a:r>
              <a:rPr lang="en-US" dirty="0" err="1"/>
              <a:t>view_records</a:t>
            </a:r>
            <a:r>
              <a:rPr lang="en-US" dirty="0"/>
              <a:t>’)}} </a:t>
            </a:r>
          </a:p>
          <a:p>
            <a:r>
              <a:rPr lang="en-US" dirty="0"/>
              <a:t>The first argument is the function name, followed by the parameters that the function expects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50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7EA5-A968-8959-07DF-5E777DFF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 from a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122-324B-3232-D704-235A317A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 extends “base.html” %} - include this line at the beginning of the inheriting page. Here base.html is the name of the base template that you want to inherit from.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46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0B7C-00B1-8815-3105-A249E231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ACC5A-CB95-539F-3207-4FFE3BAE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redirect the user to a route using the redirect function</a:t>
            </a:r>
          </a:p>
          <a:p>
            <a:r>
              <a:rPr lang="en-US" dirty="0" err="1"/>
              <a:t>E.g</a:t>
            </a:r>
            <a:r>
              <a:rPr lang="en-US" dirty="0"/>
              <a:t> if you have two routes:</a:t>
            </a:r>
          </a:p>
          <a:p>
            <a:pPr lvl="1"/>
            <a:r>
              <a:rPr lang="en-US" dirty="0"/>
              <a:t>@app.route(‘/admin/’)</a:t>
            </a:r>
          </a:p>
          <a:p>
            <a:pPr lvl="1"/>
            <a:r>
              <a:rPr lang="en-US" dirty="0"/>
              <a:t>def </a:t>
            </a:r>
            <a:r>
              <a:rPr lang="en-US" dirty="0" err="1"/>
              <a:t>hello_admin</a:t>
            </a:r>
            <a:r>
              <a:rPr lang="en-US" dirty="0"/>
              <a:t>():</a:t>
            </a:r>
          </a:p>
          <a:p>
            <a:pPr lvl="2"/>
            <a:r>
              <a:rPr lang="en-US" dirty="0"/>
              <a:t>Return ‘hello admin’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@app.route(‘/user/&lt;name&gt;’):</a:t>
            </a:r>
          </a:p>
          <a:p>
            <a:pPr lvl="2"/>
            <a:r>
              <a:rPr lang="en-US" dirty="0"/>
              <a:t>Def </a:t>
            </a:r>
            <a:r>
              <a:rPr lang="en-US" dirty="0" err="1"/>
              <a:t>hello_user</a:t>
            </a:r>
            <a:r>
              <a:rPr lang="en-US" dirty="0"/>
              <a:t>(name):</a:t>
            </a:r>
          </a:p>
          <a:p>
            <a:pPr lvl="3"/>
            <a:r>
              <a:rPr lang="en-US" dirty="0"/>
              <a:t>If name == ‘admin’:</a:t>
            </a:r>
          </a:p>
          <a:p>
            <a:pPr lvl="4"/>
            <a:r>
              <a:rPr lang="en-US" dirty="0"/>
              <a:t>return redirect(‘/admin’)</a:t>
            </a:r>
          </a:p>
          <a:p>
            <a:pPr lvl="4"/>
            <a:r>
              <a:rPr lang="en-US" dirty="0"/>
              <a:t># or return redirect(</a:t>
            </a:r>
            <a:r>
              <a:rPr lang="en-US" dirty="0" err="1"/>
              <a:t>url_for</a:t>
            </a:r>
            <a:r>
              <a:rPr lang="en-US" dirty="0"/>
              <a:t>(‘</a:t>
            </a:r>
            <a:r>
              <a:rPr lang="en-US" dirty="0" err="1"/>
              <a:t>hello_admin</a:t>
            </a:r>
            <a:r>
              <a:rPr lang="en-US" dirty="0"/>
              <a:t>’))</a:t>
            </a:r>
          </a:p>
        </p:txBody>
      </p:sp>
    </p:spTree>
    <p:extLst>
      <p:ext uri="{BB962C8B-B14F-4D97-AF65-F5344CB8AC3E}">
        <p14:creationId xmlns:p14="http://schemas.microsoft.com/office/powerpoint/2010/main" val="4007936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49BC-0C0F-9852-6B63-C35581CB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in Redirect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034C-69C5-E9C3-92C8-9960FE0CB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request</a:t>
            </a:r>
          </a:p>
          <a:p>
            <a:r>
              <a:rPr lang="en-US" dirty="0"/>
              <a:t>Use </a:t>
            </a:r>
            <a:r>
              <a:rPr lang="en-US" dirty="0" err="1"/>
              <a:t>request.args.get</a:t>
            </a:r>
            <a:r>
              <a:rPr lang="en-US" dirty="0"/>
              <a:t>(‘</a:t>
            </a:r>
            <a:r>
              <a:rPr lang="en-US" dirty="0" err="1"/>
              <a:t>variable_name</a:t>
            </a:r>
            <a:r>
              <a:rPr lang="en-US" dirty="0"/>
              <a:t>’) to get the argument by name</a:t>
            </a:r>
          </a:p>
        </p:txBody>
      </p:sp>
    </p:spTree>
    <p:extLst>
      <p:ext uri="{BB962C8B-B14F-4D97-AF65-F5344CB8AC3E}">
        <p14:creationId xmlns:p14="http://schemas.microsoft.com/office/powerpoint/2010/main" val="191354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6A3B-7B16-A01C-63A8-1041E288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from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B41D0-9225-B109-345E-D03AD2C2D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variables in &lt;angled brackets&gt;</a:t>
            </a:r>
          </a:p>
          <a:p>
            <a:r>
              <a:rPr lang="en-US" dirty="0" err="1"/>
              <a:t>E.g</a:t>
            </a:r>
            <a:r>
              <a:rPr lang="en-US" dirty="0"/>
              <a:t> </a:t>
            </a:r>
          </a:p>
          <a:p>
            <a:r>
              <a:rPr lang="en-US" dirty="0"/>
              <a:t>@app.route(‘/students/&lt;name&gt;/&lt;grade&gt;’):</a:t>
            </a:r>
          </a:p>
          <a:p>
            <a:r>
              <a:rPr lang="en-US" dirty="0"/>
              <a:t>Def </a:t>
            </a:r>
            <a:r>
              <a:rPr lang="en-US" dirty="0" err="1"/>
              <a:t>Handle_Student</a:t>
            </a:r>
            <a:r>
              <a:rPr lang="en-US" dirty="0"/>
              <a:t>(name, grade):</a:t>
            </a:r>
          </a:p>
          <a:p>
            <a:pPr lvl="1"/>
            <a:r>
              <a:rPr lang="en-US" dirty="0"/>
              <a:t>If name==‘admin’:</a:t>
            </a:r>
          </a:p>
          <a:p>
            <a:pPr lvl="2"/>
            <a:r>
              <a:rPr lang="en-US" dirty="0"/>
              <a:t>#do something</a:t>
            </a:r>
          </a:p>
          <a:p>
            <a:pPr lvl="2"/>
            <a:r>
              <a:rPr lang="en-US" dirty="0"/>
              <a:t># or </a:t>
            </a:r>
          </a:p>
          <a:p>
            <a:pPr lvl="2"/>
            <a:r>
              <a:rPr lang="en-US" dirty="0"/>
              <a:t>Return </a:t>
            </a:r>
            <a:r>
              <a:rPr lang="en-US" dirty="0" err="1"/>
              <a:t>render_template</a:t>
            </a:r>
            <a:r>
              <a:rPr lang="en-US" dirty="0"/>
              <a:t>()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93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4262-2097-6D96-C4A4-4914E76D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Jinja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2CB0-2170-B0E5-1E14-57BAC81E4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allow you to create a base template that you can build the rest of your pages on</a:t>
            </a:r>
          </a:p>
          <a:p>
            <a:r>
              <a:rPr lang="en-US" dirty="0"/>
              <a:t>Put your pages in a folder called ‘templates’ for jinja to automatically detect them</a:t>
            </a:r>
          </a:p>
          <a:p>
            <a:r>
              <a:rPr lang="en-US" dirty="0"/>
              <a:t>Use{%include ‘page_name.html’ % } to bring in code from a html page as is</a:t>
            </a:r>
          </a:p>
          <a:p>
            <a:r>
              <a:rPr lang="en-US" dirty="0"/>
              <a:t>Use {% extends  ‘page_name.html’ %} to inherit from and extend a html base page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07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9B06-D5BE-5294-BF36-4FABA9A6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7160-1D88-44AB-815E-760DA7AB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allow you to get data from users:</a:t>
            </a:r>
          </a:p>
          <a:p>
            <a:pPr lvl="1"/>
            <a:r>
              <a:rPr lang="en-US" dirty="0"/>
              <a:t>&lt;form action = “{{</a:t>
            </a:r>
            <a:r>
              <a:rPr lang="en-US" dirty="0" err="1"/>
              <a:t>url_for</a:t>
            </a:r>
            <a:r>
              <a:rPr lang="en-US" dirty="0"/>
              <a:t>(</a:t>
            </a:r>
            <a:r>
              <a:rPr lang="en-US" dirty="0" err="1"/>
              <a:t>my_function</a:t>
            </a:r>
            <a:r>
              <a:rPr lang="en-US" dirty="0"/>
              <a:t>)}}” method =”post”&gt;</a:t>
            </a:r>
          </a:p>
          <a:p>
            <a:pPr lvl="2"/>
            <a:r>
              <a:rPr lang="en-US" dirty="0"/>
              <a:t>Action: this is the link/route that gets called in the backend app to handle when the user hits the submit button.</a:t>
            </a:r>
          </a:p>
          <a:p>
            <a:pPr lvl="2"/>
            <a:r>
              <a:rPr lang="en-US" dirty="0"/>
              <a:t>Method: either post or get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&lt;input type=‘text’ name=‘</a:t>
            </a:r>
            <a:r>
              <a:rPr lang="en-US" dirty="0" err="1"/>
              <a:t>variable_name</a:t>
            </a:r>
            <a:r>
              <a:rPr lang="en-US" dirty="0"/>
              <a:t>’ id=“</a:t>
            </a:r>
            <a:r>
              <a:rPr lang="en-US" dirty="0" err="1"/>
              <a:t>my_id</a:t>
            </a:r>
            <a:r>
              <a:rPr lang="en-US" dirty="0"/>
              <a:t>” autofocus </a:t>
            </a:r>
          </a:p>
        </p:txBody>
      </p:sp>
    </p:spTree>
    <p:extLst>
      <p:ext uri="{BB962C8B-B14F-4D97-AF65-F5344CB8AC3E}">
        <p14:creationId xmlns:p14="http://schemas.microsoft.com/office/powerpoint/2010/main" val="2742709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EA73-5B9C-22C6-223B-02798A1C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9970-01B5-8E74-6EA3-0F5D27080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&lt;label for="</a:t>
            </a:r>
            <a:r>
              <a:rPr lang="en-US" dirty="0" err="1"/>
              <a:t>first_name</a:t>
            </a:r>
            <a:r>
              <a:rPr lang="en-US" dirty="0"/>
              <a:t>"&gt;First Name&lt;/label&gt;</a:t>
            </a:r>
          </a:p>
          <a:p>
            <a:pPr lvl="1"/>
            <a:r>
              <a:rPr lang="en-US" dirty="0"/>
              <a:t>Label is a text element usually used to label other elements</a:t>
            </a:r>
          </a:p>
          <a:p>
            <a:pPr lvl="1"/>
            <a:r>
              <a:rPr lang="en-US" dirty="0"/>
              <a:t>For: the id of the element this label belongs to</a:t>
            </a:r>
          </a:p>
          <a:p>
            <a:pPr lvl="1"/>
            <a:r>
              <a:rPr lang="en-US" dirty="0"/>
              <a:t>First Name is the literal text of the label that’s rendered by the html page</a:t>
            </a:r>
          </a:p>
        </p:txBody>
      </p:sp>
    </p:spTree>
    <p:extLst>
      <p:ext uri="{BB962C8B-B14F-4D97-AF65-F5344CB8AC3E}">
        <p14:creationId xmlns:p14="http://schemas.microsoft.com/office/powerpoint/2010/main" val="2960345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261-3543-0AA4-2999-6A32A939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988F2-6662-C231-5F44-6CDE7BD81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&lt;input name = "</a:t>
            </a:r>
            <a:r>
              <a:rPr lang="en-US" dirty="0" err="1"/>
              <a:t>first_name</a:t>
            </a:r>
            <a:r>
              <a:rPr lang="en-US" dirty="0"/>
              <a:t>" id="</a:t>
            </a:r>
            <a:r>
              <a:rPr lang="en-US" dirty="0" err="1"/>
              <a:t>first_name</a:t>
            </a:r>
            <a:r>
              <a:rPr lang="en-US" dirty="0"/>
              <a:t>" type="text" autofocus placeholder="First Name"&gt;</a:t>
            </a:r>
          </a:p>
          <a:p>
            <a:pPr lvl="1"/>
            <a:r>
              <a:rPr lang="en-US" dirty="0"/>
              <a:t>Name: variable name for access in python</a:t>
            </a:r>
          </a:p>
          <a:p>
            <a:pPr lvl="1"/>
            <a:r>
              <a:rPr lang="en-US" dirty="0"/>
              <a:t>Id: selector that allows it to be styled or referenced by other items e.g. labels</a:t>
            </a:r>
          </a:p>
          <a:p>
            <a:pPr lvl="1"/>
            <a:r>
              <a:rPr lang="en-US" dirty="0"/>
              <a:t>Type: text, number, list</a:t>
            </a:r>
          </a:p>
        </p:txBody>
      </p:sp>
    </p:spTree>
    <p:extLst>
      <p:ext uri="{BB962C8B-B14F-4D97-AF65-F5344CB8AC3E}">
        <p14:creationId xmlns:p14="http://schemas.microsoft.com/office/powerpoint/2010/main" val="2121930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44ED-AF15-4579-448D-B4DADB09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47365-C78B-F152-B2FC-1E079C18D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the user to select from a set of options:</a:t>
            </a:r>
          </a:p>
          <a:p>
            <a:pPr lvl="1"/>
            <a:r>
              <a:rPr lang="en-US" dirty="0"/>
              <a:t>&lt;select name="level"&gt; </a:t>
            </a:r>
          </a:p>
          <a:p>
            <a:pPr lvl="2"/>
            <a:r>
              <a:rPr lang="en-US" dirty="0"/>
              <a:t>&lt;option value="undergraduate"&gt;Undergrad&lt;/option&gt; </a:t>
            </a:r>
          </a:p>
          <a:p>
            <a:pPr lvl="2"/>
            <a:r>
              <a:rPr lang="en-US" dirty="0"/>
              <a:t>&lt;option value="graduate"&gt;Grad&lt;/option&gt; </a:t>
            </a:r>
          </a:p>
          <a:p>
            <a:pPr lvl="1"/>
            <a:r>
              <a:rPr lang="en-US" dirty="0"/>
              <a:t>&lt;/select&gt;</a:t>
            </a:r>
          </a:p>
          <a:p>
            <a:pPr lvl="1"/>
            <a:endParaRPr lang="en-US" dirty="0"/>
          </a:p>
          <a:p>
            <a:r>
              <a:rPr lang="en-US" dirty="0"/>
              <a:t>In above example, name is the variable name we use in python app to access the user input</a:t>
            </a:r>
          </a:p>
          <a:p>
            <a:r>
              <a:rPr lang="en-US" dirty="0"/>
              <a:t>Option: the different option that a user can select</a:t>
            </a:r>
          </a:p>
        </p:txBody>
      </p:sp>
    </p:spTree>
    <p:extLst>
      <p:ext uri="{BB962C8B-B14F-4D97-AF65-F5344CB8AC3E}">
        <p14:creationId xmlns:p14="http://schemas.microsoft.com/office/powerpoint/2010/main" val="384994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7119-EE45-9168-2F5A-3169D908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(list)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89199-8B96-A767-CC52-37C65C607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&lt;input name="Favorite Color" list="</a:t>
            </a:r>
            <a:r>
              <a:rPr lang="en-US" dirty="0" err="1"/>
              <a:t>colorlist</a:t>
            </a:r>
            <a:r>
              <a:rPr lang="en-US" dirty="0"/>
              <a:t>" placeholder="Color"&gt; 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datalist</a:t>
            </a:r>
            <a:r>
              <a:rPr lang="en-US" dirty="0"/>
              <a:t> id = "</a:t>
            </a:r>
            <a:r>
              <a:rPr lang="en-US" dirty="0" err="1"/>
              <a:t>colorlist</a:t>
            </a:r>
            <a:r>
              <a:rPr lang="en-US" dirty="0"/>
              <a:t>"&gt; </a:t>
            </a:r>
          </a:p>
          <a:p>
            <a:pPr lvl="2"/>
            <a:r>
              <a:rPr lang="en-US" dirty="0"/>
              <a:t>&lt;option value="red"&gt;red&lt;/option&gt; </a:t>
            </a:r>
          </a:p>
          <a:p>
            <a:pPr lvl="2"/>
            <a:r>
              <a:rPr lang="en-US" dirty="0"/>
              <a:t>&lt;option value="green"&gt;green&lt;/option&gt; </a:t>
            </a:r>
          </a:p>
          <a:p>
            <a:pPr lvl="2"/>
            <a:r>
              <a:rPr lang="en-US" dirty="0"/>
              <a:t>&lt;option value="blue"&gt;blue&lt;/option&gt; </a:t>
            </a:r>
          </a:p>
          <a:p>
            <a:pPr lvl="1"/>
            <a:r>
              <a:rPr lang="en-US" dirty="0"/>
              <a:t>&lt;/</a:t>
            </a:r>
            <a:r>
              <a:rPr lang="en-US" dirty="0" err="1"/>
              <a:t>datalist</a:t>
            </a:r>
            <a:r>
              <a:rPr lang="en-US" dirty="0"/>
              <a:t>&gt;</a:t>
            </a:r>
          </a:p>
          <a:p>
            <a:r>
              <a:rPr lang="en-US" dirty="0"/>
              <a:t>This is a mix between select and input. </a:t>
            </a:r>
          </a:p>
        </p:txBody>
      </p:sp>
    </p:spTree>
    <p:extLst>
      <p:ext uri="{BB962C8B-B14F-4D97-AF65-F5344CB8AC3E}">
        <p14:creationId xmlns:p14="http://schemas.microsoft.com/office/powerpoint/2010/main" val="4023575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E482-F556-5484-0004-2802F25A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 html </a:t>
            </a:r>
            <a:r>
              <a:rPr lang="en-US"/>
              <a:t>using jinja?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D8CF-2A9E-F837-9708-77C1A7C5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Variables: these are enclosed in double curly braces like this {{ </a:t>
            </a:r>
            <a:r>
              <a:rPr lang="en-US" dirty="0" err="1"/>
              <a:t>variable_name</a:t>
            </a:r>
            <a:r>
              <a:rPr lang="en-US" dirty="0"/>
              <a:t>}}</a:t>
            </a:r>
          </a:p>
          <a:p>
            <a:r>
              <a:rPr lang="en-US" dirty="0"/>
              <a:t>For loop: {%  for item in </a:t>
            </a:r>
            <a:r>
              <a:rPr lang="en-US" dirty="0" err="1"/>
              <a:t>my_collection</a:t>
            </a:r>
            <a:r>
              <a:rPr lang="en-US" dirty="0"/>
              <a:t> %} do stuff {% </a:t>
            </a:r>
            <a:r>
              <a:rPr lang="en-US" dirty="0" err="1"/>
              <a:t>endfor</a:t>
            </a:r>
            <a:r>
              <a:rPr lang="en-US" dirty="0"/>
              <a:t> %}</a:t>
            </a:r>
          </a:p>
          <a:p>
            <a:r>
              <a:rPr lang="en-US" dirty="0"/>
              <a:t>Conditionals: {% if condition %} do stuff {%</a:t>
            </a:r>
            <a:r>
              <a:rPr lang="en-US" dirty="0" err="1"/>
              <a:t>elif</a:t>
            </a:r>
            <a:r>
              <a:rPr lang="en-US" dirty="0"/>
              <a:t> condition %} do some other stuff </a:t>
            </a:r>
            <a:r>
              <a:rPr lang="en-US" b="0" i="0" dirty="0">
                <a:solidFill>
                  <a:srgbClr val="222222"/>
                </a:solidFill>
                <a:effectLst/>
                <a:latin typeface="SFMono-Regular"/>
              </a:rPr>
              <a:t>{% endif %}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5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1507</Words>
  <Application>Microsoft Office PowerPoint</Application>
  <PresentationFormat>Widescreen</PresentationFormat>
  <Paragraphs>218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Consolas</vt:lpstr>
      <vt:lpstr>SFMono-Regular</vt:lpstr>
      <vt:lpstr>Office Theme</vt:lpstr>
      <vt:lpstr>1_Office Theme</vt:lpstr>
      <vt:lpstr>Web Dashboards</vt:lpstr>
      <vt:lpstr>HTML</vt:lpstr>
      <vt:lpstr>PowerPoint Presentation</vt:lpstr>
      <vt:lpstr>Tags</vt:lpstr>
      <vt:lpstr>Attributes</vt:lpstr>
      <vt:lpstr>Structure of an HTML page: Required</vt:lpstr>
      <vt:lpstr>Structure of an HTML page: key elements</vt:lpstr>
      <vt:lpstr>Lists and Data</vt:lpstr>
      <vt:lpstr>The &lt;a&gt; anchor element</vt:lpstr>
      <vt:lpstr>Simple/base web page</vt:lpstr>
      <vt:lpstr>&lt;!DOCTYPE html&gt;</vt:lpstr>
      <vt:lpstr>Styling (CSS)</vt:lpstr>
      <vt:lpstr>Ways to use CSS/Styling</vt:lpstr>
      <vt:lpstr>PowerPoint Presentation</vt:lpstr>
      <vt:lpstr>PowerPoint Presentation</vt:lpstr>
      <vt:lpstr>Element selectors</vt:lpstr>
      <vt:lpstr>Class Selector (.)</vt:lpstr>
      <vt:lpstr>Id selector (#)</vt:lpstr>
      <vt:lpstr>Descendants</vt:lpstr>
      <vt:lpstr>Responsive Pages</vt:lpstr>
      <vt:lpstr>Next</vt:lpstr>
      <vt:lpstr>Simplest Flask App</vt:lpstr>
      <vt:lpstr>render_template</vt:lpstr>
      <vt:lpstr>url_for()</vt:lpstr>
      <vt:lpstr>Inherit from a template</vt:lpstr>
      <vt:lpstr>redirect</vt:lpstr>
      <vt:lpstr>Passing arguments in Redirect</vt:lpstr>
      <vt:lpstr>Variables from links</vt:lpstr>
      <vt:lpstr>Jinja templates</vt:lpstr>
      <vt:lpstr>Form elements</vt:lpstr>
      <vt:lpstr>label</vt:lpstr>
      <vt:lpstr>input</vt:lpstr>
      <vt:lpstr>select</vt:lpstr>
      <vt:lpstr>Input (list)</vt:lpstr>
      <vt:lpstr>Python in html using jinja?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Murithi Rukangu</dc:creator>
  <cp:lastModifiedBy>Andrew Murithi Rukangu</cp:lastModifiedBy>
  <cp:revision>7</cp:revision>
  <dcterms:created xsi:type="dcterms:W3CDTF">2026-03-23T03:58:50Z</dcterms:created>
  <dcterms:modified xsi:type="dcterms:W3CDTF">2026-03-23T15:30:02Z</dcterms:modified>
</cp:coreProperties>
</file>